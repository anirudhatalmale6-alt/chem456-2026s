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0" r:id="rId4"/>
    <p:sldId id="259" r:id="rId5"/>
    <p:sldId id="261" r:id="rId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2286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4572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6858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9144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11430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13716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16002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1828800" algn="ctr" defTabSz="821531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60" d="100"/>
          <a:sy n="6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5" name="Shape 13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635000" y="2303859"/>
            <a:ext cx="23114000" cy="4643438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833937" y="7072312"/>
            <a:ext cx="14716126" cy="1589485"/>
          </a:xfrm>
          <a:prstGeom prst="rect">
            <a:avLst/>
          </a:prstGeom>
        </p:spPr>
        <p:txBody>
          <a:bodyPr anchor="t"/>
          <a:lstStyle>
            <a:lvl1pPr marL="0" indent="0" algn="ctr">
              <a:buSzTx/>
              <a:buNone/>
              <a:defRPr sz="4400"/>
            </a:lvl1pPr>
            <a:lvl2pPr marL="0" indent="228600" algn="ctr">
              <a:buSzTx/>
              <a:buNone/>
              <a:defRPr sz="4400"/>
            </a:lvl2pPr>
            <a:lvl3pPr marL="0" indent="457200" algn="ctr">
              <a:buSzTx/>
              <a:buNone/>
              <a:defRPr sz="4400"/>
            </a:lvl3pPr>
            <a:lvl4pPr marL="0" indent="685800" algn="ctr">
              <a:buSzTx/>
              <a:buNone/>
              <a:defRPr sz="4400"/>
            </a:lvl4pPr>
            <a:lvl5pPr marL="0" indent="914400" algn="ctr">
              <a:buSzTx/>
              <a:buNone/>
              <a:defRPr sz="4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>
            <a:spLocks noGrp="1"/>
          </p:cNvSpPr>
          <p:nvPr>
            <p:ph type="title"/>
          </p:nvPr>
        </p:nvSpPr>
        <p:spPr>
          <a:xfrm>
            <a:off x="635000" y="4536281"/>
            <a:ext cx="23114000" cy="464343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 -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pPr algn="l" defTabSz="642937">
              <a:defRPr sz="1600"/>
            </a:pPr>
            <a:endParaRPr/>
          </a:p>
        </p:txBody>
      </p:sp>
      <p:sp>
        <p:nvSpPr>
          <p:cNvPr id="46" name="Title Text"/>
          <p:cNvSpPr txBox="1">
            <a:spLocks noGrp="1"/>
          </p:cNvSpPr>
          <p:nvPr>
            <p:ph type="title"/>
          </p:nvPr>
        </p:nvSpPr>
        <p:spPr>
          <a:xfrm>
            <a:off x="635000" y="464343"/>
            <a:ext cx="23114000" cy="1964532"/>
          </a:xfrm>
          <a:prstGeom prst="rect">
            <a:avLst/>
          </a:prstGeom>
        </p:spPr>
        <p:txBody>
          <a:bodyPr anchor="b">
            <a:noAutofit/>
          </a:bodyPr>
          <a:lstStyle/>
          <a:p>
            <a:r>
              <a:t>Title Text</a:t>
            </a:r>
          </a:p>
        </p:txBody>
      </p:sp>
      <p:sp>
        <p:nvSpPr>
          <p:cNvPr id="4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35000" y="3268265"/>
            <a:ext cx="12700000" cy="9525001"/>
          </a:xfrm>
          <a:prstGeom prst="rect">
            <a:avLst/>
          </a:prstGeom>
        </p:spPr>
        <p:txBody>
          <a:bodyPr anchor="t">
            <a:noAutofit/>
          </a:bodyPr>
          <a:lstStyle>
            <a:lvl1pPr marL="369276" indent="-369276">
              <a:buSzPct val="100000"/>
              <a:defRPr sz="3600">
                <a:solidFill>
                  <a:srgbClr val="747474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813776" indent="-369276">
              <a:buSzPct val="100000"/>
              <a:defRPr sz="3600">
                <a:solidFill>
                  <a:srgbClr val="747474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258276" indent="-369276">
              <a:buSzPct val="100000"/>
              <a:defRPr sz="3600">
                <a:solidFill>
                  <a:srgbClr val="747474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702776" indent="-369276">
              <a:buSzPct val="100000"/>
              <a:defRPr sz="3600">
                <a:solidFill>
                  <a:srgbClr val="747474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147276" indent="-369276">
              <a:buSzPct val="100000"/>
              <a:defRPr sz="3600">
                <a:solidFill>
                  <a:srgbClr val="747474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>
            <a:spAutoFit/>
          </a:bodyPr>
          <a:lstStyle>
            <a:lvl1pPr algn="r"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Image"/>
          <p:cNvSpPr>
            <a:spLocks noGrp="1"/>
          </p:cNvSpPr>
          <p:nvPr>
            <p:ph type="pic" sz="half" idx="21"/>
          </p:nvPr>
        </p:nvSpPr>
        <p:spPr>
          <a:xfrm>
            <a:off x="5307210" y="892968"/>
            <a:ext cx="13751720" cy="9172589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xfrm>
            <a:off x="4833937" y="9447609"/>
            <a:ext cx="14716126" cy="2000251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833937" y="11519296"/>
            <a:ext cx="14716126" cy="1589486"/>
          </a:xfrm>
          <a:prstGeom prst="rect">
            <a:avLst/>
          </a:prstGeom>
        </p:spPr>
        <p:txBody>
          <a:bodyPr anchor="t"/>
          <a:lstStyle>
            <a:lvl1pPr marL="0" indent="0" algn="ctr">
              <a:buSzTx/>
              <a:buNone/>
              <a:defRPr sz="4400"/>
            </a:lvl1pPr>
            <a:lvl2pPr marL="0" indent="228600" algn="ctr">
              <a:buSzTx/>
              <a:buNone/>
              <a:defRPr sz="4400"/>
            </a:lvl2pPr>
            <a:lvl3pPr marL="0" indent="457200" algn="ctr">
              <a:buSzTx/>
              <a:buNone/>
              <a:defRPr sz="4400"/>
            </a:lvl3pPr>
            <a:lvl4pPr marL="0" indent="685800" algn="ctr">
              <a:buSzTx/>
              <a:buNone/>
              <a:defRPr sz="4400"/>
            </a:lvl4pPr>
            <a:lvl5pPr marL="0" indent="914400" algn="ctr">
              <a:buSzTx/>
              <a:buNone/>
              <a:defRPr sz="4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01625"/>
            <a:ext cx="494513" cy="5111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6869906" y="892968"/>
            <a:ext cx="17377173" cy="1158478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xfrm>
            <a:off x="4387453" y="892968"/>
            <a:ext cx="7500938" cy="5607845"/>
          </a:xfrm>
          <a:prstGeom prst="rect">
            <a:avLst/>
          </a:prstGeom>
        </p:spPr>
        <p:txBody>
          <a:bodyPr anchor="b"/>
          <a:lstStyle>
            <a:lvl1pPr>
              <a:defRPr sz="8400" b="0">
                <a:latin typeface="+mn-lt"/>
                <a:ea typeface="+mn-ea"/>
                <a:cs typeface="+mn-cs"/>
                <a:sym typeface="Helvetica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387453" y="6697265"/>
            <a:ext cx="7500938" cy="5768579"/>
          </a:xfrm>
          <a:prstGeom prst="rect">
            <a:avLst/>
          </a:prstGeom>
        </p:spPr>
        <p:txBody>
          <a:bodyPr anchor="t"/>
          <a:lstStyle>
            <a:lvl1pPr marL="0" indent="0" algn="ctr">
              <a:buSzTx/>
              <a:buNone/>
              <a:defRPr sz="4400"/>
            </a:lvl1pPr>
            <a:lvl2pPr marL="0" indent="228600" algn="ctr">
              <a:buSzTx/>
              <a:buNone/>
              <a:defRPr sz="4400"/>
            </a:lvl2pPr>
            <a:lvl3pPr marL="0" indent="457200" algn="ctr">
              <a:buSzTx/>
              <a:buNone/>
              <a:defRPr sz="4400"/>
            </a:lvl3pPr>
            <a:lvl4pPr marL="0" indent="685800" algn="ctr">
              <a:buSzTx/>
              <a:buNone/>
              <a:defRPr sz="4400"/>
            </a:lvl4pPr>
            <a:lvl5pPr marL="0" indent="914400" algn="ctr">
              <a:buSzTx/>
              <a:buNone/>
              <a:defRPr sz="4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Image"/>
          <p:cNvSpPr>
            <a:spLocks noGrp="1"/>
          </p:cNvSpPr>
          <p:nvPr>
            <p:ph type="pic" sz="half" idx="21"/>
          </p:nvPr>
        </p:nvSpPr>
        <p:spPr>
          <a:xfrm>
            <a:off x="9423796" y="3661171"/>
            <a:ext cx="13260587" cy="884039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7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7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387453" y="3661171"/>
            <a:ext cx="7500938" cy="8840392"/>
          </a:xfrm>
          <a:prstGeom prst="rect">
            <a:avLst/>
          </a:prstGeom>
        </p:spPr>
        <p:txBody>
          <a:bodyPr/>
          <a:lstStyle>
            <a:lvl1pPr marL="465364" indent="-465364">
              <a:spcBef>
                <a:spcPts val="4500"/>
              </a:spcBef>
              <a:defRPr sz="3800"/>
            </a:lvl1pPr>
            <a:lvl2pPr marL="808264" indent="-465364">
              <a:spcBef>
                <a:spcPts val="4500"/>
              </a:spcBef>
              <a:defRPr sz="3800"/>
            </a:lvl2pPr>
            <a:lvl3pPr marL="1151164" indent="-465364">
              <a:spcBef>
                <a:spcPts val="4500"/>
              </a:spcBef>
              <a:defRPr sz="3800"/>
            </a:lvl3pPr>
            <a:lvl4pPr marL="1494064" indent="-465364">
              <a:spcBef>
                <a:spcPts val="4500"/>
              </a:spcBef>
              <a:defRPr sz="3800"/>
            </a:lvl4pPr>
            <a:lvl5pPr marL="1836964" indent="-465364">
              <a:spcBef>
                <a:spcPts val="4500"/>
              </a:spcBef>
              <a:defRPr sz="3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Body Level One…"/>
          <p:cNvSpPr txBox="1">
            <a:spLocks noGrp="1"/>
          </p:cNvSpPr>
          <p:nvPr>
            <p:ph type="body" idx="1"/>
          </p:nvPr>
        </p:nvSpPr>
        <p:spPr>
          <a:xfrm>
            <a:off x="4387453" y="1785937"/>
            <a:ext cx="15609094" cy="1014412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Image"/>
          <p:cNvSpPr>
            <a:spLocks noGrp="1"/>
          </p:cNvSpPr>
          <p:nvPr>
            <p:ph type="pic" idx="21"/>
          </p:nvPr>
        </p:nvSpPr>
        <p:spPr>
          <a:xfrm>
            <a:off x="-291704" y="1250156"/>
            <a:ext cx="16841392" cy="11227594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94" name="Image"/>
          <p:cNvSpPr>
            <a:spLocks noGrp="1"/>
          </p:cNvSpPr>
          <p:nvPr>
            <p:ph type="pic" sz="quarter" idx="22"/>
          </p:nvPr>
        </p:nvSpPr>
        <p:spPr>
          <a:xfrm>
            <a:off x="12442031" y="7069144"/>
            <a:ext cx="8518923" cy="56822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95" name="Image"/>
          <p:cNvSpPr>
            <a:spLocks noGrp="1"/>
          </p:cNvSpPr>
          <p:nvPr>
            <p:ph type="pic" sz="quarter" idx="23"/>
          </p:nvPr>
        </p:nvSpPr>
        <p:spPr>
          <a:xfrm>
            <a:off x="12192000" y="1246988"/>
            <a:ext cx="8251032" cy="5500689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4833937" y="8947546"/>
            <a:ext cx="14716126" cy="660798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buSzTx/>
              <a:buNone/>
              <a:defRPr sz="3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10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4833937" y="6000353"/>
            <a:ext cx="14716126" cy="965201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SzTx/>
              <a:buNone/>
              <a:defRPr sz="5200"/>
            </a:lvl1pPr>
          </a:lstStyle>
          <a:p>
            <a:r>
              <a:t>“Type a quote here.” 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Image"/>
          <p:cNvSpPr>
            <a:spLocks noGrp="1"/>
          </p:cNvSpPr>
          <p:nvPr>
            <p:ph type="pic" idx="21"/>
          </p:nvPr>
        </p:nvSpPr>
        <p:spPr>
          <a:xfrm>
            <a:off x="1905000" y="0"/>
            <a:ext cx="20563290" cy="13716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35000" y="635000"/>
            <a:ext cx="10160642" cy="12446000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35000" y="635000"/>
            <a:ext cx="23114000" cy="254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35000" y="3175000"/>
            <a:ext cx="23114000" cy="984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35814" y="13010554"/>
            <a:ext cx="494513" cy="511176"/>
          </a:xfrm>
          <a:prstGeom prst="rect">
            <a:avLst/>
          </a:prstGeom>
          <a:ln w="12700">
            <a:miter lim="400000"/>
          </a:ln>
        </p:spPr>
        <p:txBody>
          <a:bodyPr wrap="none" lIns="71437" tIns="71437" rIns="71437" bIns="71437">
            <a:normAutofit/>
          </a:bodyPr>
          <a:lstStyle>
            <a:lvl1pPr>
              <a:defRPr sz="2400">
                <a:latin typeface="+mn-lt"/>
                <a:ea typeface="+mn-ea"/>
                <a:cs typeface="+mn-cs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med"/>
  <p:txStyles>
    <p:titleStyle>
      <a:lvl1pPr marL="0" marR="0" indent="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228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457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685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9144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11430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1371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1600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1828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1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6173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10618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15063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19508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23953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28398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32843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37288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4173361" marR="0" indent="-617361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5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aveminh.github.io/Chem456-2024F/assignments/" TargetMode="External"/><Relationship Id="rId2" Type="http://schemas.openxmlformats.org/officeDocument/2006/relationships/hyperlink" Target="https://daveminh.github.io/Chem456-2026S/assignments/" TargetMode="Externa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pcrdb.org/" TargetMode="External"/><Relationship Id="rId2" Type="http://schemas.openxmlformats.org/officeDocument/2006/relationships/hyperlink" Target="https://guides.library.iit.edu/c.php?g=474723&amp;p=3248565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pubchem.ncbi.nlm.nih.gov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9/16/20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1"/>
            <a:r>
              <a:rPr lang="en-US" dirty="0"/>
              <a:t>2</a:t>
            </a:r>
            <a:r>
              <a:rPr dirty="0"/>
              <a:t>/</a:t>
            </a:r>
            <a:r>
              <a:rPr lang="en-US" dirty="0"/>
              <a:t>4</a:t>
            </a:r>
            <a:r>
              <a:rPr dirty="0"/>
              <a:t>/202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38" name="Quiz 3 (30 minutes)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dirty="0"/>
              <a:t>Comments on </a:t>
            </a:r>
          </a:p>
          <a:p>
            <a:pPr lvl="1"/>
            <a:r>
              <a:rPr lang="en-US" dirty="0"/>
              <a:t>Quiz: make sure to understand foundational material</a:t>
            </a:r>
          </a:p>
          <a:p>
            <a:pPr lvl="1"/>
            <a:r>
              <a:rPr lang="en-US" dirty="0"/>
              <a:t>Exercise 3</a:t>
            </a:r>
          </a:p>
          <a:p>
            <a:pPr lvl="2"/>
            <a:r>
              <a:rPr lang="en-US" dirty="0"/>
              <a:t>Confirm MOR:G</a:t>
            </a:r>
            <a:r>
              <a:rPr lang="el-GR" dirty="0"/>
              <a:t>α</a:t>
            </a:r>
            <a:r>
              <a:rPr lang="en-US" dirty="0"/>
              <a:t> instability</a:t>
            </a:r>
          </a:p>
          <a:p>
            <a:pPr lvl="2"/>
            <a:r>
              <a:rPr lang="en-US" dirty="0"/>
              <a:t>Carry over to Exercise 4</a:t>
            </a:r>
            <a:endParaRPr lang="en-US" u="sng" dirty="0">
              <a:hlinkClick r:id="rId2"/>
            </a:endParaRPr>
          </a:p>
          <a:p>
            <a:r>
              <a:rPr u="sng" dirty="0">
                <a:hlinkClick r:id="rId2"/>
              </a:rPr>
              <a:t>Biological target presentation and report</a:t>
            </a:r>
            <a:endParaRPr u="sng" dirty="0">
              <a:hlinkClick r:id="rId3"/>
            </a:endParaRPr>
          </a:p>
          <a:p>
            <a:r>
              <a:rPr dirty="0"/>
              <a:t>Searching the scientific literature </a:t>
            </a:r>
          </a:p>
          <a:p>
            <a:pPr lvl="1"/>
            <a:r>
              <a:rPr lang="en-US" dirty="0"/>
              <a:t>Biochemistry-related databases</a:t>
            </a:r>
          </a:p>
          <a:p>
            <a:pPr lvl="1"/>
            <a:r>
              <a:rPr lang="en-US" dirty="0"/>
              <a:t>Search strategies</a:t>
            </a:r>
          </a:p>
          <a:p>
            <a:pPr lvl="1"/>
            <a:r>
              <a:rPr dirty="0"/>
              <a:t>Accessing articles</a:t>
            </a:r>
          </a:p>
          <a:p>
            <a:pPr lvl="1"/>
            <a:r>
              <a:rPr dirty="0"/>
              <a:t>Zotero</a:t>
            </a:r>
            <a:endParaRPr lang="en-US" dirty="0"/>
          </a:p>
        </p:txBody>
      </p:sp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20548" y="13010554"/>
            <a:ext cx="325045" cy="51117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Biochemistry-related databa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Biochemistry-related databases</a:t>
            </a:r>
          </a:p>
        </p:txBody>
      </p:sp>
      <p:sp>
        <p:nvSpPr>
          <p:cNvPr id="147" name="Google/Google Scholar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Scientific Literature</a:t>
            </a:r>
          </a:p>
          <a:p>
            <a:pPr lvl="1"/>
            <a:r>
              <a:rPr dirty="0"/>
              <a:t>Google/Google Scholar</a:t>
            </a:r>
          </a:p>
          <a:p>
            <a:pPr lvl="1"/>
            <a:r>
              <a:rPr dirty="0"/>
              <a:t>Web of Science</a:t>
            </a:r>
          </a:p>
          <a:p>
            <a:pPr lvl="1"/>
            <a:r>
              <a:rPr dirty="0"/>
              <a:t>PubMed</a:t>
            </a:r>
          </a:p>
          <a:p>
            <a:pPr lvl="1"/>
            <a:r>
              <a:rPr dirty="0"/>
              <a:t>Others: </a:t>
            </a:r>
            <a:r>
              <a:rPr u="sng" dirty="0">
                <a:hlinkClick r:id="rId2"/>
              </a:rPr>
              <a:t>https://guides.library.iit.edu/c.php?g=474723&amp;p=3248565</a:t>
            </a:r>
            <a:endParaRPr lang="en-US" u="sng" dirty="0">
              <a:hlinkClick r:id="rId2"/>
            </a:endParaRPr>
          </a:p>
          <a:p>
            <a:endParaRPr lang="en-US" u="sng" dirty="0">
              <a:hlinkClick r:id="rId2"/>
            </a:endParaRPr>
          </a:p>
          <a:p>
            <a:r>
              <a:rPr lang="en-US" dirty="0"/>
              <a:t>GPCR Database: </a:t>
            </a:r>
            <a:r>
              <a:rPr lang="en-US" dirty="0">
                <a:hlinkClick r:id="rId3"/>
              </a:rPr>
              <a:t>https://gpcrdb.org/</a:t>
            </a:r>
            <a:endParaRPr lang="en-US" dirty="0"/>
          </a:p>
          <a:p>
            <a:pPr lvl="1"/>
            <a:r>
              <a:rPr lang="en-US" dirty="0"/>
              <a:t>“</a:t>
            </a:r>
            <a:r>
              <a:rPr lang="en-US" dirty="0" err="1"/>
              <a:t>GPCRdb</a:t>
            </a:r>
            <a:r>
              <a:rPr lang="en-US" dirty="0"/>
              <a:t>, </a:t>
            </a:r>
            <a:r>
              <a:rPr lang="en-US" dirty="0" err="1"/>
              <a:t>GproteinDb</a:t>
            </a:r>
            <a:r>
              <a:rPr lang="en-US" dirty="0"/>
              <a:t>, </a:t>
            </a:r>
            <a:r>
              <a:rPr lang="en-US" dirty="0" err="1"/>
              <a:t>ArrestinDb</a:t>
            </a:r>
            <a:r>
              <a:rPr lang="en-US" dirty="0"/>
              <a:t> and Biased Signaling Atlas cover related aspects of signal transduction while serving dedicated research communities and use cases.”</a:t>
            </a:r>
          </a:p>
          <a:p>
            <a:r>
              <a:rPr lang="en-US" dirty="0"/>
              <a:t>PubChem: </a:t>
            </a:r>
            <a:r>
              <a:rPr lang="en-US" dirty="0">
                <a:hlinkClick r:id="rId4"/>
              </a:rPr>
              <a:t>https://pubchem.ncbi.nlm.nih.gov/</a:t>
            </a:r>
            <a:endParaRPr lang="en-US" dirty="0"/>
          </a:p>
          <a:p>
            <a:pPr lvl="1"/>
            <a:r>
              <a:rPr lang="en-US" dirty="0"/>
              <a:t>Includes biological activity of many chemical entities</a:t>
            </a:r>
          </a:p>
          <a:p>
            <a:pPr lvl="1"/>
            <a:r>
              <a:rPr lang="en-US" dirty="0"/>
              <a:t>Chemicals often identified by SMILES strings</a:t>
            </a:r>
          </a:p>
        </p:txBody>
      </p:sp>
      <p:sp>
        <p:nvSpPr>
          <p:cNvPr id="14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20548" y="13010554"/>
            <a:ext cx="325045" cy="51117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earch strategi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Search strategies</a:t>
            </a:r>
          </a:p>
        </p:txBody>
      </p:sp>
      <p:sp>
        <p:nvSpPr>
          <p:cNvPr id="155" name="Consider alternative names, e.g. coronavirus main protease and 3c-like protea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Consider alternative names, e.g. coronavirus main protease and 3c-like protease.</a:t>
            </a:r>
          </a:p>
          <a:p>
            <a:r>
              <a:t>Proteins from different species are usually similar</a:t>
            </a:r>
          </a:p>
          <a:p>
            <a:r>
              <a:t>Look at citations</a:t>
            </a:r>
          </a:p>
          <a:p>
            <a:pPr lvl="1"/>
            <a:r>
              <a:t>cited by an article of interested</a:t>
            </a:r>
          </a:p>
          <a:p>
            <a:pPr lvl="1"/>
            <a:r>
              <a:t>that cite the article of interest</a:t>
            </a:r>
          </a:p>
          <a:p>
            <a:r>
              <a:t>A research group will often work on similar proteins</a:t>
            </a:r>
          </a:p>
        </p:txBody>
      </p:sp>
      <p:sp>
        <p:nvSpPr>
          <p:cNvPr id="1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20548" y="13010554"/>
            <a:ext cx="325045" cy="51117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1" build="p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Accessing artic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Accessing articles</a:t>
            </a:r>
          </a:p>
        </p:txBody>
      </p:sp>
      <p:sp>
        <p:nvSpPr>
          <p:cNvPr id="151" name="Fre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Free</a:t>
            </a:r>
          </a:p>
          <a:p>
            <a:pPr lvl="1"/>
            <a:r>
              <a:t>Open access - article is free online. Usually requires larger author payment</a:t>
            </a:r>
          </a:p>
          <a:p>
            <a:pPr lvl="1"/>
            <a:r>
              <a:t>Many NIH-funded articles are available online after one year</a:t>
            </a:r>
          </a:p>
          <a:p>
            <a:pPr lvl="1"/>
            <a:r>
              <a:t>Preprint servers, e.g. bioarXiv - free, but may not be peer reviewed</a:t>
            </a:r>
          </a:p>
          <a:p>
            <a:pPr lvl="1"/>
            <a:r>
              <a:t>Sometimes available from authors on their websites or upon request</a:t>
            </a:r>
          </a:p>
          <a:p>
            <a:r>
              <a:t>Paywall</a:t>
            </a:r>
          </a:p>
          <a:p>
            <a:pPr lvl="1"/>
            <a:r>
              <a:t>IIT subscribes to a selection of scientific journals, which can be accessed</a:t>
            </a:r>
          </a:p>
          <a:p>
            <a:pPr lvl="2"/>
            <a:r>
              <a:t>in the library</a:t>
            </a:r>
          </a:p>
          <a:p>
            <a:pPr lvl="2"/>
            <a:r>
              <a:t>online from campus</a:t>
            </a:r>
          </a:p>
          <a:p>
            <a:pPr lvl="2"/>
            <a:r>
              <a:t>via a proxy server or VPN</a:t>
            </a:r>
          </a:p>
          <a:p>
            <a:pPr lvl="1"/>
            <a:r>
              <a:t>Interlibrary loan (MyILL) can be used to request nearly any article, but requires a lead time</a:t>
            </a:r>
          </a:p>
        </p:txBody>
      </p:sp>
      <p:sp>
        <p:nvSpPr>
          <p:cNvPr id="15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20548" y="13010554"/>
            <a:ext cx="325045" cy="51117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Zoter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Zotero</a:t>
            </a:r>
          </a:p>
        </p:txBody>
      </p:sp>
      <p:sp>
        <p:nvSpPr>
          <p:cNvPr id="159" name="Open source and fre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Open source and free</a:t>
            </a:r>
          </a:p>
          <a:p>
            <a:r>
              <a:t>Available online and as an application</a:t>
            </a:r>
          </a:p>
          <a:p>
            <a:r>
              <a:t>Automatically organizes manuscript files &amp; notes</a:t>
            </a:r>
          </a:p>
          <a:p>
            <a:r>
              <a:t>Allows sharing with others via group libraries</a:t>
            </a:r>
          </a:p>
          <a:p>
            <a:r>
              <a:t>Creates bibliographies</a:t>
            </a:r>
          </a:p>
          <a:p>
            <a:pPr lvl="1"/>
            <a:r>
              <a:t>linked with MS Word and Google Docs</a:t>
            </a:r>
          </a:p>
          <a:p>
            <a:pPr lvl="1"/>
            <a:r>
              <a:t>exportable to BibTeX</a:t>
            </a:r>
          </a:p>
        </p:txBody>
      </p:sp>
      <p:sp>
        <p:nvSpPr>
          <p:cNvPr id="1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20548" y="13010554"/>
            <a:ext cx="325045" cy="51117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</p:spTree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635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508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635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508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326</Words>
  <Application>Microsoft Macintosh PowerPoint</Application>
  <PresentationFormat>Custom</PresentationFormat>
  <Paragraphs>56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Avenir</vt:lpstr>
      <vt:lpstr>Helvetica</vt:lpstr>
      <vt:lpstr>Helvetica Light</vt:lpstr>
      <vt:lpstr>Helvetica Neue</vt:lpstr>
      <vt:lpstr>White</vt:lpstr>
      <vt:lpstr>2/4/2026</vt:lpstr>
      <vt:lpstr>Biochemistry-related databases</vt:lpstr>
      <vt:lpstr>Search strategies</vt:lpstr>
      <vt:lpstr>Accessing articles</vt:lpstr>
      <vt:lpstr>Zotero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David Minh</cp:lastModifiedBy>
  <cp:revision>5</cp:revision>
  <dcterms:modified xsi:type="dcterms:W3CDTF">2026-02-04T03:27:46Z</dcterms:modified>
</cp:coreProperties>
</file>