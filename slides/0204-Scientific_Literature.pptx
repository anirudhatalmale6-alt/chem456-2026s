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2"/>
  </p:notesMasterIdLst>
  <p:sldIdLst>
    <p:sldId id="315" r:id="rId2"/>
    <p:sldId id="316" r:id="rId3"/>
    <p:sldId id="317" r:id="rId4"/>
    <p:sldId id="318" r:id="rId5"/>
    <p:sldId id="319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13" r:id="rId32"/>
    <p:sldId id="307" r:id="rId33"/>
    <p:sldId id="308" r:id="rId34"/>
    <p:sldId id="309" r:id="rId35"/>
    <p:sldId id="310" r:id="rId36"/>
    <p:sldId id="311" r:id="rId37"/>
    <p:sldId id="312" r:id="rId38"/>
    <p:sldId id="314" r:id="rId39"/>
    <p:sldId id="305" r:id="rId40"/>
    <p:sldId id="306" r:id="rId41"/>
  </p:sldIdLst>
  <p:sldSz cx="9144000" cy="5143500" type="screen16x9"/>
  <p:notesSz cx="6858000" cy="9144000"/>
  <p:embeddedFontLst>
    <p:embeddedFont>
      <p:font typeface="Lora" pitchFamily="2" charset="77"/>
      <p:regular r:id="rId43"/>
      <p:bold r:id="rId44"/>
      <p:italic r:id="rId45"/>
      <p:boldItalic r:id="rId46"/>
    </p:embeddedFont>
    <p:embeddedFont>
      <p:font typeface="Open Sans" panose="020B0606030504020204" pitchFamily="34" charset="0"/>
      <p:regular r:id="rId47"/>
      <p:bold r:id="rId48"/>
      <p:italic r:id="rId49"/>
      <p:boldItalic r:id="rId50"/>
    </p:embeddedFont>
    <p:embeddedFont>
      <p:font typeface="Proxima Nova" panose="02000506030000020004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440559-B41C-B6F5-8754-A1AF72FF5035}" v="989" dt="2026-02-03T18:33:10.368"/>
    <p1510:client id="{B143E678-1991-2D0B-A488-22CD001547D2}" v="199" dt="2026-02-03T19:53:10.688"/>
  </p1510:revLst>
</p1510:revInfo>
</file>

<file path=ppt/tableStyles.xml><?xml version="1.0" encoding="utf-8"?>
<a:tblStyleLst xmlns:a="http://schemas.openxmlformats.org/drawingml/2006/main" def="{DB553BE4-9B06-43BA-BC3C-4695CD91E824}">
  <a:tblStyle styleId="{DB553BE4-9B06-43BA-BC3C-4695CD91E8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Head of Access Services at the Galvin Library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Liaison Areas</a:t>
            </a:r>
            <a:endParaRPr>
              <a:solidFill>
                <a:schemeClr val="dk1"/>
              </a:solidFill>
            </a:endParaRP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romanLcPeriod"/>
            </a:pPr>
            <a:r>
              <a:rPr lang="en">
                <a:solidFill>
                  <a:schemeClr val="dk1"/>
                </a:solidFill>
              </a:rPr>
              <a:t>Food Science and Nutrition, Physics, Chemistry, Biology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Background - Masters in Applied Molecular Biology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1353c379e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1353c379e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Ask the class to raise their hand if: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You’ve searched for info using Google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You were skeptical of something you read and looked for a different source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You’ve read an academic journal article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You’ve searched a database for journal articles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You’ve searched a database for patents or product information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You’ve ever been frustrated when you couldn’t find the info you needed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1099e9e825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1099e9e825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Your assignments touch on a variety of topics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Ideal Gas equations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>
                <a:solidFill>
                  <a:schemeClr val="dk1"/>
                </a:solidFill>
              </a:rPr>
              <a:t>Thermodynamic cycles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>
                <a:solidFill>
                  <a:schemeClr val="dk1"/>
                </a:solidFill>
              </a:rPr>
              <a:t>Phase diagrams</a:t>
            </a:r>
            <a:endParaRPr>
              <a:solidFill>
                <a:schemeClr val="dk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There won’t be a single, best place to find info across all these disciplines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Give you tools and strategies to know where to look and how to find info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23771f402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23771f402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You’ll do most of your research online, though some articles are published in physical volumes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1099e9e825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1099e9e825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evaluate whether a source is popular or scholarly?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Where it was published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Who wrote it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Who is the audience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What was the purpose of writing the source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What kind of review does it undergo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3577ca8f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3577ca8f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11099e9e825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11099e9e825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Search engine indexing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Algorithm-based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Advertising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“Natural Language Processing”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Don’t get me wrong - Google is great for learning about most things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1099e9e825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1099e9e825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Select keywords as search terms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Be accurate (spelling)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Boolean operators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Controlled Vocabulary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1353c379ef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1353c379ef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Librarians create LibGuides to gather relevant sources and information on various subjects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11099e9e825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11099e9e825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Demonstrate the following: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Catalog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ILL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A-Z Database List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FAQ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LibGuides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1353c379efe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1353c379efe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Search expressions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Filtering results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Full text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Peer Reviewed label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Citation generators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Permalinks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Favorites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expression: </a:t>
            </a:r>
            <a:r>
              <a:rPr lang="en" b="1"/>
              <a:t>electrocatalysts AND alcohol AND "carbon dioxide" AND spectroscopy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Demonstrate the search expression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Show Full Text limiter/filter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d7c52c9498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1d7c52c9498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expression: </a:t>
            </a:r>
            <a:r>
              <a:rPr lang="en" b="1"/>
              <a:t>electrocatalysts AND alcohol AND "carbon dioxide" AND spectroscopy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Demonstrate the search expression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Citation Tracking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Full Text button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d7c52c9498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d7c52c9498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expression: </a:t>
            </a:r>
            <a:r>
              <a:rPr lang="en" b="1"/>
              <a:t>electrocatalysts AND alcohol AND "carbon dioxide" AND spectroscopy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Demonstrate the search expression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Subject heading filters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Publication date filters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Find full text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d7c52c9498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d7c52c9498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expression: </a:t>
            </a:r>
            <a:r>
              <a:rPr lang="en" b="1"/>
              <a:t>“phase diagram” AND “argon”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Demonstrate the search expression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Show references list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1d7c52c9498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1d7c52c9498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expression: </a:t>
            </a:r>
            <a:r>
              <a:rPr lang="en" b="1"/>
              <a:t>electrocatalysts AND alcohol AND "carbon dioxide" AND spectroscopy</a:t>
            </a: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Demonstrate the search expression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Show “Find full text @ IIT”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1fbb78cd138_0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1fbb78cd138_0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When you write a research paper, you will be building on the work of others throughout history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It’s very important to acknowledge the work of others for a variety of reasons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1fbb78cd138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1fbb78cd138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To give credit to those who performed the work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To demonstrate that scholarship is an ongoing, collaborative discourse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To provide supporting evidence for the claims you make in your own paper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To direct your readers to the original sources of information you’re building upon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>
                <a:solidFill>
                  <a:schemeClr val="dk1"/>
                </a:solidFill>
              </a:rPr>
              <a:t>To avoid plagiarism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fbb78cd13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1fbb78cd13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Using someone else’s words, ideas, or work as your own without giving due credit to the original author.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It’s essentially fraud; it can also be viewed as stealing.</a:t>
            </a: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fbb78cd138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fbb78cd138_0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1fbb78cd13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1fbb78cd13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fbb78cd138_0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1fbb78cd138_0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1fbb78cd138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1fbb78cd138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fbb78cd138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fbb78cd138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1fc16c48a8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1fc16c48a8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Citation in APA 7th Edition format.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year is in parentheses directly after the authors.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title is in sentence case (only the first word is capitalized)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DOI is a static URL for the paper, and it’s helpful to include it.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1fbb78cd138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1fbb78cd138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Located at the end of papers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Gives readers all the information they need to track down the cited resource</a:t>
            </a:r>
            <a:endParaRPr>
              <a:solidFill>
                <a:schemeClr val="dk1"/>
              </a:solidFill>
            </a:endParaRP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romanLcPeriod"/>
            </a:pPr>
            <a:r>
              <a:rPr lang="en" dirty="0">
                <a:solidFill>
                  <a:schemeClr val="dk1"/>
                </a:solidFill>
              </a:rPr>
              <a:t>“Bibliographic Information”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In-text citations should also appear in bibliographies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Also known as References (APA) and Works Cited (MLA)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>
          <a:extLst>
            <a:ext uri="{FF2B5EF4-FFF2-40B4-BE49-F238E27FC236}">
              <a16:creationId xmlns:a16="http://schemas.microsoft.com/office/drawing/2014/main" id="{9EE3A0F2-14EE-A089-DB5C-33DDE7087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1fbb78cd138_0_267:notes">
            <a:extLst>
              <a:ext uri="{FF2B5EF4-FFF2-40B4-BE49-F238E27FC236}">
                <a16:creationId xmlns:a16="http://schemas.microsoft.com/office/drawing/2014/main" id="{F8276519-B142-5BFA-177B-F5270EB5C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1fbb78cd138_0_267:notes">
            <a:extLst>
              <a:ext uri="{FF2B5EF4-FFF2-40B4-BE49-F238E27FC236}">
                <a16:creationId xmlns:a16="http://schemas.microsoft.com/office/drawing/2014/main" id="{87134B0B-25D6-1194-3AEF-9474B93690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94705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F6E4FA3B-1886-623D-0223-10EBD83E8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fbb78cd138_0_247:notes">
            <a:extLst>
              <a:ext uri="{FF2B5EF4-FFF2-40B4-BE49-F238E27FC236}">
                <a16:creationId xmlns:a16="http://schemas.microsoft.com/office/drawing/2014/main" id="{4BDE81FE-3CEE-40DE-C001-011C4081DB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1fbb78cd138_0_247:notes">
            <a:extLst>
              <a:ext uri="{FF2B5EF4-FFF2-40B4-BE49-F238E27FC236}">
                <a16:creationId xmlns:a16="http://schemas.microsoft.com/office/drawing/2014/main" id="{13D9C61E-1A6C-B71A-09B4-2707DC0CBA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Using someone else’s words, ideas, or work as your own without giving due credit to the original author.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It’s essentially fraud; it can also be viewed as stealing.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3677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6E391A23-2786-337C-2C20-EEF69E74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1fbb78cd138_0_280:notes">
            <a:extLst>
              <a:ext uri="{FF2B5EF4-FFF2-40B4-BE49-F238E27FC236}">
                <a16:creationId xmlns:a16="http://schemas.microsoft.com/office/drawing/2014/main" id="{BAF5FBC8-23B4-FB3C-5BFE-C3EBB6CEE2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1fbb78cd138_0_280:notes">
            <a:extLst>
              <a:ext uri="{FF2B5EF4-FFF2-40B4-BE49-F238E27FC236}">
                <a16:creationId xmlns:a16="http://schemas.microsoft.com/office/drawing/2014/main" id="{5EBDBC23-02F2-4930-14A9-D68F92E748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Located at the end of papers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Gives readers all the information they need to track down the cited resource</a:t>
            </a:r>
            <a:endParaRPr>
              <a:solidFill>
                <a:schemeClr val="dk1"/>
              </a:solidFill>
            </a:endParaRP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romanLcPeriod"/>
            </a:pPr>
            <a:r>
              <a:rPr lang="en" dirty="0">
                <a:solidFill>
                  <a:schemeClr val="dk1"/>
                </a:solidFill>
              </a:rPr>
              <a:t>“Bibliographic Information”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In-text citations should also appear in bibliographies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Also known as References (APA) and Works Cited (MLA)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63123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E1289A7C-57BF-F3DE-19ED-73B341B5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fbb78cd138_0_247:notes">
            <a:extLst>
              <a:ext uri="{FF2B5EF4-FFF2-40B4-BE49-F238E27FC236}">
                <a16:creationId xmlns:a16="http://schemas.microsoft.com/office/drawing/2014/main" id="{E2C8EA92-718F-5381-1475-4F92E41AB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1fbb78cd138_0_247:notes">
            <a:extLst>
              <a:ext uri="{FF2B5EF4-FFF2-40B4-BE49-F238E27FC236}">
                <a16:creationId xmlns:a16="http://schemas.microsoft.com/office/drawing/2014/main" id="{3EB11266-7B83-62CF-5478-B160DF3DC2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Using someone else’s words, ideas, or work as your own without giving due credit to the original author.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It’s essentially fraud; it can also be viewed as stealing.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49892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9424998-C98C-A409-EDAC-32499C23B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fbb78cd138_0_247:notes">
            <a:extLst>
              <a:ext uri="{FF2B5EF4-FFF2-40B4-BE49-F238E27FC236}">
                <a16:creationId xmlns:a16="http://schemas.microsoft.com/office/drawing/2014/main" id="{A0703CDA-A07B-7C7C-2B08-A41A1DE7C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1fbb78cd138_0_247:notes">
            <a:extLst>
              <a:ext uri="{FF2B5EF4-FFF2-40B4-BE49-F238E27FC236}">
                <a16:creationId xmlns:a16="http://schemas.microsoft.com/office/drawing/2014/main" id="{5C92962F-419C-A4C3-24F3-2ABE7A0D9B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Using someone else’s words, ideas, or work as your own without giving due credit to the original author.</a:t>
            </a:r>
            <a:endParaRPr dirty="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It’s essentially fraud; it can also be viewed as stealing.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744390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5AC6EB5E-D06D-26E8-2FE3-4A6DBCA4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1fbb78cd138_0_280:notes">
            <a:extLst>
              <a:ext uri="{FF2B5EF4-FFF2-40B4-BE49-F238E27FC236}">
                <a16:creationId xmlns:a16="http://schemas.microsoft.com/office/drawing/2014/main" id="{5B04C8C7-F849-C2E7-341B-CBE3B708E8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1fbb78cd138_0_280:notes">
            <a:extLst>
              <a:ext uri="{FF2B5EF4-FFF2-40B4-BE49-F238E27FC236}">
                <a16:creationId xmlns:a16="http://schemas.microsoft.com/office/drawing/2014/main" id="{F71D834E-D29A-0FC3-55AE-1F2BF79E27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Located at the end of papers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Gives readers all the information they need to track down the cited resource</a:t>
            </a:r>
            <a:endParaRPr>
              <a:solidFill>
                <a:schemeClr val="dk1"/>
              </a:solidFill>
            </a:endParaRP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romanLcPeriod"/>
            </a:pPr>
            <a:r>
              <a:rPr lang="en" dirty="0">
                <a:solidFill>
                  <a:schemeClr val="dk1"/>
                </a:solidFill>
              </a:rPr>
              <a:t>“Bibliographic Information”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In-text citations should also appear in bibliographies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Also known as References (APA) and Works Cited (MLA)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2975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B147B403-B1BD-62B1-BA81-4FC4F817F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1fbb78cd138_0_280:notes">
            <a:extLst>
              <a:ext uri="{FF2B5EF4-FFF2-40B4-BE49-F238E27FC236}">
                <a16:creationId xmlns:a16="http://schemas.microsoft.com/office/drawing/2014/main" id="{A3649C68-95C0-A274-F034-C874E6EB9C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1fbb78cd138_0_280:notes">
            <a:extLst>
              <a:ext uri="{FF2B5EF4-FFF2-40B4-BE49-F238E27FC236}">
                <a16:creationId xmlns:a16="http://schemas.microsoft.com/office/drawing/2014/main" id="{0EBC9820-0483-8975-476A-A99DFA88C6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Located at the end of papers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Gives readers all the information they need to track down the cited resource</a:t>
            </a:r>
            <a:endParaRPr>
              <a:solidFill>
                <a:schemeClr val="dk1"/>
              </a:solidFill>
            </a:endParaRP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romanLcPeriod"/>
            </a:pPr>
            <a:r>
              <a:rPr lang="en" dirty="0">
                <a:solidFill>
                  <a:schemeClr val="dk1"/>
                </a:solidFill>
              </a:rPr>
              <a:t>“Bibliographic Information”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In-text citations should also appear in bibliographies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Also known as References (APA) and Works Cited (MLA)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96179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>
          <a:extLst>
            <a:ext uri="{FF2B5EF4-FFF2-40B4-BE49-F238E27FC236}">
              <a16:creationId xmlns:a16="http://schemas.microsoft.com/office/drawing/2014/main" id="{CD125F40-6C70-7B4F-AC3B-F66F973E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1fbb78cd138_0_280:notes">
            <a:extLst>
              <a:ext uri="{FF2B5EF4-FFF2-40B4-BE49-F238E27FC236}">
                <a16:creationId xmlns:a16="http://schemas.microsoft.com/office/drawing/2014/main" id="{9AC3E53E-9B3E-4155-AF55-C1F50E5A15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1fbb78cd138_0_280:notes">
            <a:extLst>
              <a:ext uri="{FF2B5EF4-FFF2-40B4-BE49-F238E27FC236}">
                <a16:creationId xmlns:a16="http://schemas.microsoft.com/office/drawing/2014/main" id="{5D51169C-C0E0-A1C9-441E-75C77C098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Located at the end of papers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Gives readers all the information they need to track down the cited resource</a:t>
            </a:r>
            <a:endParaRPr>
              <a:solidFill>
                <a:schemeClr val="dk1"/>
              </a:solidFill>
            </a:endParaRP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romanLcPeriod"/>
            </a:pPr>
            <a:r>
              <a:rPr lang="en" dirty="0">
                <a:solidFill>
                  <a:schemeClr val="dk1"/>
                </a:solidFill>
              </a:rPr>
              <a:t>“Bibliographic Information”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In-text citations should also appear in bibliographies</a:t>
            </a:r>
            <a:endParaRPr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Also known as References (APA) and Works Cited (MLA)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6194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11099e9e825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11099e9e825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1099e9e825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1099e9e825_0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6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body" idx="1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ropic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veminh.github.io/Chem456-2024F/assignments/" TargetMode="External"/><Relationship Id="rId2" Type="http://schemas.openxmlformats.org/officeDocument/2006/relationships/hyperlink" Target="https://daveminh.github.io/Chem456-2026S/assignments/" TargetMode="Externa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pcrdb.org/" TargetMode="External"/><Relationship Id="rId2" Type="http://schemas.openxmlformats.org/officeDocument/2006/relationships/hyperlink" Target="https://guides.library.iit.edu/c.php?g=474723&amp;p=3248565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pubchem.ncbi.nlm.nih.gov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uides.library.iit.edu/c.php?g=1035027&amp;p=7502979" TargetMode="External"/><Relationship Id="rId5" Type="http://schemas.openxmlformats.org/officeDocument/2006/relationships/hyperlink" Target="https://guides.library.iit.edu/chemicalengineering" TargetMode="External"/><Relationship Id="rId4" Type="http://schemas.openxmlformats.org/officeDocument/2006/relationships/hyperlink" Target="https://guides.library.iit.edu/chemistry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library.iit.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i-share-iit.primo.exlibrisgroup.com/discovery/search?tab=NewDiscoveryNetwork&amp;search_scope=NewDiscoveryNetwork&amp;vid=01CARLI_IIT:CARLI_IIT&amp;lang=en&amp;offset=0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ezproxy.gl.iit.edu/login?url=https://www.webofscience.com/wos/woscc/basic-search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quest.com/advanced?parentSessionId=tnG7BP1ju4XiJIEXS3lBH2dGyMMNzw%2B5Z%2FB8qRev2Zc%3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zproxy.gl.iit.edu/login?url=https://scifinder-n.cas.org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hyperlink" Target="https://iit.libanswers.com/faq/298178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scholar.google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hyperlink" Target="https://guides.library.iit.edu/google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iit.edu/student-affairs/handbook/fine-print/code-academic-honesty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owl.purdue.edu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63/1.2716004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uides.library.iit.edu/zotero&#8203;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ed.com/dictionary/metadata_n?tab=meaning_and_use#37413841100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zbib.org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zotero.org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mailto:smurphy13@iit.edu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9/16/20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pPr lvl="1"/>
            <a:r>
              <a:rPr lang="en-US" dirty="0"/>
              <a:t>2</a:t>
            </a:r>
            <a:r>
              <a:rPr dirty="0"/>
              <a:t>/</a:t>
            </a:r>
            <a:r>
              <a:rPr lang="en-US" dirty="0"/>
              <a:t>4</a:t>
            </a:r>
            <a:r>
              <a:rPr dirty="0"/>
              <a:t>/202</a:t>
            </a:r>
            <a:r>
              <a:rPr lang="en-US" dirty="0"/>
              <a:t>6 Scientific Literature</a:t>
            </a:r>
            <a:endParaRPr dirty="0"/>
          </a:p>
        </p:txBody>
      </p:sp>
      <p:sp>
        <p:nvSpPr>
          <p:cNvPr id="138" name="Quiz 3 (30 minutes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dirty="0"/>
              <a:t>Comments on </a:t>
            </a:r>
          </a:p>
          <a:p>
            <a:pPr lvl="1"/>
            <a:r>
              <a:rPr lang="en-US" dirty="0"/>
              <a:t>Quiz: make sure to understand foundational material</a:t>
            </a:r>
          </a:p>
          <a:p>
            <a:pPr lvl="1"/>
            <a:r>
              <a:rPr lang="en-US" dirty="0"/>
              <a:t>Exercise 3</a:t>
            </a:r>
          </a:p>
          <a:p>
            <a:pPr lvl="2"/>
            <a:r>
              <a:rPr lang="en-US" dirty="0"/>
              <a:t>Confirm MOR:G</a:t>
            </a:r>
            <a:r>
              <a:rPr lang="el-GR" dirty="0"/>
              <a:t>α</a:t>
            </a:r>
            <a:r>
              <a:rPr lang="en-US" dirty="0"/>
              <a:t> instability</a:t>
            </a:r>
          </a:p>
          <a:p>
            <a:pPr lvl="2"/>
            <a:r>
              <a:rPr lang="en-US" dirty="0"/>
              <a:t>Carry over to Exercise 4</a:t>
            </a:r>
            <a:endParaRPr lang="en-US" u="sng" dirty="0">
              <a:hlinkClick r:id="rId2"/>
            </a:endParaRPr>
          </a:p>
          <a:p>
            <a:r>
              <a:rPr u="sng" dirty="0">
                <a:hlinkClick r:id="rId2"/>
              </a:rPr>
              <a:t>Biological target presentation and report</a:t>
            </a:r>
            <a:endParaRPr u="sng" dirty="0">
              <a:hlinkClick r:id="rId3"/>
            </a:endParaRPr>
          </a:p>
          <a:p>
            <a:r>
              <a:rPr dirty="0"/>
              <a:t>Searching the scientific literature </a:t>
            </a:r>
          </a:p>
          <a:p>
            <a:pPr lvl="1"/>
            <a:r>
              <a:rPr lang="en-US" dirty="0"/>
              <a:t>Biochemistry-related databases</a:t>
            </a:r>
          </a:p>
          <a:p>
            <a:pPr lvl="1"/>
            <a:r>
              <a:rPr lang="en-US" dirty="0"/>
              <a:t>Search strategies</a:t>
            </a:r>
          </a:p>
          <a:p>
            <a:pPr lvl="1"/>
            <a:r>
              <a:rPr dirty="0"/>
              <a:t>Accessing articles</a:t>
            </a:r>
          </a:p>
          <a:p>
            <a:pPr lvl="1"/>
            <a:r>
              <a:rPr dirty="0"/>
              <a:t>Zotero</a:t>
            </a:r>
            <a:endParaRPr lang="en-US" dirty="0"/>
          </a:p>
          <a:p>
            <a:r>
              <a:rPr lang="en-US" dirty="0"/>
              <a:t>Library and Resources and Citation Management (Guest workshop by Sean Murphy)</a:t>
            </a:r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71437" tIns="71437" rIns="71437" bIns="71437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228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457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685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9144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11430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1371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1600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1828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Biochemistry-related databa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dirty="0"/>
              <a:t>Biochemistry-related databases</a:t>
            </a:r>
          </a:p>
        </p:txBody>
      </p:sp>
      <p:sp>
        <p:nvSpPr>
          <p:cNvPr id="147" name="Google/Google Scholar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Scientific Literature</a:t>
            </a:r>
          </a:p>
          <a:p>
            <a:pPr lvl="1"/>
            <a:r>
              <a:rPr dirty="0"/>
              <a:t>Google/Google Scholar</a:t>
            </a:r>
          </a:p>
          <a:p>
            <a:pPr lvl="1"/>
            <a:r>
              <a:rPr dirty="0"/>
              <a:t>Web of Science</a:t>
            </a:r>
          </a:p>
          <a:p>
            <a:pPr lvl="1"/>
            <a:r>
              <a:rPr dirty="0"/>
              <a:t>PubMed</a:t>
            </a:r>
          </a:p>
          <a:p>
            <a:pPr lvl="1"/>
            <a:r>
              <a:rPr dirty="0"/>
              <a:t>Others: </a:t>
            </a:r>
            <a:r>
              <a:rPr u="sng" dirty="0">
                <a:hlinkClick r:id="rId2"/>
              </a:rPr>
              <a:t>https://guides.library.iit.edu/c.php?g=474723&amp;p=3248565</a:t>
            </a:r>
            <a:endParaRPr lang="en-US" u="sng" dirty="0">
              <a:hlinkClick r:id="rId2"/>
            </a:endParaRPr>
          </a:p>
          <a:p>
            <a:endParaRPr lang="en-US" u="sng" dirty="0">
              <a:hlinkClick r:id="rId2"/>
            </a:endParaRPr>
          </a:p>
          <a:p>
            <a:r>
              <a:rPr lang="en-US" dirty="0"/>
              <a:t>GPCR Database: </a:t>
            </a:r>
            <a:r>
              <a:rPr lang="en-US" dirty="0">
                <a:hlinkClick r:id="rId3"/>
              </a:rPr>
              <a:t>https://gpcrdb.org/</a:t>
            </a:r>
            <a:endParaRPr lang="en-US" dirty="0"/>
          </a:p>
          <a:p>
            <a:pPr lvl="1"/>
            <a:r>
              <a:rPr lang="en-US" dirty="0"/>
              <a:t>“</a:t>
            </a:r>
            <a:r>
              <a:rPr lang="en-US" dirty="0" err="1"/>
              <a:t>GPCRdb</a:t>
            </a:r>
            <a:r>
              <a:rPr lang="en-US" dirty="0"/>
              <a:t>, </a:t>
            </a:r>
            <a:r>
              <a:rPr lang="en-US" dirty="0" err="1"/>
              <a:t>GproteinDb</a:t>
            </a:r>
            <a:r>
              <a:rPr lang="en-US" dirty="0"/>
              <a:t>, </a:t>
            </a:r>
            <a:r>
              <a:rPr lang="en-US" dirty="0" err="1"/>
              <a:t>ArrestinDb</a:t>
            </a:r>
            <a:r>
              <a:rPr lang="en-US" dirty="0"/>
              <a:t> and Biased Signaling Atlas cover related aspects of signal transduction while serving dedicated research communities and use cases.”</a:t>
            </a:r>
          </a:p>
          <a:p>
            <a:r>
              <a:rPr lang="en-US" dirty="0"/>
              <a:t>PubChem: </a:t>
            </a:r>
            <a:r>
              <a:rPr lang="en-US" dirty="0">
                <a:hlinkClick r:id="rId4"/>
              </a:rPr>
              <a:t>https://pubchem.ncbi.nlm.nih.gov/</a:t>
            </a:r>
            <a:endParaRPr lang="en-US" dirty="0"/>
          </a:p>
          <a:p>
            <a:pPr lvl="1"/>
            <a:r>
              <a:rPr lang="en-US" dirty="0"/>
              <a:t>Includes biological activity of many chemical entities</a:t>
            </a:r>
          </a:p>
          <a:p>
            <a:pPr lvl="1"/>
            <a:r>
              <a:rPr lang="en-US" dirty="0"/>
              <a:t>Chemicals often identified by SMILES strings</a:t>
            </a:r>
          </a:p>
        </p:txBody>
      </p:sp>
      <p:sp>
        <p:nvSpPr>
          <p:cNvPr id="14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71437" tIns="71437" rIns="71437" bIns="71437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228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457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685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9144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11430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1371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1600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1828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earch strategi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Search strategies</a:t>
            </a:r>
          </a:p>
        </p:txBody>
      </p:sp>
      <p:sp>
        <p:nvSpPr>
          <p:cNvPr id="155" name="Consider alternative names, e.g. coronavirus main protease and 3c-like protea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Consider alternative names, e.g. coronavirus main protease </a:t>
            </a:r>
            <a:r>
              <a:rPr lang="en-US" dirty="0"/>
              <a:t>(</a:t>
            </a:r>
            <a:r>
              <a:rPr lang="en-US" dirty="0" err="1"/>
              <a:t>MPro</a:t>
            </a:r>
            <a:r>
              <a:rPr lang="en-US" dirty="0"/>
              <a:t>) </a:t>
            </a:r>
            <a:r>
              <a:rPr dirty="0"/>
              <a:t>and 3c-like </a:t>
            </a:r>
            <a:r>
              <a:rPr lang="en-US" dirty="0"/>
              <a:t>(3cl) </a:t>
            </a:r>
            <a:r>
              <a:rPr dirty="0"/>
              <a:t>protease</a:t>
            </a:r>
            <a:r>
              <a:rPr lang="en-US" dirty="0"/>
              <a:t> and nonstructural protein 5 (NSP5)</a:t>
            </a:r>
            <a:endParaRPr dirty="0"/>
          </a:p>
          <a:p>
            <a:r>
              <a:rPr dirty="0"/>
              <a:t>Proteins from different species are usually similar</a:t>
            </a:r>
          </a:p>
          <a:p>
            <a:r>
              <a:rPr dirty="0"/>
              <a:t>Look at citations</a:t>
            </a:r>
          </a:p>
          <a:p>
            <a:pPr lvl="1"/>
            <a:r>
              <a:rPr dirty="0"/>
              <a:t>cited by an article of interested</a:t>
            </a:r>
          </a:p>
          <a:p>
            <a:pPr lvl="1"/>
            <a:r>
              <a:rPr dirty="0"/>
              <a:t>that cite the article of interest</a:t>
            </a:r>
          </a:p>
          <a:p>
            <a:r>
              <a:rPr dirty="0"/>
              <a:t>A research group will often work on similar proteins</a:t>
            </a:r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71437" tIns="71437" rIns="71437" bIns="71437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228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457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685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9144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11430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1371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1600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1828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Accessing artic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Accessing articles</a:t>
            </a:r>
          </a:p>
        </p:txBody>
      </p:sp>
      <p:sp>
        <p:nvSpPr>
          <p:cNvPr id="151" name="Fre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Free</a:t>
            </a:r>
          </a:p>
          <a:p>
            <a:pPr lvl="1"/>
            <a:r>
              <a:rPr dirty="0"/>
              <a:t>Open access - article is free online. Usually requires larger author payment</a:t>
            </a:r>
          </a:p>
          <a:p>
            <a:pPr lvl="1"/>
            <a:r>
              <a:rPr lang="en-US" dirty="0"/>
              <a:t>Recent articles on </a:t>
            </a:r>
            <a:r>
              <a:rPr dirty="0"/>
              <a:t>NIH-funded </a:t>
            </a:r>
            <a:r>
              <a:rPr lang="en-US" dirty="0"/>
              <a:t>research is freely </a:t>
            </a:r>
            <a:r>
              <a:rPr dirty="0"/>
              <a:t>available online </a:t>
            </a:r>
            <a:r>
              <a:rPr lang="en-US" dirty="0"/>
              <a:t>at PubMed Central (PMC)</a:t>
            </a:r>
            <a:endParaRPr dirty="0"/>
          </a:p>
          <a:p>
            <a:pPr lvl="1"/>
            <a:r>
              <a:rPr dirty="0"/>
              <a:t>Preprint servers, e.g. </a:t>
            </a:r>
            <a:r>
              <a:rPr dirty="0" err="1"/>
              <a:t>bioarXiv</a:t>
            </a:r>
            <a:r>
              <a:rPr dirty="0"/>
              <a:t> - free, but may not be peer reviewed</a:t>
            </a:r>
          </a:p>
          <a:p>
            <a:pPr lvl="1"/>
            <a:r>
              <a:rPr dirty="0"/>
              <a:t>Sometimes available from authors on their websites or upon request</a:t>
            </a:r>
          </a:p>
          <a:p>
            <a:r>
              <a:rPr dirty="0"/>
              <a:t>Paywall</a:t>
            </a:r>
          </a:p>
          <a:p>
            <a:pPr lvl="1"/>
            <a:r>
              <a:rPr dirty="0"/>
              <a:t>IIT subscribes to a selection of scientific journals, which can be accessed</a:t>
            </a:r>
          </a:p>
          <a:p>
            <a:pPr lvl="2"/>
            <a:r>
              <a:rPr dirty="0"/>
              <a:t>in the library</a:t>
            </a:r>
          </a:p>
          <a:p>
            <a:pPr lvl="2"/>
            <a:r>
              <a:rPr dirty="0"/>
              <a:t>online from campus</a:t>
            </a:r>
          </a:p>
          <a:p>
            <a:pPr lvl="2"/>
            <a:r>
              <a:rPr dirty="0"/>
              <a:t>via a proxy server or VPN</a:t>
            </a:r>
          </a:p>
          <a:p>
            <a:pPr lvl="1"/>
            <a:r>
              <a:rPr dirty="0"/>
              <a:t>Interlibrary loan (</a:t>
            </a:r>
            <a:r>
              <a:rPr dirty="0" err="1"/>
              <a:t>MyILL</a:t>
            </a:r>
            <a:r>
              <a:rPr dirty="0"/>
              <a:t>) can be used to request nearly any article, but requires a lead time</a:t>
            </a:r>
          </a:p>
        </p:txBody>
      </p:sp>
      <p:sp>
        <p:nvSpPr>
          <p:cNvPr id="15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71437" tIns="71437" rIns="71437" bIns="71437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228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457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685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9144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11430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1371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1600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1828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Zoter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Zotero</a:t>
            </a:r>
          </a:p>
        </p:txBody>
      </p:sp>
      <p:sp>
        <p:nvSpPr>
          <p:cNvPr id="159" name="Open source and fre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Open source and free</a:t>
            </a:r>
          </a:p>
          <a:p>
            <a:r>
              <a:t>Available online and as an application</a:t>
            </a:r>
          </a:p>
          <a:p>
            <a:r>
              <a:t>Automatically organizes manuscript files &amp; notes</a:t>
            </a:r>
          </a:p>
          <a:p>
            <a:r>
              <a:t>Allows sharing with others via group libraries</a:t>
            </a:r>
          </a:p>
          <a:p>
            <a:r>
              <a:t>Creates bibliographies</a:t>
            </a:r>
          </a:p>
          <a:p>
            <a:pPr lvl="1"/>
            <a:r>
              <a:t>linked with MS Word and Google Docs</a:t>
            </a:r>
          </a:p>
          <a:p>
            <a:pPr lvl="1"/>
            <a:r>
              <a:t>exportable to BibTeX</a:t>
            </a:r>
          </a:p>
        </p:txBody>
      </p:sp>
      <p:sp>
        <p:nvSpPr>
          <p:cNvPr id="1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71437" tIns="71437" rIns="71437" bIns="71437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228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457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685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9144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11430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1371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1600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1828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ctrTitle"/>
          </p:nvPr>
        </p:nvSpPr>
        <p:spPr>
          <a:xfrm>
            <a:off x="721050" y="1181675"/>
            <a:ext cx="7701900" cy="146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" sz="3900" dirty="0"/>
              <a:t>Library Resources and Citation Management</a:t>
            </a:r>
            <a:endParaRPr lang="en-US" sz="4050" dirty="0"/>
          </a:p>
          <a:p>
            <a:r>
              <a:rPr lang="en" sz="2900" dirty="0"/>
              <a:t>CHEM 456 - </a:t>
            </a:r>
            <a:r>
              <a:rPr lang="en" sz="2900" b="0" dirty="0"/>
              <a:t>Computational Biochem</a:t>
            </a:r>
            <a:endParaRPr lang="en-US" sz="2000" dirty="0"/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136750" y="2868139"/>
            <a:ext cx="4870500" cy="166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/>
              <a:t>Sean Murphy | he/him/his</a:t>
            </a:r>
            <a:endParaRPr sz="2100" dirty="0"/>
          </a:p>
          <a:p>
            <a:pPr marL="0" indent="0"/>
            <a:r>
              <a:rPr lang="en" sz="1300" dirty="0"/>
              <a:t>Head of Systems and Open Infrastructure – Galvin Library</a:t>
            </a:r>
            <a:endParaRPr sz="1319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/>
              <a:t>Liaison Librarian - Chemistry, Biology, Physics, Food Science</a:t>
            </a:r>
            <a:endParaRPr sz="13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/>
              <a:t>smurphy13@illinoistech.edu</a:t>
            </a:r>
            <a:endParaRPr sz="1319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649050" y="2110050"/>
            <a:ext cx="7845900" cy="923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How do </a:t>
            </a:r>
            <a:r>
              <a:rPr lang="en" sz="4800" i="1"/>
              <a:t>you</a:t>
            </a:r>
            <a:r>
              <a:rPr lang="en" sz="4800"/>
              <a:t> find information?</a:t>
            </a:r>
            <a:endParaRPr sz="4800"/>
          </a:p>
        </p:txBody>
      </p:sp>
      <p:sp>
        <p:nvSpPr>
          <p:cNvPr id="74" name="Google Shape;7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Objectives</a:t>
            </a: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>
            <a:off x="311700" y="1438425"/>
            <a:ext cx="8520600" cy="29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4064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Finding Full-Text Articles</a:t>
            </a:r>
            <a:endParaRPr sz="2800"/>
          </a:p>
          <a:p>
            <a:pPr marL="457200" lvl="0" indent="-4064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Database Searching</a:t>
            </a:r>
            <a:endParaRPr sz="2800"/>
          </a:p>
          <a:p>
            <a:pPr marL="457200" lvl="0" indent="-4064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Tracking the Literature</a:t>
            </a:r>
            <a:endParaRPr sz="2800"/>
          </a:p>
          <a:p>
            <a:pPr marL="457200" lvl="0" indent="-4064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Evaluating and Citing Sources</a:t>
            </a:r>
            <a:endParaRPr sz="2800"/>
          </a:p>
          <a:p>
            <a:pPr marL="457200" lvl="0" indent="-406400" algn="l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2800"/>
              <a:buChar char="●"/>
            </a:pPr>
            <a:r>
              <a:rPr lang="en" sz="2800"/>
              <a:t>Library Resources</a:t>
            </a:r>
            <a:endParaRPr sz="2800"/>
          </a:p>
        </p:txBody>
      </p:sp>
      <p:sp>
        <p:nvSpPr>
          <p:cNvPr id="81" name="Google Shape;81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>
            <a:spLocks noGrp="1"/>
          </p:cNvSpPr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300"/>
              <a:t>Finding Sources</a:t>
            </a:r>
            <a:endParaRPr sz="5300"/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Popular Sources vs Scholarly Sources</a:t>
            </a:r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Popular Sources are written for a general audience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They may be intended to inform, entertain, or persuade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Scholarly Sources are written for an academic audience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They are intended to contribute to a disciplinary discourse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3600" b="1">
                <a:solidFill>
                  <a:schemeClr val="accent5"/>
                </a:solidFill>
              </a:rPr>
              <a:t>Peer Review</a:t>
            </a:r>
            <a:endParaRPr sz="3600" b="1">
              <a:solidFill>
                <a:schemeClr val="accent5"/>
              </a:solidFill>
            </a:endParaRPr>
          </a:p>
        </p:txBody>
      </p:sp>
      <p:sp>
        <p:nvSpPr>
          <p:cNvPr id="94" name="Google Shape;9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100" name="Google Shape;100;p18"/>
          <p:cNvSpPr/>
          <p:nvPr/>
        </p:nvSpPr>
        <p:spPr>
          <a:xfrm>
            <a:off x="1916650" y="423475"/>
            <a:ext cx="5123700" cy="5364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/>
              <a:t>Scholarly Articles</a:t>
            </a:r>
            <a:endParaRPr sz="2300" b="1"/>
          </a:p>
        </p:txBody>
      </p:sp>
      <p:sp>
        <p:nvSpPr>
          <p:cNvPr id="101" name="Google Shape;101;p18"/>
          <p:cNvSpPr/>
          <p:nvPr/>
        </p:nvSpPr>
        <p:spPr>
          <a:xfrm>
            <a:off x="1362188" y="1516140"/>
            <a:ext cx="2448000" cy="3936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Journals</a:t>
            </a:r>
            <a:endParaRPr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/>
              <a:t>PNAS, Nature</a:t>
            </a:r>
            <a:endParaRPr sz="1100" b="1" i="1"/>
          </a:p>
        </p:txBody>
      </p:sp>
      <p:sp>
        <p:nvSpPr>
          <p:cNvPr id="102" name="Google Shape;102;p18"/>
          <p:cNvSpPr/>
          <p:nvPr/>
        </p:nvSpPr>
        <p:spPr>
          <a:xfrm>
            <a:off x="1250800" y="2657513"/>
            <a:ext cx="3172200" cy="604500"/>
          </a:xfrm>
          <a:prstGeom prst="roundRect">
            <a:avLst>
              <a:gd name="adj" fmla="val 16667"/>
            </a:avLst>
          </a:prstGeom>
          <a:solidFill>
            <a:srgbClr val="B4A7D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Databases</a:t>
            </a:r>
            <a:endParaRPr sz="1600"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/>
              <a:t>ProQuest, Academic Search Complete</a:t>
            </a:r>
            <a:endParaRPr sz="1100" b="1" i="1"/>
          </a:p>
        </p:txBody>
      </p:sp>
      <p:sp>
        <p:nvSpPr>
          <p:cNvPr id="103" name="Google Shape;103;p18"/>
          <p:cNvSpPr/>
          <p:nvPr/>
        </p:nvSpPr>
        <p:spPr>
          <a:xfrm>
            <a:off x="3333905" y="4009825"/>
            <a:ext cx="2476200" cy="756000"/>
          </a:xfrm>
          <a:prstGeom prst="roundRect">
            <a:avLst>
              <a:gd name="adj" fmla="val 16667"/>
            </a:avLst>
          </a:prstGeom>
          <a:solidFill>
            <a:srgbClr val="EA999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Search Engines</a:t>
            </a:r>
            <a:endParaRPr sz="1800"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/>
              <a:t>Google Scholar</a:t>
            </a:r>
            <a:endParaRPr sz="1100" b="1" i="1"/>
          </a:p>
        </p:txBody>
      </p:sp>
      <p:sp>
        <p:nvSpPr>
          <p:cNvPr id="104" name="Google Shape;104;p18"/>
          <p:cNvSpPr/>
          <p:nvPr/>
        </p:nvSpPr>
        <p:spPr>
          <a:xfrm>
            <a:off x="4670800" y="2657513"/>
            <a:ext cx="3035400" cy="604500"/>
          </a:xfrm>
          <a:prstGeom prst="roundRect">
            <a:avLst>
              <a:gd name="adj" fmla="val 16667"/>
            </a:avLst>
          </a:prstGeom>
          <a:solidFill>
            <a:srgbClr val="B4A7D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Subscription Packages</a:t>
            </a:r>
            <a:endParaRPr sz="1600"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/>
              <a:t>American Chemical Society, IEEE</a:t>
            </a:r>
            <a:endParaRPr sz="1100" b="1" i="1"/>
          </a:p>
        </p:txBody>
      </p:sp>
      <p:sp>
        <p:nvSpPr>
          <p:cNvPr id="105" name="Google Shape;105;p18"/>
          <p:cNvSpPr/>
          <p:nvPr/>
        </p:nvSpPr>
        <p:spPr>
          <a:xfrm>
            <a:off x="5146813" y="1516124"/>
            <a:ext cx="2448000" cy="3936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Repositories</a:t>
            </a:r>
            <a:endParaRPr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/>
              <a:t>Arxiv</a:t>
            </a:r>
            <a:endParaRPr sz="1100" b="1" i="1"/>
          </a:p>
        </p:txBody>
      </p:sp>
      <p:sp>
        <p:nvSpPr>
          <p:cNvPr id="106" name="Google Shape;106;p18"/>
          <p:cNvSpPr/>
          <p:nvPr/>
        </p:nvSpPr>
        <p:spPr>
          <a:xfrm>
            <a:off x="463600" y="4009825"/>
            <a:ext cx="2476200" cy="756000"/>
          </a:xfrm>
          <a:prstGeom prst="roundRect">
            <a:avLst>
              <a:gd name="adj" fmla="val 16667"/>
            </a:avLst>
          </a:prstGeom>
          <a:solidFill>
            <a:srgbClr val="EA999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Library Catalog</a:t>
            </a:r>
            <a:endParaRPr sz="1800" b="1"/>
          </a:p>
        </p:txBody>
      </p:sp>
      <p:sp>
        <p:nvSpPr>
          <p:cNvPr id="107" name="Google Shape;107;p18"/>
          <p:cNvSpPr/>
          <p:nvPr/>
        </p:nvSpPr>
        <p:spPr>
          <a:xfrm>
            <a:off x="6204209" y="4009825"/>
            <a:ext cx="2476200" cy="756000"/>
          </a:xfrm>
          <a:prstGeom prst="roundRect">
            <a:avLst>
              <a:gd name="adj" fmla="val 16667"/>
            </a:avLst>
          </a:prstGeom>
          <a:solidFill>
            <a:srgbClr val="EA999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Citation Index</a:t>
            </a:r>
            <a:endParaRPr sz="1800"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/>
              <a:t>Web of Science</a:t>
            </a:r>
            <a:endParaRPr sz="1100" b="1" i="1"/>
          </a:p>
        </p:txBody>
      </p:sp>
      <p:sp>
        <p:nvSpPr>
          <p:cNvPr id="108" name="Google Shape;108;p18"/>
          <p:cNvSpPr txBox="1"/>
          <p:nvPr/>
        </p:nvSpPr>
        <p:spPr>
          <a:xfrm>
            <a:off x="1916650" y="1123863"/>
            <a:ext cx="1496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Open Sans"/>
                <a:ea typeface="Open Sans"/>
                <a:cs typeface="Open Sans"/>
                <a:sym typeface="Open Sans"/>
              </a:rPr>
              <a:t>Published In: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9" name="Google Shape;109;p18"/>
          <p:cNvSpPr txBox="1"/>
          <p:nvPr/>
        </p:nvSpPr>
        <p:spPr>
          <a:xfrm>
            <a:off x="5606350" y="1123850"/>
            <a:ext cx="1496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Open Sans"/>
                <a:ea typeface="Open Sans"/>
                <a:cs typeface="Open Sans"/>
                <a:sym typeface="Open Sans"/>
              </a:rPr>
              <a:t>Uploaded To: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0" name="Google Shape;110;p18"/>
          <p:cNvSpPr txBox="1"/>
          <p:nvPr/>
        </p:nvSpPr>
        <p:spPr>
          <a:xfrm>
            <a:off x="3350650" y="2162188"/>
            <a:ext cx="225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Open Sans"/>
                <a:ea typeface="Open Sans"/>
                <a:cs typeface="Open Sans"/>
                <a:sym typeface="Open Sans"/>
              </a:rPr>
              <a:t>Collected in:</a:t>
            </a:r>
            <a:endParaRPr sz="1800"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1" name="Google Shape;111;p18"/>
          <p:cNvSpPr txBox="1"/>
          <p:nvPr/>
        </p:nvSpPr>
        <p:spPr>
          <a:xfrm>
            <a:off x="3350650" y="3548125"/>
            <a:ext cx="225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Open Sans"/>
                <a:ea typeface="Open Sans"/>
                <a:cs typeface="Open Sans"/>
                <a:sym typeface="Open Sans"/>
              </a:rPr>
              <a:t>Searchable Using:</a:t>
            </a:r>
            <a:endParaRPr sz="1800" b="1"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12" name="Google Shape;112;p18"/>
          <p:cNvCxnSpPr>
            <a:stCxn id="100" idx="2"/>
            <a:endCxn id="108" idx="3"/>
          </p:cNvCxnSpPr>
          <p:nvPr/>
        </p:nvCxnSpPr>
        <p:spPr>
          <a:xfrm flipH="1">
            <a:off x="3413200" y="959875"/>
            <a:ext cx="1065300" cy="36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13;p18"/>
          <p:cNvCxnSpPr>
            <a:stCxn id="100" idx="2"/>
            <a:endCxn id="109" idx="1"/>
          </p:cNvCxnSpPr>
          <p:nvPr/>
        </p:nvCxnSpPr>
        <p:spPr>
          <a:xfrm>
            <a:off x="4478500" y="959875"/>
            <a:ext cx="1128000" cy="36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14;p18"/>
          <p:cNvCxnSpPr>
            <a:stCxn id="101" idx="2"/>
            <a:endCxn id="110" idx="1"/>
          </p:cNvCxnSpPr>
          <p:nvPr/>
        </p:nvCxnSpPr>
        <p:spPr>
          <a:xfrm>
            <a:off x="2586188" y="1909740"/>
            <a:ext cx="764400" cy="48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" name="Google Shape;115;p18"/>
          <p:cNvCxnSpPr>
            <a:stCxn id="105" idx="2"/>
            <a:endCxn id="110" idx="3"/>
          </p:cNvCxnSpPr>
          <p:nvPr/>
        </p:nvCxnSpPr>
        <p:spPr>
          <a:xfrm flipH="1">
            <a:off x="5606413" y="1909724"/>
            <a:ext cx="764400" cy="48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6" name="Google Shape;116;p18"/>
          <p:cNvCxnSpPr>
            <a:stCxn id="102" idx="2"/>
            <a:endCxn id="111" idx="1"/>
          </p:cNvCxnSpPr>
          <p:nvPr/>
        </p:nvCxnSpPr>
        <p:spPr>
          <a:xfrm>
            <a:off x="2836900" y="3262013"/>
            <a:ext cx="513900" cy="51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" name="Google Shape;117;p18"/>
          <p:cNvCxnSpPr>
            <a:stCxn id="104" idx="2"/>
            <a:endCxn id="111" idx="3"/>
          </p:cNvCxnSpPr>
          <p:nvPr/>
        </p:nvCxnSpPr>
        <p:spPr>
          <a:xfrm flipH="1">
            <a:off x="5606500" y="3262013"/>
            <a:ext cx="582000" cy="51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 Using Google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Algorithms and “Natural Language Processing”</a:t>
            </a:r>
            <a:endParaRPr/>
          </a:p>
        </p:txBody>
      </p:sp>
      <p:pic>
        <p:nvPicPr>
          <p:cNvPr id="124" name="Google Shape;12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4397" y="578075"/>
            <a:ext cx="3950949" cy="3987351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5" name="Google Shape;12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Catalogs/Databases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Keywords and Filters</a:t>
            </a:r>
            <a:endParaRPr/>
          </a:p>
        </p:txBody>
      </p:sp>
      <p:pic>
        <p:nvPicPr>
          <p:cNvPr id="132" name="Google Shape;13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4000" y="1034013"/>
            <a:ext cx="4528498" cy="3075464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3" name="Google Shape;133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311700" y="302150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LibGuides</a:t>
            </a:r>
            <a:endParaRPr/>
          </a:p>
        </p:txBody>
      </p:sp>
      <p:sp>
        <p:nvSpPr>
          <p:cNvPr id="177" name="Google Shape;177;p26"/>
          <p:cNvSpPr txBox="1"/>
          <p:nvPr/>
        </p:nvSpPr>
        <p:spPr>
          <a:xfrm>
            <a:off x="311700" y="1009550"/>
            <a:ext cx="2117100" cy="29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323850" algn="l" rtl="0">
              <a:spcBef>
                <a:spcPts val="0"/>
              </a:spcBef>
              <a:spcAft>
                <a:spcPts val="0"/>
              </a:spcAft>
              <a:buSzPts val="1500"/>
              <a:buFont typeface="Proxima Nova"/>
              <a:buChar char="●"/>
            </a:pPr>
            <a:r>
              <a:rPr lang="en" sz="1500" b="1">
                <a:latin typeface="Proxima Nova"/>
                <a:ea typeface="Proxima Nova"/>
                <a:cs typeface="Proxima Nova"/>
                <a:sym typeface="Proxima Nova"/>
              </a:rPr>
              <a:t>Discipline-specific, curated guides</a:t>
            </a:r>
            <a:endParaRPr sz="15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171450" lvl="0" indent="-323850" algn="l" rtl="0">
              <a:spcBef>
                <a:spcPts val="1000"/>
              </a:spcBef>
              <a:spcAft>
                <a:spcPts val="0"/>
              </a:spcAft>
              <a:buSzPts val="1500"/>
              <a:buFont typeface="Proxima Nova"/>
              <a:buChar char="●"/>
            </a:pPr>
            <a:r>
              <a:rPr lang="en" sz="1500" b="1">
                <a:latin typeface="Proxima Nova"/>
                <a:ea typeface="Proxima Nova"/>
                <a:cs typeface="Proxima Nova"/>
                <a:sym typeface="Proxima Nova"/>
              </a:rPr>
              <a:t>Compiled by Librarians</a:t>
            </a:r>
            <a:endParaRPr sz="15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171450" lvl="0" indent="-323850" algn="l" rtl="0">
              <a:spcBef>
                <a:spcPts val="1000"/>
              </a:spcBef>
              <a:spcAft>
                <a:spcPts val="0"/>
              </a:spcAft>
              <a:buSzPts val="1500"/>
              <a:buFont typeface="Proxima Nova"/>
              <a:buChar char="●"/>
            </a:pPr>
            <a:r>
              <a:rPr lang="en" sz="1500" b="1">
                <a:latin typeface="Proxima Nova"/>
                <a:ea typeface="Proxima Nova"/>
                <a:cs typeface="Proxima Nova"/>
                <a:sym typeface="Proxima Nova"/>
              </a:rPr>
              <a:t>Databases</a:t>
            </a:r>
            <a:endParaRPr sz="15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171450" lvl="0" indent="-323850" algn="l" rtl="0">
              <a:spcBef>
                <a:spcPts val="1000"/>
              </a:spcBef>
              <a:spcAft>
                <a:spcPts val="0"/>
              </a:spcAft>
              <a:buSzPts val="1500"/>
              <a:buFont typeface="Proxima Nova"/>
              <a:buChar char="●"/>
            </a:pPr>
            <a:r>
              <a:rPr lang="en" sz="1500" b="1">
                <a:latin typeface="Proxima Nova"/>
                <a:ea typeface="Proxima Nova"/>
                <a:cs typeface="Proxima Nova"/>
                <a:sym typeface="Proxima Nova"/>
              </a:rPr>
              <a:t>Patent and Product Information</a:t>
            </a:r>
            <a:endParaRPr sz="15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171450" lvl="0" indent="-323850" algn="l" rtl="0">
              <a:spcBef>
                <a:spcPts val="1000"/>
              </a:spcBef>
              <a:spcAft>
                <a:spcPts val="0"/>
              </a:spcAft>
              <a:buSzPts val="1500"/>
              <a:buFont typeface="Proxima Nova"/>
              <a:buChar char="●"/>
            </a:pPr>
            <a:r>
              <a:rPr lang="en" sz="1500" b="1">
                <a:latin typeface="Proxima Nova"/>
                <a:ea typeface="Proxima Nova"/>
                <a:cs typeface="Proxima Nova"/>
                <a:sym typeface="Proxima Nova"/>
              </a:rPr>
              <a:t>Tips and Tricks</a:t>
            </a:r>
            <a:endParaRPr sz="15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171450" lvl="0" indent="-323850" algn="l" rtl="0">
              <a:spcBef>
                <a:spcPts val="1000"/>
              </a:spcBef>
              <a:spcAft>
                <a:spcPts val="1000"/>
              </a:spcAft>
              <a:buSzPts val="1500"/>
              <a:buFont typeface="Proxima Nova"/>
              <a:buChar char="●"/>
            </a:pPr>
            <a:r>
              <a:rPr lang="en" sz="1500" b="1">
                <a:latin typeface="Proxima Nova"/>
                <a:ea typeface="Proxima Nova"/>
                <a:cs typeface="Proxima Nova"/>
                <a:sym typeface="Proxima Nova"/>
              </a:rPr>
              <a:t>Research Help</a:t>
            </a:r>
            <a:endParaRPr sz="1500" b="1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78" name="Google Shape;178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18102" y="577688"/>
            <a:ext cx="6299398" cy="280791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0" name="Google Shape;180;p26"/>
          <p:cNvSpPr txBox="1"/>
          <p:nvPr/>
        </p:nvSpPr>
        <p:spPr>
          <a:xfrm>
            <a:off x="2518100" y="3533600"/>
            <a:ext cx="6785100" cy="11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u="sng">
                <a:solidFill>
                  <a:schemeClr val="hlink"/>
                </a:solidFill>
                <a:latin typeface="Proxima Nova"/>
                <a:ea typeface="Proxima Nova"/>
                <a:cs typeface="Proxima Nova"/>
                <a:sym typeface="Proxima Nova"/>
                <a:hlinkClick r:id="rId4"/>
              </a:rPr>
              <a:t>Chemistry</a:t>
            </a:r>
            <a:endParaRPr sz="16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600" b="1" u="sng">
                <a:solidFill>
                  <a:schemeClr val="hlink"/>
                </a:solidFill>
                <a:latin typeface="Proxima Nova"/>
                <a:ea typeface="Proxima Nova"/>
                <a:cs typeface="Proxima Nova"/>
                <a:sym typeface="Proxima Nova"/>
                <a:hlinkClick r:id="rId5"/>
              </a:rPr>
              <a:t>Chemical Engineering</a:t>
            </a:r>
            <a:endParaRPr sz="1600" b="1"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600" b="1" u="sng">
                <a:solidFill>
                  <a:schemeClr val="hlink"/>
                </a:solidFill>
                <a:latin typeface="Proxima Nova"/>
                <a:ea typeface="Proxima Nova"/>
                <a:cs typeface="Proxima Nova"/>
                <a:sym typeface="Proxima Nova"/>
                <a:hlinkClick r:id="rId6"/>
              </a:rPr>
              <a:t>Research Tips</a:t>
            </a:r>
            <a:endParaRPr sz="1600" b="1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7"/>
          <p:cNvSpPr txBox="1">
            <a:spLocks noGrp="1"/>
          </p:cNvSpPr>
          <p:nvPr>
            <p:ph type="title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library.iit.edu</a:t>
            </a:r>
            <a:endParaRPr/>
          </a:p>
        </p:txBody>
      </p:sp>
      <p:sp>
        <p:nvSpPr>
          <p:cNvPr id="186" name="Google Shape;186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8"/>
          <p:cNvSpPr txBox="1">
            <a:spLocks noGrp="1"/>
          </p:cNvSpPr>
          <p:nvPr>
            <p:ph type="title"/>
          </p:nvPr>
        </p:nvSpPr>
        <p:spPr>
          <a:xfrm>
            <a:off x="410875" y="65975"/>
            <a:ext cx="5613600" cy="93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460" b="1" u="sng">
                <a:solidFill>
                  <a:schemeClr val="hlink"/>
                </a:solidFill>
                <a:hlinkClick r:id="rId3"/>
              </a:rPr>
              <a:t>Library Catalog</a:t>
            </a:r>
            <a:endParaRPr sz="4460" b="1"/>
          </a:p>
        </p:txBody>
      </p:sp>
      <p:sp>
        <p:nvSpPr>
          <p:cNvPr id="192" name="Google Shape;19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193" name="Google Shape;193;p28"/>
          <p:cNvSpPr txBox="1"/>
          <p:nvPr/>
        </p:nvSpPr>
        <p:spPr>
          <a:xfrm>
            <a:off x="127000" y="1365275"/>
            <a:ext cx="2746500" cy="3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Sign in with HawkID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Searches all library subscriptions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Will show articles, books, databases, etc. in search results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Great starting point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94" name="Google Shape;194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3500" y="1365275"/>
            <a:ext cx="5965700" cy="3124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9"/>
          <p:cNvSpPr txBox="1">
            <a:spLocks noGrp="1"/>
          </p:cNvSpPr>
          <p:nvPr>
            <p:ph type="title"/>
          </p:nvPr>
        </p:nvSpPr>
        <p:spPr>
          <a:xfrm>
            <a:off x="410875" y="65975"/>
            <a:ext cx="5613600" cy="93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460" b="1" u="sng">
                <a:solidFill>
                  <a:schemeClr val="hlink"/>
                </a:solidFill>
                <a:hlinkClick r:id="rId3"/>
              </a:rPr>
              <a:t>Web of Science</a:t>
            </a:r>
            <a:endParaRPr sz="4460" b="1"/>
          </a:p>
        </p:txBody>
      </p:sp>
      <p:sp>
        <p:nvSpPr>
          <p:cNvPr id="200" name="Google Shape;200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201" name="Google Shape;201;p29"/>
          <p:cNvSpPr txBox="1"/>
          <p:nvPr/>
        </p:nvSpPr>
        <p:spPr>
          <a:xfrm>
            <a:off x="127000" y="1927750"/>
            <a:ext cx="2746500" cy="23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Citation Index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Full Text not necessarily available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Powerful citation tools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02" name="Google Shape;20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3500" y="1481875"/>
            <a:ext cx="5965699" cy="2931548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0"/>
          <p:cNvSpPr txBox="1">
            <a:spLocks noGrp="1"/>
          </p:cNvSpPr>
          <p:nvPr>
            <p:ph type="title"/>
          </p:nvPr>
        </p:nvSpPr>
        <p:spPr>
          <a:xfrm>
            <a:off x="410875" y="65975"/>
            <a:ext cx="5613600" cy="93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460" b="1" u="sng">
                <a:solidFill>
                  <a:schemeClr val="hlink"/>
                </a:solidFill>
                <a:hlinkClick r:id="rId3"/>
              </a:rPr>
              <a:t>Proquest SciTech</a:t>
            </a:r>
            <a:endParaRPr sz="4460" b="1"/>
          </a:p>
        </p:txBody>
      </p:sp>
      <p:sp>
        <p:nvSpPr>
          <p:cNvPr id="208" name="Google Shape;208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pic>
        <p:nvPicPr>
          <p:cNvPr id="209" name="Google Shape;20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1750" y="1206550"/>
            <a:ext cx="5581211" cy="3663901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0" name="Google Shape;210;p30"/>
          <p:cNvSpPr txBox="1"/>
          <p:nvPr/>
        </p:nvSpPr>
        <p:spPr>
          <a:xfrm>
            <a:off x="127000" y="1927750"/>
            <a:ext cx="2746500" cy="22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Boolean Searching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Limits and Filters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Full Text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“Find Full Text” - Library Catalog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410875" y="65975"/>
            <a:ext cx="5613600" cy="93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460" b="1" u="sng">
                <a:solidFill>
                  <a:schemeClr val="hlink"/>
                </a:solidFill>
                <a:hlinkClick r:id="rId3"/>
              </a:rPr>
              <a:t>SciFinder</a:t>
            </a:r>
            <a:endParaRPr sz="4460" b="1"/>
          </a:p>
        </p:txBody>
      </p:sp>
      <p:sp>
        <p:nvSpPr>
          <p:cNvPr id="216" name="Google Shape;216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sp>
        <p:nvSpPr>
          <p:cNvPr id="217" name="Google Shape;217;p31"/>
          <p:cNvSpPr txBox="1"/>
          <p:nvPr/>
        </p:nvSpPr>
        <p:spPr>
          <a:xfrm>
            <a:off x="158500" y="1730200"/>
            <a:ext cx="27465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Requires Additional Signup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Chemical Structure and Properties Database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Reference citations for property data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18" name="Google Shape;21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92875" y="1444063"/>
            <a:ext cx="5934199" cy="277527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>
            <a:spLocks noGrp="1"/>
          </p:cNvSpPr>
          <p:nvPr>
            <p:ph type="title"/>
          </p:nvPr>
        </p:nvSpPr>
        <p:spPr>
          <a:xfrm>
            <a:off x="410875" y="65975"/>
            <a:ext cx="5613600" cy="93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460" b="1" u="sng">
                <a:solidFill>
                  <a:schemeClr val="hlink"/>
                </a:solidFill>
                <a:hlinkClick r:id="rId3"/>
              </a:rPr>
              <a:t>Google Scholar</a:t>
            </a:r>
            <a:endParaRPr sz="4460" b="1"/>
          </a:p>
        </p:txBody>
      </p:sp>
      <p:sp>
        <p:nvSpPr>
          <p:cNvPr id="224" name="Google Shape;224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sp>
        <p:nvSpPr>
          <p:cNvPr id="225" name="Google Shape;225;p32"/>
          <p:cNvSpPr txBox="1"/>
          <p:nvPr/>
        </p:nvSpPr>
        <p:spPr>
          <a:xfrm>
            <a:off x="171050" y="1567075"/>
            <a:ext cx="2746500" cy="28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Broad scope, search-engine style interface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Can be linked with IIT holdings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SzPts val="1700"/>
              <a:buFont typeface="Open Sans"/>
              <a:buChar char="●"/>
            </a:pPr>
            <a:r>
              <a:rPr lang="en" sz="1700" b="1">
                <a:latin typeface="Open Sans"/>
                <a:ea typeface="Open Sans"/>
                <a:cs typeface="Open Sans"/>
                <a:sym typeface="Open Sans"/>
              </a:rPr>
              <a:t>Good for when you know exactly what you’re looking for</a:t>
            </a:r>
            <a:endParaRPr sz="1700" b="1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26" name="Google Shape;226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07225" y="1421450"/>
            <a:ext cx="5965701" cy="288109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>
            <a:spLocks noGrp="1"/>
          </p:cNvSpPr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300"/>
              <a:t>Citing Sources</a:t>
            </a:r>
            <a:endParaRPr sz="53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8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Cite?</a:t>
            </a:r>
            <a:endParaRPr/>
          </a:p>
        </p:txBody>
      </p:sp>
      <p:sp>
        <p:nvSpPr>
          <p:cNvPr id="336" name="Google Shape;336;p48"/>
          <p:cNvSpPr txBox="1">
            <a:spLocks noGrp="1"/>
          </p:cNvSpPr>
          <p:nvPr>
            <p:ph type="body" idx="2"/>
          </p:nvPr>
        </p:nvSpPr>
        <p:spPr>
          <a:xfrm>
            <a:off x="4788450" y="724200"/>
            <a:ext cx="39882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 Credit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Demonstrate a scholarly discourse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Support your claims with evidence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Direct readers to original sources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/>
              <a:t>Avoid plagiarism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>
            <a:spLocks noGrp="1"/>
          </p:cNvSpPr>
          <p:nvPr>
            <p:ph type="title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Plagiarism</a:t>
            </a:r>
            <a:endParaRPr/>
          </a:p>
        </p:txBody>
      </p:sp>
      <p:sp>
        <p:nvSpPr>
          <p:cNvPr id="342" name="Google Shape;342;p49"/>
          <p:cNvSpPr txBox="1">
            <a:spLocks noGrp="1"/>
          </p:cNvSpPr>
          <p:nvPr>
            <p:ph type="body" idx="1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Using someone else’s words, ideas, or work as your own without giving due credit to the original author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give credit?</a:t>
            </a:r>
            <a:endParaRPr/>
          </a:p>
        </p:txBody>
      </p:sp>
      <p:sp>
        <p:nvSpPr>
          <p:cNvPr id="348" name="Google Shape;348;p50"/>
          <p:cNvSpPr txBox="1">
            <a:spLocks noGrp="1"/>
          </p:cNvSpPr>
          <p:nvPr>
            <p:ph type="body" idx="1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/>
              <a:t>In-Text Citations</a:t>
            </a:r>
            <a:endParaRPr sz="21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Attributing a sentence, quote, or idea to a particular reference within the body of your text</a:t>
            </a:r>
            <a:endParaRPr sz="2100"/>
          </a:p>
        </p:txBody>
      </p:sp>
      <p:sp>
        <p:nvSpPr>
          <p:cNvPr id="349" name="Google Shape;349;p50"/>
          <p:cNvSpPr txBox="1">
            <a:spLocks noGrp="1"/>
          </p:cNvSpPr>
          <p:nvPr>
            <p:ph type="body" idx="2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/>
              <a:t>Full Reference</a:t>
            </a:r>
            <a:endParaRPr sz="21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A citation that’s formatted and included at the end of your paper in a bibliography or works cited section</a:t>
            </a:r>
            <a:endParaRPr sz="2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Illinois Tech Code of Academic Honesty</a:t>
            </a:r>
            <a:endParaRPr sz="2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55" name="Google Shape;355;p51"/>
          <p:cNvSpPr txBox="1"/>
          <p:nvPr/>
        </p:nvSpPr>
        <p:spPr>
          <a:xfrm>
            <a:off x="591100" y="1289475"/>
            <a:ext cx="7688700" cy="22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16161"/>
                </a:solidFill>
                <a:latin typeface="Proxima Nova"/>
                <a:ea typeface="Proxima Nova"/>
                <a:cs typeface="Proxima Nova"/>
                <a:sym typeface="Proxima Nova"/>
              </a:rPr>
              <a:t>“The misrepresentation of any work submitted for credit or otherwise as the product of a student’s sole independent effort, such as using the ideas of others without attribution and other forms of plagiarism[...],” </a:t>
            </a:r>
            <a:r>
              <a:rPr lang="en" sz="1800" u="sng">
                <a:solidFill>
                  <a:srgbClr val="1155CC"/>
                </a:solidFill>
                <a:latin typeface="Proxima Nova"/>
                <a:ea typeface="Proxima Nova"/>
                <a:cs typeface="Proxima Nova"/>
                <a:sym typeface="Proxima Nov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Illinois Tech Code of Academic Honesty</a:t>
            </a:r>
            <a:r>
              <a:rPr lang="en" sz="1800">
                <a:solidFill>
                  <a:srgbClr val="616161"/>
                </a:solidFill>
                <a:latin typeface="Proxima Nova"/>
                <a:ea typeface="Proxima Nova"/>
                <a:cs typeface="Proxima Nova"/>
                <a:sym typeface="Proxima Nova"/>
              </a:rPr>
              <a:t>, section I.A</a:t>
            </a: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50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16161"/>
                </a:solidFill>
                <a:latin typeface="Proxima Nova"/>
                <a:ea typeface="Proxima Nova"/>
                <a:cs typeface="Proxima Nova"/>
                <a:sym typeface="Proxima Nova"/>
              </a:rPr>
              <a:t>Penalties for violating the Code of Academic Honesty can include:</a:t>
            </a: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rgbClr val="616161"/>
              </a:buClr>
              <a:buSzPts val="1800"/>
              <a:buFont typeface="Proxima Nova"/>
              <a:buChar char="●"/>
            </a:pPr>
            <a:r>
              <a:rPr lang="en" sz="1800">
                <a:solidFill>
                  <a:srgbClr val="616161"/>
                </a:solidFill>
                <a:latin typeface="Proxima Nova"/>
                <a:ea typeface="Proxima Nova"/>
                <a:cs typeface="Proxima Nova"/>
                <a:sym typeface="Proxima Nova"/>
              </a:rPr>
              <a:t>Grade reductions</a:t>
            </a: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16161"/>
              </a:buClr>
              <a:buSzPts val="1800"/>
              <a:buFont typeface="Proxima Nova"/>
              <a:buChar char="●"/>
            </a:pPr>
            <a:r>
              <a:rPr lang="en" sz="1800">
                <a:solidFill>
                  <a:srgbClr val="616161"/>
                </a:solidFill>
                <a:latin typeface="Proxima Nova"/>
                <a:ea typeface="Proxima Nova"/>
                <a:cs typeface="Proxima Nova"/>
                <a:sym typeface="Proxima Nova"/>
              </a:rPr>
              <a:t>Expulsion from a course or the university</a:t>
            </a: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1100"/>
              </a:spcBef>
              <a:spcAft>
                <a:spcPts val="1100"/>
              </a:spcAft>
              <a:buNone/>
            </a:pP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in doubt…..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Cite!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3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Citation Styles</a:t>
            </a:r>
            <a:endParaRPr/>
          </a:p>
        </p:txBody>
      </p:sp>
      <p:sp>
        <p:nvSpPr>
          <p:cNvPr id="366" name="Google Shape;366;p53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Perdue OWL - Online Writing Lab</a:t>
            </a:r>
            <a:endParaRPr/>
          </a:p>
        </p:txBody>
      </p:sp>
      <p:sp>
        <p:nvSpPr>
          <p:cNvPr id="367" name="Google Shape;367;p53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APA (American Psychological Association) - Sciences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MLA (Modern Language Association) - Humanities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Chicago Manual of Style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4"/>
          <p:cNvSpPr txBox="1"/>
          <p:nvPr/>
        </p:nvSpPr>
        <p:spPr>
          <a:xfrm>
            <a:off x="311700" y="317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In-text citation</a:t>
            </a:r>
            <a:endParaRPr sz="2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54"/>
          <p:cNvSpPr txBox="1"/>
          <p:nvPr/>
        </p:nvSpPr>
        <p:spPr>
          <a:xfrm>
            <a:off x="311700" y="1025025"/>
            <a:ext cx="8520600" cy="29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16161"/>
                </a:solidFill>
                <a:latin typeface="Proxima Nova"/>
                <a:ea typeface="Proxima Nova"/>
                <a:cs typeface="Proxima Nova"/>
                <a:sym typeface="Proxima Nova"/>
              </a:rPr>
              <a:t>Examples from a scholarly article:</a:t>
            </a:r>
            <a:endParaRPr sz="24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8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74" name="Google Shape;374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7650" y="1960525"/>
            <a:ext cx="8088700" cy="1834704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54"/>
          <p:cNvSpPr txBox="1"/>
          <p:nvPr/>
        </p:nvSpPr>
        <p:spPr>
          <a:xfrm>
            <a:off x="311700" y="4199350"/>
            <a:ext cx="83046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Church, D., &amp; Nelms, J. (2016). Pain, range of motion, and psychological symptoms in a population with frozen shoulder: A randomized controlled dismantling study of clinical EFT (emotional freedom techniques). </a:t>
            </a:r>
            <a:r>
              <a:rPr lang="en" sz="1100" i="1"/>
              <a:t>Archives of Scientific Psychology, 4</a:t>
            </a:r>
            <a:r>
              <a:rPr lang="en" sz="1100"/>
              <a:t>(1), 38-48. doi:10.1037/arc0000028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5"/>
          <p:cNvSpPr txBox="1">
            <a:spLocks noGrp="1"/>
          </p:cNvSpPr>
          <p:nvPr>
            <p:ph type="body" idx="1"/>
          </p:nvPr>
        </p:nvSpPr>
        <p:spPr>
          <a:xfrm>
            <a:off x="464750" y="621725"/>
            <a:ext cx="8201100" cy="374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Scalabrin, G., Bettio, L., Marchi, P., &amp; Stringari, P. (2007). A fundamental equation of state for Sulfur Hexafluoride (SF6) in extended equation of state format. </a:t>
            </a:r>
            <a:r>
              <a:rPr lang="en" i="1"/>
              <a:t>Journal of Physical and Chemical Reference Data, 36</a:t>
            </a:r>
            <a:r>
              <a:rPr lang="en"/>
              <a:t>(2), 617–662.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https://doi.org/10.1063/1.2716004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Bibliography</a:t>
            </a:r>
            <a:endParaRPr/>
          </a:p>
        </p:txBody>
      </p:sp>
      <p:sp>
        <p:nvSpPr>
          <p:cNvPr id="387" name="Google Shape;387;p56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Located at the end of papers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/>
              <a:t>How can readers find the cited resource?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/>
              <a:t>“Bibliographic Information”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b="1"/>
              <a:t>More information on sources cited in-text</a:t>
            </a:r>
            <a:endParaRPr b="1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>
          <a:extLst>
            <a:ext uri="{FF2B5EF4-FFF2-40B4-BE49-F238E27FC236}">
              <a16:creationId xmlns:a16="http://schemas.microsoft.com/office/drawing/2014/main" id="{804D74F9-0D3B-29AF-07A3-094DD376E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3">
            <a:extLst>
              <a:ext uri="{FF2B5EF4-FFF2-40B4-BE49-F238E27FC236}">
                <a16:creationId xmlns:a16="http://schemas.microsoft.com/office/drawing/2014/main" id="{A76F60B9-60E7-881D-6ADA-7428811B1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5500" y="97472"/>
            <a:ext cx="4045200" cy="8108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" dirty="0"/>
              <a:t>Citation Problems</a:t>
            </a:r>
            <a:endParaRPr dirty="0"/>
          </a:p>
        </p:txBody>
      </p:sp>
      <p:pic>
        <p:nvPicPr>
          <p:cNvPr id="4" name="Picture 3" descr="A person with his hand up&#10;&#10;AI-generated content may be incorrect.">
            <a:extLst>
              <a:ext uri="{FF2B5EF4-FFF2-40B4-BE49-F238E27FC236}">
                <a16:creationId xmlns:a16="http://schemas.microsoft.com/office/drawing/2014/main" id="{350704AC-D36B-9834-16B2-99C6144AA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519" y="367917"/>
            <a:ext cx="2996513" cy="4031392"/>
          </a:xfrm>
          <a:prstGeom prst="rect">
            <a:avLst/>
          </a:prstGeom>
        </p:spPr>
      </p:pic>
      <p:sp>
        <p:nvSpPr>
          <p:cNvPr id="6" name="Subtitle 5">
            <a:extLst>
              <a:ext uri="{FF2B5EF4-FFF2-40B4-BE49-F238E27FC236}">
                <a16:creationId xmlns:a16="http://schemas.microsoft.com/office/drawing/2014/main" id="{99975B67-80B4-430A-42C8-4581B0B8E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911976"/>
            <a:ext cx="4045200" cy="2717911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/>
              <a:buChar char="•"/>
            </a:pPr>
            <a:r>
              <a:rPr lang="en-US" sz="1800" dirty="0"/>
              <a:t>How can I keep track of all my PDFs and keep them organized?</a:t>
            </a:r>
          </a:p>
          <a:p>
            <a:pPr marL="114300" indent="0" algn="l"/>
            <a:endParaRPr lang="en-US" sz="1800" dirty="0"/>
          </a:p>
          <a:p>
            <a:pPr algn="l">
              <a:buFont typeface="Arial"/>
              <a:buChar char="•"/>
            </a:pPr>
            <a:r>
              <a:rPr lang="en-US" sz="1800" dirty="0"/>
              <a:t>How can I find the right article to cite in my own work?</a:t>
            </a:r>
          </a:p>
          <a:p>
            <a:pPr marL="114300" indent="0" algn="l"/>
            <a:endParaRPr lang="en-US" sz="1800" dirty="0"/>
          </a:p>
          <a:p>
            <a:pPr algn="l">
              <a:buFont typeface="Arial"/>
              <a:buChar char="•"/>
            </a:pPr>
            <a:r>
              <a:rPr lang="en-US" sz="1800" dirty="0"/>
              <a:t>Writing citations and bibliographies is tedious and boring</a:t>
            </a:r>
          </a:p>
          <a:p>
            <a:pPr algn="l">
              <a:buFont typeface="Arial"/>
              <a:buChar char="•"/>
            </a:pPr>
            <a:endParaRPr lang="en-US" dirty="0"/>
          </a:p>
        </p:txBody>
      </p:sp>
      <p:sp>
        <p:nvSpPr>
          <p:cNvPr id="8" name="Google Shape;341;p49">
            <a:extLst>
              <a:ext uri="{FF2B5EF4-FFF2-40B4-BE49-F238E27FC236}">
                <a16:creationId xmlns:a16="http://schemas.microsoft.com/office/drawing/2014/main" id="{D54BEA5D-AAF6-4954-4B24-4E1CA659507C}"/>
              </a:ext>
            </a:extLst>
          </p:cNvPr>
          <p:cNvSpPr txBox="1">
            <a:spLocks/>
          </p:cNvSpPr>
          <p:nvPr/>
        </p:nvSpPr>
        <p:spPr>
          <a:xfrm>
            <a:off x="265363" y="3435383"/>
            <a:ext cx="4041276" cy="15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PT Sans Narrow"/>
              <a:buNone/>
              <a:defRPr sz="4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" sz="3700" dirty="0">
                <a:solidFill>
                  <a:schemeClr val="accent5"/>
                </a:solidFill>
              </a:rPr>
              <a:t>One Solution: Zotero</a:t>
            </a:r>
          </a:p>
        </p:txBody>
      </p:sp>
    </p:spTree>
    <p:extLst>
      <p:ext uri="{BB962C8B-B14F-4D97-AF65-F5344CB8AC3E}">
        <p14:creationId xmlns:p14="http://schemas.microsoft.com/office/powerpoint/2010/main" val="4203486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DDE40C48-8643-CF13-6AE4-3EAEE9DD4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>
            <a:extLst>
              <a:ext uri="{FF2B5EF4-FFF2-40B4-BE49-F238E27FC236}">
                <a16:creationId xmlns:a16="http://schemas.microsoft.com/office/drawing/2014/main" id="{822609A7-FE61-7F6D-7361-3E06923E24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832741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Zotero</a:t>
            </a:r>
            <a:endParaRPr lang="en-US" dirty="0"/>
          </a:p>
        </p:txBody>
      </p:sp>
      <p:sp>
        <p:nvSpPr>
          <p:cNvPr id="342" name="Google Shape;342;p49">
            <a:extLst>
              <a:ext uri="{FF2B5EF4-FFF2-40B4-BE49-F238E27FC236}">
                <a16:creationId xmlns:a16="http://schemas.microsoft.com/office/drawing/2014/main" id="{261B434E-BF1A-D8D4-2F2E-13C4C2500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2523541"/>
            <a:ext cx="8520600" cy="18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" dirty="0"/>
              <a:t>Open-Source Citation Management Platform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2800" b="1" dirty="0">
                <a:hlinkClick r:id="rId3"/>
              </a:rPr>
              <a:t>https://guides.library.iit.edu/zotero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1400" dirty="0"/>
              <a:t>Galvin Library Zotero </a:t>
            </a:r>
            <a:r>
              <a:rPr lang="en" sz="1400" err="1"/>
              <a:t>LibGuide</a:t>
            </a:r>
            <a:endParaRPr lang="en" sz="1400"/>
          </a:p>
        </p:txBody>
      </p:sp>
    </p:spTree>
    <p:extLst>
      <p:ext uri="{BB962C8B-B14F-4D97-AF65-F5344CB8AC3E}">
        <p14:creationId xmlns:p14="http://schemas.microsoft.com/office/powerpoint/2010/main" val="2991354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D60D222C-33AA-7016-2375-D71176B1B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6">
            <a:extLst>
              <a:ext uri="{FF2B5EF4-FFF2-40B4-BE49-F238E27FC236}">
                <a16:creationId xmlns:a16="http://schemas.microsoft.com/office/drawing/2014/main" id="{EDC33131-0EE9-C881-44F7-BE4F4C7697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66998"/>
            <a:ext cx="8520600" cy="8232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Metadata</a:t>
            </a:r>
            <a:endParaRPr lang="en-US" sz="4400"/>
          </a:p>
        </p:txBody>
      </p:sp>
      <p:sp>
        <p:nvSpPr>
          <p:cNvPr id="387" name="Google Shape;387;p56">
            <a:extLst>
              <a:ext uri="{FF2B5EF4-FFF2-40B4-BE49-F238E27FC236}">
                <a16:creationId xmlns:a16="http://schemas.microsoft.com/office/drawing/2014/main" id="{7555B034-8E3B-915F-485D-EC6F5EF9A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8791"/>
            <a:ext cx="8451093" cy="38664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285750" indent="-285750">
              <a:lnSpc>
                <a:spcPct val="114999"/>
              </a:lnSpc>
            </a:pPr>
            <a:r>
              <a:rPr lang="en" b="1" dirty="0"/>
              <a:t>"</a:t>
            </a:r>
            <a:r>
              <a:rPr lang="en" sz="1300" dirty="0">
                <a:solidFill>
                  <a:srgbClr val="000000"/>
                </a:solidFill>
                <a:highlight>
                  <a:srgbClr val="FBFBFB"/>
                </a:highlight>
                <a:latin typeface="Lora"/>
              </a:rPr>
              <a:t>Data whose purpose is to describe and give information about other data.</a:t>
            </a: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" - </a:t>
            </a: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  <a:hlinkClick r:id="rId3"/>
              </a:rPr>
              <a:t>OED</a:t>
            </a:r>
            <a:endParaRPr lang="en-US" b="1">
              <a:solidFill>
                <a:srgbClr val="695D46"/>
              </a:solidFill>
            </a:endParaRPr>
          </a:p>
          <a:p>
            <a:pPr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Data about data</a:t>
            </a:r>
          </a:p>
          <a:p>
            <a:pPr lvl="1">
              <a:lnSpc>
                <a:spcPct val="114999"/>
              </a:lnSpc>
            </a:pPr>
            <a:endParaRPr lang="en" b="1" dirty="0">
              <a:solidFill>
                <a:srgbClr val="695D46"/>
              </a:solidFill>
              <a:highlight>
                <a:srgbClr val="FBFBFB"/>
              </a:highlight>
            </a:endParaRPr>
          </a:p>
          <a:p>
            <a:pPr marL="285750" indent="-285750">
              <a:lnSpc>
                <a:spcPct val="114999"/>
              </a:lnSpc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Metadata about articles, books, </a:t>
            </a:r>
            <a:r>
              <a:rPr lang="en" b="1" dirty="0" err="1">
                <a:solidFill>
                  <a:srgbClr val="695D46"/>
                </a:solidFill>
                <a:highlight>
                  <a:srgbClr val="FBFBFB"/>
                </a:highlight>
              </a:rPr>
              <a:t>etc</a:t>
            </a: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: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Title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Author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Journal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Publication Year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Volume, Issue, Page Number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Keywords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Topics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Abstracts</a:t>
            </a:r>
          </a:p>
          <a:p>
            <a:pPr marL="742950" lvl="1">
              <a:lnSpc>
                <a:spcPct val="114999"/>
              </a:lnSpc>
            </a:pPr>
            <a:endParaRPr lang="en" b="1" dirty="0">
              <a:solidFill>
                <a:srgbClr val="695D46"/>
              </a:solidFill>
              <a:highlight>
                <a:srgbClr val="FBFBFB"/>
              </a:highlight>
            </a:endParaRPr>
          </a:p>
          <a:p>
            <a:pPr marL="285750" indent="-285750">
              <a:lnSpc>
                <a:spcPct val="114999"/>
              </a:lnSpc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Metadata can be used to automatically build citations</a:t>
            </a:r>
          </a:p>
          <a:p>
            <a:pPr marL="742950" lvl="1">
              <a:lnSpc>
                <a:spcPct val="114999"/>
              </a:lnSpc>
            </a:pPr>
            <a:r>
              <a:rPr lang="en" b="1" dirty="0">
                <a:solidFill>
                  <a:srgbClr val="695D46"/>
                </a:solidFill>
                <a:highlight>
                  <a:srgbClr val="FBFBFB"/>
                </a:highlight>
              </a:rPr>
              <a:t>Zotero is great for this</a:t>
            </a:r>
          </a:p>
        </p:txBody>
      </p:sp>
      <p:sp>
        <p:nvSpPr>
          <p:cNvPr id="3" name="Google Shape;387;p56">
            <a:extLst>
              <a:ext uri="{FF2B5EF4-FFF2-40B4-BE49-F238E27FC236}">
                <a16:creationId xmlns:a16="http://schemas.microsoft.com/office/drawing/2014/main" id="{9735136B-858E-C05C-E917-24E0DDEF2F3F}"/>
              </a:ext>
            </a:extLst>
          </p:cNvPr>
          <p:cNvSpPr txBox="1">
            <a:spLocks/>
          </p:cNvSpPr>
          <p:nvPr/>
        </p:nvSpPr>
        <p:spPr>
          <a:xfrm>
            <a:off x="3900824" y="1928440"/>
            <a:ext cx="3415715" cy="2298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lnSpc>
                <a:spcPct val="114999"/>
              </a:lnSpc>
              <a:buNone/>
            </a:pPr>
            <a:endParaRPr lang="en" b="1" dirty="0">
              <a:solidFill>
                <a:srgbClr val="695D46"/>
              </a:solidFill>
              <a:highlight>
                <a:srgbClr val="FBFBFB"/>
              </a:highlight>
            </a:endParaRP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highlight>
                  <a:srgbClr val="FBFBFB"/>
                </a:highlight>
              </a:rPr>
              <a:t>Institutional Affiliations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>
                <a:highlight>
                  <a:srgbClr val="FBFBFB"/>
                </a:highlight>
              </a:rPr>
              <a:t>Web Links</a:t>
            </a:r>
            <a:endParaRPr lang="en"/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highlight>
                  <a:srgbClr val="FBFBFB"/>
                </a:highlight>
              </a:rPr>
              <a:t>Unique Identifiers (ID Numbers)</a:t>
            </a:r>
          </a:p>
          <a:p>
            <a:pPr marL="742950" lvl="1">
              <a:lnSpc>
                <a:spcPct val="114999"/>
              </a:lnSpc>
              <a:buSzPts val="1800"/>
            </a:pPr>
            <a:r>
              <a:rPr lang="en" b="1" dirty="0">
                <a:highlight>
                  <a:srgbClr val="FBFBFB"/>
                </a:highlight>
              </a:rPr>
              <a:t>DOIs or Persistent Links</a:t>
            </a:r>
          </a:p>
        </p:txBody>
      </p:sp>
    </p:spTree>
    <p:extLst>
      <p:ext uri="{BB962C8B-B14F-4D97-AF65-F5344CB8AC3E}">
        <p14:creationId xmlns:p14="http://schemas.microsoft.com/office/powerpoint/2010/main" val="40700514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BAA00337-8DAC-9761-FCAE-0D98697E1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>
            <a:extLst>
              <a:ext uri="{FF2B5EF4-FFF2-40B4-BE49-F238E27FC236}">
                <a16:creationId xmlns:a16="http://schemas.microsoft.com/office/drawing/2014/main" id="{D7975F16-2B3F-DEC7-A075-7CBADFABF3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832741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900" dirty="0" err="1"/>
              <a:t>ZoteroBib</a:t>
            </a:r>
            <a:endParaRPr lang="en-US" sz="8900" dirty="0" err="1"/>
          </a:p>
        </p:txBody>
      </p:sp>
      <p:sp>
        <p:nvSpPr>
          <p:cNvPr id="342" name="Google Shape;342;p49">
            <a:extLst>
              <a:ext uri="{FF2B5EF4-FFF2-40B4-BE49-F238E27FC236}">
                <a16:creationId xmlns:a16="http://schemas.microsoft.com/office/drawing/2014/main" id="{B736F7E2-5C6D-0F5F-B14A-201193EB64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2523541"/>
            <a:ext cx="8520600" cy="18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3000" b="1" dirty="0">
                <a:hlinkClick r:id="rId3"/>
              </a:rPr>
              <a:t>www.zbib.org</a:t>
            </a:r>
            <a:endParaRPr lang="en" sz="3000" b="1" dirty="0"/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dirty="0"/>
              <a:t>Simple citation construction using a web link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dirty="0"/>
              <a:t>Builds citations using metadata in various citation styles</a:t>
            </a:r>
          </a:p>
        </p:txBody>
      </p:sp>
    </p:spTree>
    <p:extLst>
      <p:ext uri="{BB962C8B-B14F-4D97-AF65-F5344CB8AC3E}">
        <p14:creationId xmlns:p14="http://schemas.microsoft.com/office/powerpoint/2010/main" val="28150977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0AE3E4C1-0EF9-BBF1-67CA-01BC76370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>
            <a:extLst>
              <a:ext uri="{FF2B5EF4-FFF2-40B4-BE49-F238E27FC236}">
                <a16:creationId xmlns:a16="http://schemas.microsoft.com/office/drawing/2014/main" id="{8D216551-ECB8-DA79-2C73-FA9FDC146F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1905" y="465348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900" dirty="0"/>
              <a:t>Zotero</a:t>
            </a:r>
            <a:endParaRPr lang="en-US" sz="8900" dirty="0"/>
          </a:p>
        </p:txBody>
      </p:sp>
      <p:sp>
        <p:nvSpPr>
          <p:cNvPr id="342" name="Google Shape;342;p49">
            <a:extLst>
              <a:ext uri="{FF2B5EF4-FFF2-40B4-BE49-F238E27FC236}">
                <a16:creationId xmlns:a16="http://schemas.microsoft.com/office/drawing/2014/main" id="{E3FC23A2-21AF-8CE4-35C1-9B87F5A35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21905" y="2001687"/>
            <a:ext cx="8520600" cy="26445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3300" b="1" dirty="0"/>
              <a:t>Full Citation Management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4400" b="1" dirty="0">
                <a:hlinkClick r:id="rId3"/>
              </a:rPr>
              <a:t>www.zotero.org</a:t>
            </a:r>
            <a:endParaRPr lang="en" sz="4400" b="1"/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2200" dirty="0"/>
              <a:t>Cloud version (Zotero Web Library)</a:t>
            </a:r>
            <a:endParaRPr lang="en-US" sz="2200" dirty="0"/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2200" dirty="0"/>
              <a:t>Standalone application</a:t>
            </a:r>
            <a:endParaRPr lang="en" sz="2200"/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2200" dirty="0"/>
              <a:t>Browser Extension</a:t>
            </a:r>
            <a:endParaRPr lang="en" sz="2200"/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" sz="2200" dirty="0"/>
              <a:t>Word Extension</a:t>
            </a:r>
          </a:p>
        </p:txBody>
      </p:sp>
    </p:spTree>
    <p:extLst>
      <p:ext uri="{BB962C8B-B14F-4D97-AF65-F5344CB8AC3E}">
        <p14:creationId xmlns:p14="http://schemas.microsoft.com/office/powerpoint/2010/main" val="23346533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8588C94B-3F19-B6B8-27FC-F8563AC36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6">
            <a:extLst>
              <a:ext uri="{FF2B5EF4-FFF2-40B4-BE49-F238E27FC236}">
                <a16:creationId xmlns:a16="http://schemas.microsoft.com/office/drawing/2014/main" id="{D64F240C-AFBA-A1A6-5DF2-DE4546C1BE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"/>
              <a:t>Zotero Web Library</a:t>
            </a:r>
            <a:endParaRPr lang="en-US"/>
          </a:p>
        </p:txBody>
      </p:sp>
      <p:sp>
        <p:nvSpPr>
          <p:cNvPr id="392" name="Slide Number Placeholder 2">
            <a:extLst>
              <a:ext uri="{FF2B5EF4-FFF2-40B4-BE49-F238E27FC236}">
                <a16:creationId xmlns:a16="http://schemas.microsoft.com/office/drawing/2014/main" id="{43F467F0-C5B1-4A84-D41E-811FECB3C4D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" sz="900"/>
              <a:pPr marL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36</a:t>
            </a:fld>
            <a:endParaRPr lang="en" sz="900"/>
          </a:p>
        </p:txBody>
      </p:sp>
      <p:sp>
        <p:nvSpPr>
          <p:cNvPr id="387" name="Google Shape;387;p56">
            <a:extLst>
              <a:ext uri="{FF2B5EF4-FFF2-40B4-BE49-F238E27FC236}">
                <a16:creationId xmlns:a16="http://schemas.microsoft.com/office/drawing/2014/main" id="{A46E445A-D6F0-C3B5-B48E-4316E3CFD4F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19852" y="1291899"/>
            <a:ext cx="4569861" cy="3580773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sz="1400" b="1" i="0" u="none" strike="noStrike" cap="none" dirty="0">
                <a:solidFill>
                  <a:schemeClr val="bg2"/>
                </a:solidFill>
              </a:rPr>
              <a:t>Sign up for a free Zotero account</a:t>
            </a:r>
            <a:endParaRPr lang="en-US" b="1">
              <a:solidFill>
                <a:schemeClr val="bg2"/>
              </a:solidFill>
            </a:endParaRPr>
          </a:p>
          <a:p>
            <a:pPr marL="0" indent="5715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  <a:buNone/>
            </a:pPr>
            <a:endParaRPr lang="en-US" sz="1400" b="1" i="0" u="none" strike="noStrike" cap="none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sz="1400" b="1" i="0" u="none" strike="noStrike" cap="none" dirty="0">
                <a:solidFill>
                  <a:schemeClr val="bg2"/>
                </a:solidFill>
              </a:rPr>
              <a:t>Download Zotero Connector for your browser</a:t>
            </a:r>
          </a:p>
          <a:p>
            <a:pPr marL="571500" lvl="1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i="0" u="none" strike="noStrike" cap="none" dirty="0">
                <a:solidFill>
                  <a:schemeClr val="bg2"/>
                </a:solidFill>
              </a:rPr>
              <a:t>Make the extension visible in your toolbar</a:t>
            </a:r>
          </a:p>
          <a:p>
            <a:pPr marL="596900" lvl="1" indent="-53975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  <a:buNone/>
            </a:pPr>
            <a:endParaRPr lang="en-US" b="1" i="0" u="none" strike="noStrike" cap="none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sz="1400" b="1" i="0" u="none" strike="noStrike" cap="none" dirty="0">
                <a:solidFill>
                  <a:schemeClr val="bg2"/>
                </a:solidFill>
                <a:highlight>
                  <a:srgbClr val="FBFBFB"/>
                </a:highlight>
              </a:rPr>
              <a:t>Find articles online</a:t>
            </a:r>
          </a:p>
          <a:p>
            <a:pPr marL="571500" lvl="1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i="0" u="none" strike="noStrike" cap="none" dirty="0">
                <a:solidFill>
                  <a:schemeClr val="bg2"/>
                </a:solidFill>
                <a:highlight>
                  <a:srgbClr val="FBFBFB"/>
                </a:highlight>
              </a:rPr>
              <a:t>Galvin Library catalog</a:t>
            </a:r>
          </a:p>
          <a:p>
            <a:pPr marL="571500" lvl="1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i="0" u="none" strike="noStrike" cap="none" dirty="0">
                <a:solidFill>
                  <a:schemeClr val="bg2"/>
                </a:solidFill>
                <a:highlight>
                  <a:srgbClr val="FBFBFB"/>
                </a:highlight>
              </a:rPr>
              <a:t>Google Scholar</a:t>
            </a:r>
          </a:p>
          <a:p>
            <a:pPr marL="742950" lvl="1" indent="-6858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endParaRPr lang="en-US" b="1" i="0" u="none" strike="noStrike" cap="none" dirty="0">
              <a:solidFill>
                <a:schemeClr val="bg2"/>
              </a:solidFill>
              <a:highlight>
                <a:srgbClr val="FBFBFB"/>
              </a:highlight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sz="1400" b="1" i="0" u="none" strike="noStrike" cap="none" dirty="0">
                <a:solidFill>
                  <a:schemeClr val="bg2"/>
                </a:solidFill>
                <a:highlight>
                  <a:srgbClr val="FBFBFB"/>
                </a:highlight>
              </a:rPr>
              <a:t>Save both PDFs and metadata to Zotero Web Library</a:t>
            </a:r>
          </a:p>
          <a:p>
            <a:pPr marL="571500" lvl="1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SzPts val="1800"/>
            </a:pPr>
            <a:r>
              <a:rPr lang="en-US" sz="1200" b="1" dirty="0">
                <a:solidFill>
                  <a:schemeClr val="bg2"/>
                </a:solidFill>
                <a:highlight>
                  <a:srgbClr val="FBFBFB"/>
                </a:highlight>
              </a:rPr>
              <a:t>300 MB free space, Upgradeable at cost</a:t>
            </a:r>
          </a:p>
        </p:txBody>
      </p:sp>
      <p:pic>
        <p:nvPicPr>
          <p:cNvPr id="2" name="Picture 1" descr="A screenshot of a computer">
            <a:extLst>
              <a:ext uri="{FF2B5EF4-FFF2-40B4-BE49-F238E27FC236}">
                <a16:creationId xmlns:a16="http://schemas.microsoft.com/office/drawing/2014/main" id="{8A95CB94-4397-9EDD-4D7D-C76AA36C1B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934" r="445"/>
          <a:stretch>
            <a:fillRect/>
          </a:stretch>
        </p:blipFill>
        <p:spPr>
          <a:xfrm>
            <a:off x="4689407" y="941330"/>
            <a:ext cx="4071592" cy="326444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A74EA6-450F-E445-1EB4-7F35A2888C4B}"/>
              </a:ext>
            </a:extLst>
          </p:cNvPr>
          <p:cNvSpPr/>
          <p:nvPr/>
        </p:nvSpPr>
        <p:spPr>
          <a:xfrm>
            <a:off x="6691160" y="1289518"/>
            <a:ext cx="374181" cy="301592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1991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997598A8-51BF-FAA0-B448-D28DCB31F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6">
            <a:extLst>
              <a:ext uri="{FF2B5EF4-FFF2-40B4-BE49-F238E27FC236}">
                <a16:creationId xmlns:a16="http://schemas.microsoft.com/office/drawing/2014/main" id="{369A9224-5CED-3484-137F-A8CD73A27A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" dirty="0"/>
              <a:t>Zotero Desktop</a:t>
            </a:r>
            <a:endParaRPr lang="en-US" dirty="0"/>
          </a:p>
        </p:txBody>
      </p:sp>
      <p:sp>
        <p:nvSpPr>
          <p:cNvPr id="392" name="Slide Number Placeholder 2">
            <a:extLst>
              <a:ext uri="{FF2B5EF4-FFF2-40B4-BE49-F238E27FC236}">
                <a16:creationId xmlns:a16="http://schemas.microsoft.com/office/drawing/2014/main" id="{7CF8BB7B-7AFC-39D8-310D-1396EDA944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" sz="900"/>
              <a:pPr marL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37</a:t>
            </a:fld>
            <a:endParaRPr lang="en" sz="900"/>
          </a:p>
        </p:txBody>
      </p:sp>
      <p:sp>
        <p:nvSpPr>
          <p:cNvPr id="387" name="Google Shape;387;p56">
            <a:extLst>
              <a:ext uri="{FF2B5EF4-FFF2-40B4-BE49-F238E27FC236}">
                <a16:creationId xmlns:a16="http://schemas.microsoft.com/office/drawing/2014/main" id="{4A51EB19-7F6D-487F-563D-6CC4B650F27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19852" y="1291899"/>
            <a:ext cx="4569861" cy="3580773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Install on your computer</a:t>
            </a:r>
            <a:endParaRPr lang="en-US" b="1" i="0" u="none" strike="noStrike" cap="none" dirty="0">
              <a:solidFill>
                <a:schemeClr val="bg2"/>
              </a:solidFill>
            </a:endParaRPr>
          </a:p>
          <a:p>
            <a:pPr marL="57150" indent="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None/>
            </a:pPr>
            <a:endParaRPr lang="en-US" b="1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Uses computer storage for PDFs, but can sync with Zotero Web Library</a:t>
            </a:r>
          </a:p>
          <a:p>
            <a:pPr marL="57150" indent="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None/>
            </a:pPr>
            <a:endParaRPr lang="en-US" b="1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More robust tools and options</a:t>
            </a: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Required to use the Microsoft Word extension</a:t>
            </a:r>
          </a:p>
        </p:txBody>
      </p:sp>
      <p:pic>
        <p:nvPicPr>
          <p:cNvPr id="3" name="Graphic 2" descr="A white shield with a red letter z&#10;&#10;AI-generated content may be incorrect.">
            <a:extLst>
              <a:ext uri="{FF2B5EF4-FFF2-40B4-BE49-F238E27FC236}">
                <a16:creationId xmlns:a16="http://schemas.microsoft.com/office/drawing/2014/main" id="{529A7385-F8D4-282B-F678-BE27DAE788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93105" y="1149659"/>
            <a:ext cx="3829986" cy="29566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4A4A58-D192-338B-4389-0F87470CF361}"/>
              </a:ext>
            </a:extLst>
          </p:cNvPr>
          <p:cNvSpPr txBox="1"/>
          <p:nvPr/>
        </p:nvSpPr>
        <p:spPr>
          <a:xfrm>
            <a:off x="6277130" y="4098874"/>
            <a:ext cx="2192313" cy="4693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50" dirty="0"/>
              <a:t>(</a:t>
            </a:r>
            <a:r>
              <a:rPr lang="en-US" sz="1050" i="1" dirty="0"/>
              <a:t>Zotero | www.zotero.org</a:t>
            </a:r>
            <a:r>
              <a:rPr lang="en-US" sz="1050" dirty="0"/>
              <a:t>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770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>
          <a:extLst>
            <a:ext uri="{FF2B5EF4-FFF2-40B4-BE49-F238E27FC236}">
              <a16:creationId xmlns:a16="http://schemas.microsoft.com/office/drawing/2014/main" id="{0FED0C40-9C9E-CCC7-1DB7-582B44F9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6">
            <a:extLst>
              <a:ext uri="{FF2B5EF4-FFF2-40B4-BE49-F238E27FC236}">
                <a16:creationId xmlns:a16="http://schemas.microsoft.com/office/drawing/2014/main" id="{11552C8B-8307-742B-C92C-A417393411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12003" y="841175"/>
            <a:ext cx="3854912" cy="707400"/>
          </a:xfr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algn="r">
              <a:lnSpc>
                <a:spcPct val="90000"/>
              </a:lnSpc>
            </a:pPr>
            <a:r>
              <a:rPr lang="en" dirty="0"/>
              <a:t>Zotero Plugin for Microsoft Word</a:t>
            </a:r>
            <a:endParaRPr lang="en-US" dirty="0"/>
          </a:p>
        </p:txBody>
      </p:sp>
      <p:sp>
        <p:nvSpPr>
          <p:cNvPr id="392" name="Slide Number Placeholder 2">
            <a:extLst>
              <a:ext uri="{FF2B5EF4-FFF2-40B4-BE49-F238E27FC236}">
                <a16:creationId xmlns:a16="http://schemas.microsoft.com/office/drawing/2014/main" id="{6F575C3B-2E93-8BA4-930E-FA71443B48F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" sz="900"/>
              <a:pPr marL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38</a:t>
            </a:fld>
            <a:endParaRPr lang="en" sz="900"/>
          </a:p>
        </p:txBody>
      </p:sp>
      <p:sp>
        <p:nvSpPr>
          <p:cNvPr id="387" name="Google Shape;387;p56">
            <a:extLst>
              <a:ext uri="{FF2B5EF4-FFF2-40B4-BE49-F238E27FC236}">
                <a16:creationId xmlns:a16="http://schemas.microsoft.com/office/drawing/2014/main" id="{2F38C3A6-5AAF-3B4E-B1EE-D6B1F4EFEF5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5560" y="2164847"/>
            <a:ext cx="8598466" cy="2803159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Easily add citations from your Zotero library</a:t>
            </a:r>
          </a:p>
          <a:p>
            <a:pPr marL="742950" lvl="1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SzPts val="1800"/>
              <a:buFont typeface="Courier New"/>
              <a:buChar char="o"/>
            </a:pPr>
            <a:r>
              <a:rPr lang="en-US" b="1" dirty="0">
                <a:solidFill>
                  <a:schemeClr val="bg2"/>
                </a:solidFill>
              </a:rPr>
              <a:t>In-Text</a:t>
            </a:r>
          </a:p>
          <a:p>
            <a:pPr marL="742950" lvl="1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SzPts val="1800"/>
              <a:buFont typeface="Courier New"/>
              <a:buChar char="o"/>
            </a:pPr>
            <a:r>
              <a:rPr lang="en-US" b="1" dirty="0">
                <a:solidFill>
                  <a:schemeClr val="bg2"/>
                </a:solidFill>
              </a:rPr>
              <a:t>Bibliography</a:t>
            </a:r>
          </a:p>
          <a:p>
            <a:pPr marL="425450" lvl="1" indent="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SzPts val="1800"/>
              <a:buNone/>
            </a:pPr>
            <a:endParaRPr lang="en-US" b="1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Desktop version of Word Only</a:t>
            </a:r>
            <a:endParaRPr lang="en-US" dirty="0">
              <a:solidFill>
                <a:schemeClr val="bg2"/>
              </a:solidFill>
            </a:endParaRPr>
          </a:p>
          <a:p>
            <a:pPr marL="57150" indent="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None/>
            </a:pPr>
            <a:endParaRPr lang="en-US" b="1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Installs alongside Zotero Desktop</a:t>
            </a:r>
          </a:p>
          <a:p>
            <a:pPr marL="57150" indent="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None/>
            </a:pPr>
            <a:endParaRPr lang="en-US" b="1" dirty="0">
              <a:solidFill>
                <a:schemeClr val="bg2"/>
              </a:solidFill>
            </a:endParaRPr>
          </a:p>
          <a:p>
            <a:pPr marL="285750" indent="-228600">
              <a:lnSpc>
                <a:spcPct val="100000"/>
              </a:lnSpc>
              <a:spcAft>
                <a:spcPts val="200"/>
              </a:spcAft>
              <a:buClr>
                <a:srgbClr val="000000"/>
              </a:buClr>
              <a:buFont typeface="Arial"/>
            </a:pPr>
            <a:r>
              <a:rPr lang="en-US" b="1" dirty="0">
                <a:solidFill>
                  <a:schemeClr val="bg2"/>
                </a:solidFill>
              </a:rPr>
              <a:t>Zotero Desktop and Word must be open at the same time</a:t>
            </a: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D44361-9CD0-BC9E-C538-B8F0CC8C4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94" y="310656"/>
            <a:ext cx="5302927" cy="1758378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19838816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2"/>
          <p:cNvSpPr txBox="1">
            <a:spLocks noGrp="1"/>
          </p:cNvSpPr>
          <p:nvPr>
            <p:ph type="title"/>
          </p:nvPr>
        </p:nvSpPr>
        <p:spPr>
          <a:xfrm>
            <a:off x="238650" y="1733850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Still can’t find what you need?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library can help!</a:t>
            </a:r>
            <a:endParaRPr/>
          </a:p>
        </p:txBody>
      </p:sp>
      <p:sp>
        <p:nvSpPr>
          <p:cNvPr id="425" name="Google Shape;425;p62"/>
          <p:cNvSpPr txBox="1">
            <a:spLocks noGrp="1"/>
          </p:cNvSpPr>
          <p:nvPr>
            <p:ph type="body" idx="2"/>
          </p:nvPr>
        </p:nvSpPr>
        <p:spPr>
          <a:xfrm>
            <a:off x="4916975" y="202650"/>
            <a:ext cx="3837000" cy="47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Research Help</a:t>
            </a:r>
            <a:endParaRPr sz="2400"/>
          </a:p>
          <a:p>
            <a:pPr marL="914400" lvl="1" indent="-355600" algn="l" rtl="0"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Reference Desk</a:t>
            </a:r>
            <a:endParaRPr sz="2000"/>
          </a:p>
          <a:p>
            <a:pPr marL="914400" lvl="1" indent="-355600" algn="l" rtl="0"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Research Appointments</a:t>
            </a:r>
            <a:endParaRPr sz="2000"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Interlibrary Loan</a:t>
            </a:r>
            <a:endParaRPr sz="2400"/>
          </a:p>
          <a:p>
            <a:pPr marL="914400" lvl="1" indent="-355600" algn="l" rtl="0"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Worldwide Article Access</a:t>
            </a:r>
            <a:endParaRPr sz="2000"/>
          </a:p>
          <a:p>
            <a:pPr marL="45720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426" name="Google Shape;426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63"/>
          <p:cNvSpPr txBox="1">
            <a:spLocks noGrp="1"/>
          </p:cNvSpPr>
          <p:nvPr>
            <p:ph type="ctrTitle"/>
          </p:nvPr>
        </p:nvSpPr>
        <p:spPr>
          <a:xfrm>
            <a:off x="1004125" y="1549339"/>
            <a:ext cx="7136700" cy="1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Sean Murphy</a:t>
            </a:r>
            <a:endParaRPr dirty="0"/>
          </a:p>
          <a:p>
            <a:r>
              <a:rPr lang="en" sz="2600" dirty="0"/>
              <a:t>Head of Systems and Open Infrastructure</a:t>
            </a:r>
            <a:endParaRPr sz="2622" dirty="0"/>
          </a:p>
        </p:txBody>
      </p:sp>
      <p:sp>
        <p:nvSpPr>
          <p:cNvPr id="432" name="Google Shape;432;p63"/>
          <p:cNvSpPr txBox="1">
            <a:spLocks noGrp="1"/>
          </p:cNvSpPr>
          <p:nvPr>
            <p:ph type="subTitle" idx="1"/>
          </p:nvPr>
        </p:nvSpPr>
        <p:spPr>
          <a:xfrm>
            <a:off x="2137225" y="2850053"/>
            <a:ext cx="4870500" cy="10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smurphy13@illinoistech.edu</a:t>
            </a:r>
            <a:endParaRPr lang="en-US" dirty="0">
              <a:solidFill>
                <a:schemeClr val="hlink"/>
              </a:solidFill>
              <a:hlinkClick r:id="rId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Appointments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Main Library Desk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6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2205</Words>
  <Application>Microsoft Macintosh PowerPoint</Application>
  <PresentationFormat>On-screen Show (16:9)</PresentationFormat>
  <Paragraphs>408</Paragraphs>
  <Slides>40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Open Sans</vt:lpstr>
      <vt:lpstr>PT Sans Narrow</vt:lpstr>
      <vt:lpstr>Arial</vt:lpstr>
      <vt:lpstr>Proxima Nova</vt:lpstr>
      <vt:lpstr>Lora</vt:lpstr>
      <vt:lpstr>Courier New</vt:lpstr>
      <vt:lpstr>Tropic</vt:lpstr>
      <vt:lpstr>2/4/2026 Scientific Literature</vt:lpstr>
      <vt:lpstr>Biochemistry-related databases</vt:lpstr>
      <vt:lpstr>Search strategies</vt:lpstr>
      <vt:lpstr>Accessing articles</vt:lpstr>
      <vt:lpstr>Zotero</vt:lpstr>
      <vt:lpstr>Library Resources and Citation Management CHEM 456 - Computational Biochem</vt:lpstr>
      <vt:lpstr>How do you find information?</vt:lpstr>
      <vt:lpstr>Learning Objectives</vt:lpstr>
      <vt:lpstr>Finding Sources</vt:lpstr>
      <vt:lpstr>Popular Sources vs Scholarly Sources</vt:lpstr>
      <vt:lpstr>PowerPoint Presentation</vt:lpstr>
      <vt:lpstr>Searching Using Google</vt:lpstr>
      <vt:lpstr>Catalogs/Databases</vt:lpstr>
      <vt:lpstr>LibGuides</vt:lpstr>
      <vt:lpstr>library.iit.edu</vt:lpstr>
      <vt:lpstr>Library Catalog</vt:lpstr>
      <vt:lpstr>Web of Science</vt:lpstr>
      <vt:lpstr>Proquest SciTech</vt:lpstr>
      <vt:lpstr>SciFinder</vt:lpstr>
      <vt:lpstr>Google Scholar</vt:lpstr>
      <vt:lpstr>Citing Sources</vt:lpstr>
      <vt:lpstr>Why Cite?</vt:lpstr>
      <vt:lpstr>Plagiarism</vt:lpstr>
      <vt:lpstr>How do you give credit?</vt:lpstr>
      <vt:lpstr>PowerPoint Presentation</vt:lpstr>
      <vt:lpstr>When in doubt…..  Just Cite!</vt:lpstr>
      <vt:lpstr>Citation Styles</vt:lpstr>
      <vt:lpstr>PowerPoint Presentation</vt:lpstr>
      <vt:lpstr>PowerPoint Presentation</vt:lpstr>
      <vt:lpstr>Bibliography</vt:lpstr>
      <vt:lpstr>Citation Problems</vt:lpstr>
      <vt:lpstr>Zotero</vt:lpstr>
      <vt:lpstr>Metadata</vt:lpstr>
      <vt:lpstr>ZoteroBib</vt:lpstr>
      <vt:lpstr>Zotero</vt:lpstr>
      <vt:lpstr>Zotero Web Library</vt:lpstr>
      <vt:lpstr>Zotero Desktop</vt:lpstr>
      <vt:lpstr>Zotero Plugin for Microsoft Word</vt:lpstr>
      <vt:lpstr>Still can’t find what you need?  The library can help!</vt:lpstr>
      <vt:lpstr>Sean Murphy Head of Systems and Open Infrastructure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David Minh</cp:lastModifiedBy>
  <cp:revision>289</cp:revision>
  <dcterms:modified xsi:type="dcterms:W3CDTF">2026-02-04T16:50:19Z</dcterms:modified>
</cp:coreProperties>
</file>