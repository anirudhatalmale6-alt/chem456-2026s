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635000"/>
            <a:ext cx="10160642" cy="12446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veminh.github.io/Chem456-2024F/assignments/" TargetMode="External"/><Relationship Id="rId2" Type="http://schemas.openxmlformats.org/officeDocument/2006/relationships/hyperlink" Target="https://daveminh.github.io/Chem456-2026S/assignments/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pcrdb.org/" TargetMode="External"/><Relationship Id="rId2" Type="http://schemas.openxmlformats.org/officeDocument/2006/relationships/hyperlink" Target="https://guides.library.iit.edu/c.php?g=474723&amp;p=3248565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ubchem.ncbi.nlm.nih.gov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9/16/20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dirty="0"/>
              <a:t>2</a:t>
            </a:r>
            <a:r>
              <a:rPr dirty="0"/>
              <a:t>/</a:t>
            </a:r>
            <a:r>
              <a:rPr lang="en-US" dirty="0"/>
              <a:t>4</a:t>
            </a:r>
            <a:r>
              <a:rPr dirty="0"/>
              <a:t>/202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38" name="Quiz 3 (30 minutes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 dirty="0">
                <a:hlinkClick r:id="rId2"/>
              </a:rPr>
              <a:t>Biological target presentation and report</a:t>
            </a:r>
            <a:endParaRPr u="sng" dirty="0">
              <a:hlinkClick r:id="rId3"/>
            </a:endParaRPr>
          </a:p>
          <a:p>
            <a:r>
              <a:rPr dirty="0"/>
              <a:t>Searching the scientific literature </a:t>
            </a:r>
          </a:p>
          <a:p>
            <a:pPr lvl="1"/>
            <a:r>
              <a:rPr lang="en-US" dirty="0"/>
              <a:t>Biochemistry-related databases</a:t>
            </a:r>
          </a:p>
          <a:p>
            <a:pPr lvl="2"/>
            <a:r>
              <a:rPr lang="en-US" dirty="0"/>
              <a:t>Scientific literature</a:t>
            </a:r>
          </a:p>
          <a:p>
            <a:pPr lvl="2"/>
            <a:r>
              <a:rPr lang="en-US" dirty="0"/>
              <a:t>Biological activity</a:t>
            </a:r>
            <a:endParaRPr dirty="0"/>
          </a:p>
          <a:p>
            <a:pPr lvl="1"/>
            <a:r>
              <a:rPr dirty="0"/>
              <a:t>Accessing articles</a:t>
            </a:r>
          </a:p>
          <a:p>
            <a:pPr lvl="1"/>
            <a:r>
              <a:rPr dirty="0"/>
              <a:t>Search strategies</a:t>
            </a:r>
          </a:p>
          <a:p>
            <a:pPr lvl="1"/>
            <a:r>
              <a:t>Zotero</a:t>
            </a:r>
            <a:endParaRPr lang="en-US" dirty="0"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Biochemistry-related databa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Biochemistry-related databases</a:t>
            </a:r>
          </a:p>
        </p:txBody>
      </p:sp>
      <p:sp>
        <p:nvSpPr>
          <p:cNvPr id="147" name="Google/Google Schola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Scientific Literature</a:t>
            </a:r>
          </a:p>
          <a:p>
            <a:pPr lvl="1"/>
            <a:r>
              <a:rPr dirty="0"/>
              <a:t>Google/Google Scholar</a:t>
            </a:r>
          </a:p>
          <a:p>
            <a:pPr lvl="1"/>
            <a:r>
              <a:rPr dirty="0"/>
              <a:t>Web of Science</a:t>
            </a:r>
          </a:p>
          <a:p>
            <a:pPr lvl="1"/>
            <a:r>
              <a:rPr dirty="0"/>
              <a:t>PubMed</a:t>
            </a:r>
          </a:p>
          <a:p>
            <a:pPr lvl="1"/>
            <a:r>
              <a:rPr dirty="0"/>
              <a:t>Others: </a:t>
            </a:r>
            <a:r>
              <a:rPr u="sng" dirty="0">
                <a:hlinkClick r:id="rId2"/>
              </a:rPr>
              <a:t>https://guides.library.iit.edu/c.php?g=474723&amp;p=3248565</a:t>
            </a:r>
            <a:endParaRPr lang="en-US" u="sng" dirty="0">
              <a:hlinkClick r:id="rId2"/>
            </a:endParaRPr>
          </a:p>
          <a:p>
            <a:endParaRPr lang="en-US" u="sng" dirty="0">
              <a:hlinkClick r:id="rId2"/>
            </a:endParaRPr>
          </a:p>
          <a:p>
            <a:r>
              <a:rPr lang="en-US" dirty="0"/>
              <a:t>GPCR Database: </a:t>
            </a:r>
            <a:r>
              <a:rPr lang="en-US" dirty="0">
                <a:hlinkClick r:id="rId3"/>
              </a:rPr>
              <a:t>https://gpcrdb.org/</a:t>
            </a:r>
            <a:endParaRPr lang="en-US" dirty="0"/>
          </a:p>
          <a:p>
            <a:pPr lvl="1"/>
            <a:r>
              <a:rPr lang="en-US" dirty="0"/>
              <a:t>“</a:t>
            </a:r>
            <a:r>
              <a:rPr lang="en-US" dirty="0" err="1"/>
              <a:t>GPCRdb</a:t>
            </a:r>
            <a:r>
              <a:rPr lang="en-US" dirty="0"/>
              <a:t>, </a:t>
            </a:r>
            <a:r>
              <a:rPr lang="en-US" dirty="0" err="1"/>
              <a:t>GproteinDb</a:t>
            </a:r>
            <a:r>
              <a:rPr lang="en-US" dirty="0"/>
              <a:t>, </a:t>
            </a:r>
            <a:r>
              <a:rPr lang="en-US" dirty="0" err="1"/>
              <a:t>ArrestinDb</a:t>
            </a:r>
            <a:r>
              <a:rPr lang="en-US" dirty="0"/>
              <a:t> and Biased Signaling Atlas cover related aspects of signal transduction while serving dedicated research communities and use cases.”</a:t>
            </a:r>
          </a:p>
          <a:p>
            <a:r>
              <a:rPr lang="en-US" dirty="0"/>
              <a:t>PubChem: </a:t>
            </a:r>
            <a:r>
              <a:rPr lang="en-US" dirty="0">
                <a:hlinkClick r:id="rId4"/>
              </a:rPr>
              <a:t>https://pubchem.ncbi.nlm.nih.gov/</a:t>
            </a:r>
            <a:endParaRPr lang="en-US" dirty="0"/>
          </a:p>
          <a:p>
            <a:pPr lvl="1"/>
            <a:r>
              <a:rPr lang="en-US" dirty="0"/>
              <a:t>Includes biological activity of many chemical entities</a:t>
            </a:r>
          </a:p>
          <a:p>
            <a:pPr lvl="1"/>
            <a:r>
              <a:rPr lang="en-US" dirty="0"/>
              <a:t>Chemicals often identified by SMILES strings</a:t>
            </a:r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ccessing artic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Accessing articles</a:t>
            </a:r>
          </a:p>
        </p:txBody>
      </p:sp>
      <p:sp>
        <p:nvSpPr>
          <p:cNvPr id="151" name="Fre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Free</a:t>
            </a:r>
          </a:p>
          <a:p>
            <a:pPr lvl="1"/>
            <a:r>
              <a:t>Open access - article is free online. Usually requires larger author payment</a:t>
            </a:r>
          </a:p>
          <a:p>
            <a:pPr lvl="1"/>
            <a:r>
              <a:t>Many NIH-funded articles are available online after one year</a:t>
            </a:r>
          </a:p>
          <a:p>
            <a:pPr lvl="1"/>
            <a:r>
              <a:t>Preprint servers, e.g. bioarXiv - free, but may not be peer reviewed</a:t>
            </a:r>
          </a:p>
          <a:p>
            <a:pPr lvl="1"/>
            <a:r>
              <a:t>Sometimes available from authors on their websites or upon request</a:t>
            </a:r>
          </a:p>
          <a:p>
            <a:r>
              <a:t>Paywall</a:t>
            </a:r>
          </a:p>
          <a:p>
            <a:pPr lvl="1"/>
            <a:r>
              <a:t>IIT subscribes to a selection of scientific journals, which can be accessed</a:t>
            </a:r>
          </a:p>
          <a:p>
            <a:pPr lvl="2"/>
            <a:r>
              <a:t>in the library</a:t>
            </a:r>
          </a:p>
          <a:p>
            <a:pPr lvl="2"/>
            <a:r>
              <a:t>online from campus</a:t>
            </a:r>
          </a:p>
          <a:p>
            <a:pPr lvl="2"/>
            <a:r>
              <a:t>via a proxy server or VPN</a:t>
            </a:r>
          </a:p>
          <a:p>
            <a:pPr lvl="1"/>
            <a:r>
              <a:t>Interlibrary loan (MyILL) can be used to request nearly any article, but requires a lead time</a:t>
            </a:r>
          </a:p>
        </p:txBody>
      </p:sp>
      <p:sp>
        <p:nvSpPr>
          <p:cNvPr id="1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earch strateg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Search strategies</a:t>
            </a:r>
          </a:p>
        </p:txBody>
      </p:sp>
      <p:sp>
        <p:nvSpPr>
          <p:cNvPr id="155" name="Consider alternative names, e.g. coronavirus main protease and 3c-like proteas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Consider alternative names, e.g. coronavirus main protease and 3c-like protease.</a:t>
            </a:r>
          </a:p>
          <a:p>
            <a:r>
              <a:t>Proteins from different species are usually similar</a:t>
            </a:r>
          </a:p>
          <a:p>
            <a:r>
              <a:t>Look at citations</a:t>
            </a:r>
          </a:p>
          <a:p>
            <a:pPr lvl="1"/>
            <a:r>
              <a:t>cited by an article of interested</a:t>
            </a:r>
          </a:p>
          <a:p>
            <a:pPr lvl="1"/>
            <a:r>
              <a:t>that cite the article of interest</a:t>
            </a:r>
          </a:p>
          <a:p>
            <a:r>
              <a:t>A research group will often work on similar proteins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1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Zoter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Zotero</a:t>
            </a:r>
          </a:p>
        </p:txBody>
      </p:sp>
      <p:sp>
        <p:nvSpPr>
          <p:cNvPr id="159" name="Open source and fre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source and free</a:t>
            </a:r>
          </a:p>
          <a:p>
            <a:r>
              <a:t>Available online and as an application</a:t>
            </a:r>
          </a:p>
          <a:p>
            <a:r>
              <a:t>Automatically organizes manuscript files &amp; notes</a:t>
            </a:r>
          </a:p>
          <a:p>
            <a:r>
              <a:t>Allows sharing with others via group libraries</a:t>
            </a:r>
          </a:p>
          <a:p>
            <a:r>
              <a:t>Creates bibliographies</a:t>
            </a:r>
          </a:p>
          <a:p>
            <a:pPr lvl="1"/>
            <a:r>
              <a:t>linked with MS Word and Google Docs</a:t>
            </a:r>
          </a:p>
          <a:p>
            <a:pPr lvl="1"/>
            <a:r>
              <a:t>exportable to BibTeX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307</Words>
  <Application>Microsoft Macintosh PowerPoint</Application>
  <PresentationFormat>Custom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Avenir</vt:lpstr>
      <vt:lpstr>Helvetica</vt:lpstr>
      <vt:lpstr>Helvetica Light</vt:lpstr>
      <vt:lpstr>Helvetica Neue</vt:lpstr>
      <vt:lpstr>White</vt:lpstr>
      <vt:lpstr>2/4/2026</vt:lpstr>
      <vt:lpstr>Biochemistry-related databases</vt:lpstr>
      <vt:lpstr>Accessing articles</vt:lpstr>
      <vt:lpstr>Search strategies</vt:lpstr>
      <vt:lpstr>Zotero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3</cp:revision>
  <dcterms:modified xsi:type="dcterms:W3CDTF">2026-02-02T22:44:00Z</dcterms:modified>
</cp:coreProperties>
</file>