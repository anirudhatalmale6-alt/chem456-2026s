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56" r:id="rId2"/>
    <p:sldId id="275" r:id="rId3"/>
    <p:sldId id="276" r:id="rId4"/>
    <p:sldId id="269" r:id="rId5"/>
    <p:sldId id="279" r:id="rId6"/>
    <p:sldId id="277" r:id="rId7"/>
    <p:sldId id="259" r:id="rId8"/>
    <p:sldId id="260" r:id="rId9"/>
    <p:sldId id="261" r:id="rId10"/>
    <p:sldId id="262" r:id="rId11"/>
    <p:sldId id="282" r:id="rId12"/>
    <p:sldId id="283" r:id="rId13"/>
    <p:sldId id="284" r:id="rId14"/>
    <p:sldId id="2573" r:id="rId15"/>
    <p:sldId id="286" r:id="rId16"/>
    <p:sldId id="288" r:id="rId17"/>
    <p:sldId id="2565" r:id="rId18"/>
    <p:sldId id="2566" r:id="rId19"/>
    <p:sldId id="2569" r:id="rId20"/>
    <p:sldId id="2567" r:id="rId21"/>
    <p:sldId id="2571" r:id="rId22"/>
    <p:sldId id="2572" r:id="rId23"/>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1pPr>
    <a:lvl2pPr marL="0" marR="0" indent="228600" algn="ctr" defTabSz="821531"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2pPr>
    <a:lvl3pPr marL="0" marR="0" indent="457200" algn="ctr" defTabSz="821531"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3pPr>
    <a:lvl4pPr marL="0" marR="0" indent="685800" algn="ctr" defTabSz="821531"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4pPr>
    <a:lvl5pPr marL="0" marR="0" indent="914400" algn="ctr" defTabSz="821531"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5pPr>
    <a:lvl6pPr marL="0" marR="0" indent="1143000" algn="ctr" defTabSz="821531"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6pPr>
    <a:lvl7pPr marL="0" marR="0" indent="1371600" algn="ctr" defTabSz="821531"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7pPr>
    <a:lvl8pPr marL="0" marR="0" indent="1600200" algn="ctr" defTabSz="821531"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8pPr>
    <a:lvl9pPr marL="0" marR="0" indent="1828800" algn="ctr" defTabSz="821531"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9pPr>
  </p:defaultTextStyle>
  <p:extLst>
    <p:ext uri="{521415D9-36F7-43E2-AB2F-B90AF26B5E84}">
      <p14:sectionLst xmlns:p14="http://schemas.microsoft.com/office/powerpoint/2010/main">
        <p14:section name="Overview" id="{4BCF9042-DE76-8745-8B3C-D47ECA2060D7}">
          <p14:sldIdLst>
            <p14:sldId id="256"/>
          </p14:sldIdLst>
        </p14:section>
        <p14:section name="About" id="{CC21FBE4-8B9D-D64B-B9A8-52A6E6E5889A}">
          <p14:sldIdLst>
            <p14:sldId id="275"/>
            <p14:sldId id="276"/>
            <p14:sldId id="269"/>
            <p14:sldId id="279"/>
            <p14:sldId id="277"/>
          </p14:sldIdLst>
        </p14:section>
        <p14:section name="Introductions" id="{ED7C1AAD-0B44-6542-9CD0-CFC9DE17F034}">
          <p14:sldIdLst>
            <p14:sldId id="259"/>
            <p14:sldId id="260"/>
            <p14:sldId id="261"/>
            <p14:sldId id="262"/>
          </p14:sldIdLst>
        </p14:section>
        <p14:section name="High performance computing" id="{8CF17512-0B79-5D49-8225-B1A476E79BCA}">
          <p14:sldIdLst>
            <p14:sldId id="282"/>
            <p14:sldId id="283"/>
            <p14:sldId id="284"/>
            <p14:sldId id="2573"/>
          </p14:sldIdLst>
        </p14:section>
        <p14:section name="Linux" id="{7A7F8BD9-915F-F34C-BC43-F174EFB53CC8}">
          <p14:sldIdLst>
            <p14:sldId id="286"/>
            <p14:sldId id="288"/>
            <p14:sldId id="2565"/>
            <p14:sldId id="2566"/>
            <p14:sldId id="2569"/>
            <p14:sldId id="2567"/>
            <p14:sldId id="2571"/>
            <p14:sldId id="25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398CCE"/>
          </a:solidFill>
        </a:fill>
      </a:tcStyle>
    </a:firstCol>
    <a:lastRow>
      <a:tcTxStyle b="off" i="off">
        <a:fontRef idx="minor">
          <a:srgbClr val="000000"/>
        </a:fontRef>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n" i="off">
        <a:fontRef idx="major">
          <a:srgbClr val="FFFFFF"/>
        </a:fontRef>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5AC831"/>
          </a:solidFill>
        </a:fill>
      </a:tcStyle>
    </a:firstCol>
    <a:lastRow>
      <a:tcTxStyle b="off" i="off">
        <a:fontRef idx="minor">
          <a:srgbClr val="000000"/>
        </a:fontRef>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lastRow>
    <a:firstRow>
      <a:tcTxStyle b="on" i="off">
        <a:fontRef idx="major">
          <a:srgbClr val="FFFFFF"/>
        </a:fontRef>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2"/>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E6E3D7"/>
          </a:solidFill>
        </a:fill>
      </a:tcStyle>
    </a:wholeTbl>
    <a:band2H>
      <a:tcTxStyle/>
      <a:tcStyle>
        <a:tcBdr/>
        <a:fill>
          <a:solidFill>
            <a:srgbClr val="C3C2C2"/>
          </a:solidFill>
        </a:fill>
      </a:tcStyle>
    </a:band2H>
    <a:firstCol>
      <a:tcTxStyle b="on" i="off">
        <a:fontRef idx="maj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09C99"/>
          </a:solidFill>
        </a:fill>
      </a:tcStyle>
    </a:firstCol>
    <a:lastRow>
      <a:tcTxStyle b="on" i="off">
        <a:fontRef idx="maj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lastRow>
    <a:firstRow>
      <a:tcTxStyle b="on" i="off">
        <a:fontRef idx="maj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EBEBEB"/>
          </a:solidFill>
        </a:fill>
      </a:tcStyle>
    </a:wholeTbl>
    <a:band2H>
      <a:tcTxStyle/>
      <a:tcStyle>
        <a:tcBdr/>
        <a:fill>
          <a:solidFill>
            <a:srgbClr val="DCE5E6"/>
          </a:solidFill>
        </a:fill>
      </a:tcStyle>
    </a:band2H>
    <a:firstCol>
      <a:tcTxStyle b="on" i="off">
        <a:fontRef idx="major">
          <a:srgbClr val="FFFFFF"/>
        </a:fontRef>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Col>
    <a:lastRow>
      <a:tcTxStyle b="on" i="off">
        <a:fontRef idx="major">
          <a:srgbClr val="FFFFFF"/>
        </a:fontRef>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lastRow>
    <a:firstRow>
      <a:tcTxStyle b="on" i="off">
        <a:fontRef idx="major">
          <a:srgbClr val="FFFFFF"/>
        </a:fontRef>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D0D1D2"/>
          </a:solidFill>
        </a:fill>
      </a:tcStyle>
    </a:wholeTbl>
    <a:band2H>
      <a:tcTxStyle/>
      <a:tcStyle>
        <a:tcBdr/>
        <a:fill>
          <a:solidFill>
            <a:srgbClr val="DEDEDF"/>
          </a:solidFill>
        </a:fill>
      </a:tcStyle>
    </a:band2H>
    <a:firstCol>
      <a:tcTxStyle b="on" i="off">
        <a:fontRef idx="maj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761"/>
          </a:solidFill>
        </a:fill>
      </a:tcStyle>
    </a:firstCol>
    <a:lastRow>
      <a:tcTxStyle b="on" i="off">
        <a:fontRef idx="maj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909398"/>
          </a:solidFill>
        </a:fill>
      </a:tcStyle>
    </a:lastRow>
    <a:firstRow>
      <a:tcTxStyle b="on" i="off">
        <a:fontRef idx="maj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67C85"/>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Ref idx="major">
          <a:srgbClr val="000000"/>
        </a:fontRef>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Ref idx="major">
          <a:srgbClr val="000000"/>
        </a:fontRef>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Ref idx="major">
          <a:srgbClr val="000000"/>
        </a:fontRef>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962"/>
    <p:restoredTop sz="94665"/>
  </p:normalViewPr>
  <p:slideViewPr>
    <p:cSldViewPr snapToGrid="0">
      <p:cViewPr varScale="1">
        <p:scale>
          <a:sx n="62" d="100"/>
          <a:sy n="62" d="100"/>
        </p:scale>
        <p:origin x="304" y="4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5" name="Shape 175"/>
          <p:cNvSpPr>
            <a:spLocks noGrp="1" noRot="1" noChangeAspect="1"/>
          </p:cNvSpPr>
          <p:nvPr>
            <p:ph type="sldImg"/>
          </p:nvPr>
        </p:nvSpPr>
        <p:spPr>
          <a:xfrm>
            <a:off x="1143000" y="685800"/>
            <a:ext cx="4572000" cy="3429000"/>
          </a:xfrm>
          <a:prstGeom prst="rect">
            <a:avLst/>
          </a:prstGeom>
        </p:spPr>
        <p:txBody>
          <a:bodyPr/>
          <a:lstStyle/>
          <a:p>
            <a:endParaRPr/>
          </a:p>
        </p:txBody>
      </p:sp>
      <p:sp>
        <p:nvSpPr>
          <p:cNvPr id="176" name="Shape 176"/>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25000"/>
      </a:lnSpc>
      <a:defRPr sz="2400">
        <a:latin typeface="Avenir"/>
        <a:ea typeface="Avenir"/>
        <a:cs typeface="Avenir"/>
        <a:sym typeface="Avenir Roman"/>
      </a:defRPr>
    </a:lvl1pPr>
    <a:lvl2pPr indent="228600" defTabSz="457200" latinLnBrk="0">
      <a:lnSpc>
        <a:spcPct val="125000"/>
      </a:lnSpc>
      <a:defRPr sz="2400">
        <a:latin typeface="Avenir"/>
        <a:ea typeface="Avenir"/>
        <a:cs typeface="Avenir"/>
        <a:sym typeface="Avenir Roman"/>
      </a:defRPr>
    </a:lvl2pPr>
    <a:lvl3pPr indent="457200" defTabSz="457200" latinLnBrk="0">
      <a:lnSpc>
        <a:spcPct val="125000"/>
      </a:lnSpc>
      <a:defRPr sz="2400">
        <a:latin typeface="Avenir"/>
        <a:ea typeface="Avenir"/>
        <a:cs typeface="Avenir"/>
        <a:sym typeface="Avenir Roman"/>
      </a:defRPr>
    </a:lvl3pPr>
    <a:lvl4pPr indent="685800" defTabSz="457200" latinLnBrk="0">
      <a:lnSpc>
        <a:spcPct val="125000"/>
      </a:lnSpc>
      <a:defRPr sz="2400">
        <a:latin typeface="Avenir"/>
        <a:ea typeface="Avenir"/>
        <a:cs typeface="Avenir"/>
        <a:sym typeface="Avenir Roman"/>
      </a:defRPr>
    </a:lvl4pPr>
    <a:lvl5pPr indent="914400" defTabSz="457200" latinLnBrk="0">
      <a:lnSpc>
        <a:spcPct val="125000"/>
      </a:lnSpc>
      <a:defRPr sz="2400">
        <a:latin typeface="Avenir"/>
        <a:ea typeface="Avenir"/>
        <a:cs typeface="Avenir"/>
        <a:sym typeface="Avenir Roman"/>
      </a:defRPr>
    </a:lvl5pPr>
    <a:lvl6pPr indent="1143000" defTabSz="457200" latinLnBrk="0">
      <a:lnSpc>
        <a:spcPct val="125000"/>
      </a:lnSpc>
      <a:defRPr sz="2400">
        <a:latin typeface="Avenir"/>
        <a:ea typeface="Avenir"/>
        <a:cs typeface="Avenir"/>
        <a:sym typeface="Avenir Roman"/>
      </a:defRPr>
    </a:lvl6pPr>
    <a:lvl7pPr indent="1371600" defTabSz="457200" latinLnBrk="0">
      <a:lnSpc>
        <a:spcPct val="125000"/>
      </a:lnSpc>
      <a:defRPr sz="2400">
        <a:latin typeface="Avenir"/>
        <a:ea typeface="Avenir"/>
        <a:cs typeface="Avenir"/>
        <a:sym typeface="Avenir Roman"/>
      </a:defRPr>
    </a:lvl7pPr>
    <a:lvl8pPr indent="1600200" defTabSz="457200" latinLnBrk="0">
      <a:lnSpc>
        <a:spcPct val="125000"/>
      </a:lnSpc>
      <a:defRPr sz="2400">
        <a:latin typeface="Avenir"/>
        <a:ea typeface="Avenir"/>
        <a:cs typeface="Avenir"/>
        <a:sym typeface="Avenir Roman"/>
      </a:defRPr>
    </a:lvl8pPr>
    <a:lvl9pPr indent="1828800" defTabSz="457200" latinLnBrk="0">
      <a:lnSpc>
        <a:spcPct val="125000"/>
      </a:lnSpc>
      <a:defRPr sz="2400">
        <a:latin typeface="Avenir"/>
        <a:ea typeface="Avenir"/>
        <a:cs typeface="Avenir"/>
        <a:sym typeface="Avenir Roman"/>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875414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1141BB-886C-2D6B-CFF4-8AC656B6DE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869D12-C6D6-4DD6-E9DD-50253686991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4B805A9-DE4F-90EE-90E6-8119A7D4D681}"/>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762811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Review syllabus in class</a:t>
            </a:r>
          </a:p>
        </p:txBody>
      </p:sp>
    </p:spTree>
    <p:extLst>
      <p:ext uri="{BB962C8B-B14F-4D97-AF65-F5344CB8AC3E}">
        <p14:creationId xmlns:p14="http://schemas.microsoft.com/office/powerpoint/2010/main" val="8003293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6130044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11124A-1990-DD3C-92A8-8234D78E43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4EDF5B-EDB2-ACDE-48BA-1668A31680F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6E1BD22-8FE7-9A34-5C4B-F69C9F80DC78}"/>
              </a:ext>
            </a:extLst>
          </p:cNvPr>
          <p:cNvSpPr>
            <a:spLocks noGrp="1"/>
          </p:cNvSpPr>
          <p:nvPr>
            <p:ph type="body" idx="1"/>
          </p:nvPr>
        </p:nvSpPr>
        <p:spPr/>
        <p:txBody>
          <a:bodyPr/>
          <a:lstStyle/>
          <a:p>
            <a:r>
              <a:rPr lang="en-US" dirty="0"/>
              <a:t>Review syllabus in class</a:t>
            </a:r>
          </a:p>
        </p:txBody>
      </p:sp>
    </p:spTree>
    <p:extLst>
      <p:ext uri="{BB962C8B-B14F-4D97-AF65-F5344CB8AC3E}">
        <p14:creationId xmlns:p14="http://schemas.microsoft.com/office/powerpoint/2010/main" val="17056872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1038309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
The shell, commonly bash on HPC systems, is a command interpreter that reads user input and executes programs. It is the backbone of Linux interaction, enabling navigation, file manipulation, and execution of scripts. Key commands include 'pwd' to print the current directory, 'ls' to list files, and 'cd' to change directories. File operations such as 'mkdir' for creating directories, 'cp' for copying files, 'mv' for moving or renaming, and 'rm' for deletion are fundamental. Beginners should use 'rm -i' to avoid accidental deletions. Advanced shell features include redirection and piping, which allow chaining commands and managing input/output streams efficiently. For help, commands like 'man &lt;command&gt;' or '&lt;command&gt; --help' provide detailed usage instructions. Understanding the shell is critical because batch job scripts, which automate computations on HPC clusters, are essentially shell scripts executed non-interactively.</a:t>
            </a:r>
          </a:p>
        </p:txBody>
      </p:sp>
      <p:sp>
        <p:nvSpPr>
          <p:cNvPr id="4" name="Slide Number Placeholder 3"/>
          <p:cNvSpPr>
            <a:spLocks noGrp="1"/>
          </p:cNvSpPr>
          <p:nvPr>
            <p:ph type="sldNum" sz="quarter" idx="5"/>
          </p:nvPr>
        </p:nvSpPr>
        <p:spPr/>
        <p:txBody>
          <a:bodyPr/>
          <a:lstStyle/>
          <a:p>
            <a:fld id="{38EFF46E-6B43-41F9-9272-B566D03A251C}" type="slidenum">
              <a:rPr lang="en-US" smtClean="0"/>
              <a:t>17</a:t>
            </a:fld>
            <a:endParaRPr lang="en-US"/>
          </a:p>
        </p:txBody>
      </p:sp>
    </p:spTree>
    <p:extLst>
      <p:ext uri="{BB962C8B-B14F-4D97-AF65-F5344CB8AC3E}">
        <p14:creationId xmlns:p14="http://schemas.microsoft.com/office/powerpoint/2010/main" val="31631262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
Linux organizes storage as a hierarchical directory tree starting at the root '/'. Paths can be absolute, beginning with '/', or relative, starting from the current directory. HPC environments typically provide multiple storage areas: home directories for configuration files, project spaces for collaborative work, and scratch spaces for temporary high-speed storage. Commands like 'df -h' display available disk space, while 'du -sh *' shows the size of items in the current directory. Understanding paths and storage types is essential for efficient data management and avoiding accidental data loss. Permissions also play a role in file accessibility, and users must be aware of where their data resides to optimize performance and comply with storage policies.</a:t>
            </a:r>
          </a:p>
        </p:txBody>
      </p:sp>
      <p:sp>
        <p:nvSpPr>
          <p:cNvPr id="4" name="Slide Number Placeholder 3"/>
          <p:cNvSpPr>
            <a:spLocks noGrp="1"/>
          </p:cNvSpPr>
          <p:nvPr>
            <p:ph type="sldNum" sz="quarter" idx="5"/>
          </p:nvPr>
        </p:nvSpPr>
        <p:spPr/>
        <p:txBody>
          <a:bodyPr/>
          <a:lstStyle/>
          <a:p>
            <a:fld id="{38EFF46E-6B43-41F9-9272-B566D03A251C}" type="slidenum">
              <a:rPr lang="en-US" smtClean="0"/>
              <a:t>18</a:t>
            </a:fld>
            <a:endParaRPr lang="en-US"/>
          </a:p>
        </p:txBody>
      </p:sp>
    </p:spTree>
    <p:extLst>
      <p:ext uri="{BB962C8B-B14F-4D97-AF65-F5344CB8AC3E}">
        <p14:creationId xmlns:p14="http://schemas.microsoft.com/office/powerpoint/2010/main" val="14965311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en-US" dirty="0"/>
              <a:t>T</a:t>
            </a:r>
            <a:r>
              <a:rPr dirty="0"/>
              <a:t>ip: Use relative paths inside a project; use absolute paths in scripts that may run from anywhere.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
Linux permissions determine who can read, write, or execute a file. They are displayed using 'ls -l', which shows attributes like '-rwxr-x---', indicating permissions for the user, group, and others. 'r' stands for read, 'w' for write, and 'x' for execute. To make a script executable, use 'chmod +x script.sh'. Proper permission management ensures security and prevents unauthorized modifications. In HPC environments, permissions also affect collaborative workflows, as shared directories often rely on group-based access. Misconfigured permissions can lead to errors such as 'Permission denied,' so understanding and managing them is crucial for smooth operations.</a:t>
            </a:r>
          </a:p>
        </p:txBody>
      </p:sp>
      <p:sp>
        <p:nvSpPr>
          <p:cNvPr id="4" name="Slide Number Placeholder 3"/>
          <p:cNvSpPr>
            <a:spLocks noGrp="1"/>
          </p:cNvSpPr>
          <p:nvPr>
            <p:ph type="sldNum" sz="quarter" idx="5"/>
          </p:nvPr>
        </p:nvSpPr>
        <p:spPr/>
        <p:txBody>
          <a:bodyPr/>
          <a:lstStyle/>
          <a:p>
            <a:fld id="{38EFF46E-6B43-41F9-9272-B566D03A251C}" type="slidenum">
              <a:rPr lang="en-US" smtClean="0"/>
              <a:t>20</a:t>
            </a:fld>
            <a:endParaRPr lang="en-US"/>
          </a:p>
        </p:txBody>
      </p:sp>
    </p:spTree>
    <p:extLst>
      <p:ext uri="{BB962C8B-B14F-4D97-AF65-F5344CB8AC3E}">
        <p14:creationId xmlns:p14="http://schemas.microsoft.com/office/powerpoint/2010/main" val="6303758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amp; Subtitle">
    <p:spTree>
      <p:nvGrpSpPr>
        <p:cNvPr id="1" name=""/>
        <p:cNvGrpSpPr/>
        <p:nvPr/>
      </p:nvGrpSpPr>
      <p:grpSpPr>
        <a:xfrm>
          <a:off x="0" y="0"/>
          <a:ext cx="0" cy="0"/>
          <a:chOff x="0" y="0"/>
          <a:chExt cx="0" cy="0"/>
        </a:xfrm>
      </p:grpSpPr>
      <p:sp>
        <p:nvSpPr>
          <p:cNvPr id="11" name="Title Text"/>
          <p:cNvSpPr txBox="1">
            <a:spLocks noGrp="1"/>
          </p:cNvSpPr>
          <p:nvPr>
            <p:ph type="title"/>
          </p:nvPr>
        </p:nvSpPr>
        <p:spPr>
          <a:xfrm>
            <a:off x="4833937" y="2303859"/>
            <a:ext cx="14716126" cy="4643438"/>
          </a:xfrm>
          <a:prstGeom prst="rect">
            <a:avLst/>
          </a:prstGeom>
        </p:spPr>
        <p:txBody>
          <a:bodyPr anchor="b"/>
          <a:lstStyle/>
          <a:p>
            <a:r>
              <a:t>Title Text</a:t>
            </a:r>
          </a:p>
        </p:txBody>
      </p:sp>
      <p:sp>
        <p:nvSpPr>
          <p:cNvPr id="12" name="Body Level One…"/>
          <p:cNvSpPr txBox="1">
            <a:spLocks noGrp="1"/>
          </p:cNvSpPr>
          <p:nvPr>
            <p:ph type="body" sz="quarter" idx="1"/>
          </p:nvPr>
        </p:nvSpPr>
        <p:spPr>
          <a:xfrm>
            <a:off x="4833937" y="7072312"/>
            <a:ext cx="14716126" cy="1589485"/>
          </a:xfrm>
          <a:prstGeom prst="rect">
            <a:avLst/>
          </a:prstGeom>
        </p:spPr>
        <p:txBody>
          <a:bodyPr anchor="t"/>
          <a:lstStyle>
            <a:lvl1pPr marL="0" indent="0" algn="ctr">
              <a:buSzTx/>
              <a:buNone/>
              <a:defRPr sz="4400"/>
            </a:lvl1pPr>
            <a:lvl2pPr marL="0" indent="228600" algn="ctr">
              <a:buSzTx/>
              <a:buNone/>
              <a:defRPr sz="4400"/>
            </a:lvl2pPr>
            <a:lvl3pPr marL="0" indent="457200" algn="ctr">
              <a:buSzTx/>
              <a:buNone/>
              <a:defRPr sz="4400"/>
            </a:lvl3pPr>
            <a:lvl4pPr marL="0" indent="685800" algn="ctr">
              <a:buSzTx/>
              <a:buNone/>
              <a:defRPr sz="4400"/>
            </a:lvl4pPr>
            <a:lvl5pPr marL="0" indent="914400" algn="ctr">
              <a:buSzTx/>
              <a:buNone/>
              <a:defRPr sz="4400"/>
            </a:lvl5pPr>
          </a:lstStyle>
          <a:p>
            <a:r>
              <a:t>Body Level One</a:t>
            </a:r>
          </a:p>
          <a:p>
            <a:pPr lvl="1"/>
            <a:r>
              <a:t>Body Level Two</a:t>
            </a:r>
          </a:p>
          <a:p>
            <a:pPr lvl="2"/>
            <a:r>
              <a:t>Body Level Three</a:t>
            </a:r>
          </a:p>
          <a:p>
            <a:pPr lvl="3"/>
            <a:r>
              <a:t>Body Level Four</a:t>
            </a:r>
          </a:p>
          <a:p>
            <a:pPr lvl="4"/>
            <a:r>
              <a:t>Body Level Five</a:t>
            </a:r>
          </a:p>
        </p:txBody>
      </p:sp>
      <p:sp>
        <p:nvSpPr>
          <p:cNvPr id="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Photo - Horizontal">
    <p:spTree>
      <p:nvGrpSpPr>
        <p:cNvPr id="1" name=""/>
        <p:cNvGrpSpPr/>
        <p:nvPr/>
      </p:nvGrpSpPr>
      <p:grpSpPr>
        <a:xfrm>
          <a:off x="0" y="0"/>
          <a:ext cx="0" cy="0"/>
          <a:chOff x="0" y="0"/>
          <a:chExt cx="0" cy="0"/>
        </a:xfrm>
      </p:grpSpPr>
      <p:sp>
        <p:nvSpPr>
          <p:cNvPr id="20" name="Image"/>
          <p:cNvSpPr>
            <a:spLocks noGrp="1"/>
          </p:cNvSpPr>
          <p:nvPr>
            <p:ph type="pic" sz="half" idx="21"/>
          </p:nvPr>
        </p:nvSpPr>
        <p:spPr>
          <a:xfrm>
            <a:off x="5307210" y="892968"/>
            <a:ext cx="13751720" cy="9172589"/>
          </a:xfrm>
          <a:prstGeom prst="rect">
            <a:avLst/>
          </a:prstGeom>
        </p:spPr>
        <p:txBody>
          <a:bodyPr lIns="91439" tIns="45719" rIns="91439" bIns="45719" anchor="t">
            <a:noAutofit/>
          </a:bodyPr>
          <a:lstStyle/>
          <a:p>
            <a:endParaRPr/>
          </a:p>
        </p:txBody>
      </p:sp>
      <p:sp>
        <p:nvSpPr>
          <p:cNvPr id="21" name="Title Text"/>
          <p:cNvSpPr txBox="1">
            <a:spLocks noGrp="1"/>
          </p:cNvSpPr>
          <p:nvPr>
            <p:ph type="title"/>
          </p:nvPr>
        </p:nvSpPr>
        <p:spPr>
          <a:xfrm>
            <a:off x="4833937" y="9447609"/>
            <a:ext cx="14716126" cy="2000251"/>
          </a:xfrm>
          <a:prstGeom prst="rect">
            <a:avLst/>
          </a:prstGeom>
        </p:spPr>
        <p:txBody>
          <a:bodyPr anchor="b"/>
          <a:lstStyle/>
          <a:p>
            <a:r>
              <a:t>Title Text</a:t>
            </a:r>
          </a:p>
        </p:txBody>
      </p:sp>
      <p:sp>
        <p:nvSpPr>
          <p:cNvPr id="22" name="Body Level One…"/>
          <p:cNvSpPr txBox="1">
            <a:spLocks noGrp="1"/>
          </p:cNvSpPr>
          <p:nvPr>
            <p:ph type="body" sz="quarter" idx="1"/>
          </p:nvPr>
        </p:nvSpPr>
        <p:spPr>
          <a:xfrm>
            <a:off x="4833937" y="11519296"/>
            <a:ext cx="14716126" cy="1589486"/>
          </a:xfrm>
          <a:prstGeom prst="rect">
            <a:avLst/>
          </a:prstGeom>
        </p:spPr>
        <p:txBody>
          <a:bodyPr anchor="t"/>
          <a:lstStyle>
            <a:lvl1pPr marL="0" indent="0" algn="ctr">
              <a:buSzTx/>
              <a:buNone/>
              <a:defRPr sz="4400"/>
            </a:lvl1pPr>
            <a:lvl2pPr marL="0" indent="228600" algn="ctr">
              <a:buSzTx/>
              <a:buNone/>
              <a:defRPr sz="4400"/>
            </a:lvl2pPr>
            <a:lvl3pPr marL="0" indent="457200" algn="ctr">
              <a:buSzTx/>
              <a:buNone/>
              <a:defRPr sz="4400"/>
            </a:lvl3pPr>
            <a:lvl4pPr marL="0" indent="685800" algn="ctr">
              <a:buSzTx/>
              <a:buNone/>
              <a:defRPr sz="4400"/>
            </a:lvl4pPr>
            <a:lvl5pPr marL="0" indent="914400" algn="ctr">
              <a:buSzTx/>
              <a:buNone/>
              <a:defRPr sz="4400"/>
            </a:lvl5pPr>
          </a:lstStyle>
          <a:p>
            <a:r>
              <a:t>Body Level One</a:t>
            </a:r>
          </a:p>
          <a:p>
            <a:pPr lvl="1"/>
            <a:r>
              <a:t>Body Level Two</a:t>
            </a:r>
          </a:p>
          <a:p>
            <a:pPr lvl="2"/>
            <a:r>
              <a:t>Body Level Three</a:t>
            </a:r>
          </a:p>
          <a:p>
            <a:pPr lvl="3"/>
            <a:r>
              <a:t>Body Level Four</a:t>
            </a:r>
          </a:p>
          <a:p>
            <a:pPr lvl="4"/>
            <a:r>
              <a:t>Body Level Five</a:t>
            </a:r>
          </a:p>
        </p:txBody>
      </p:sp>
      <p:sp>
        <p:nvSpPr>
          <p:cNvPr id="23" name="Slide Number"/>
          <p:cNvSpPr txBox="1">
            <a:spLocks noGrp="1"/>
          </p:cNvSpPr>
          <p:nvPr>
            <p:ph type="sldNum" sz="quarter" idx="2"/>
          </p:nvPr>
        </p:nvSpPr>
        <p:spPr>
          <a:xfrm>
            <a:off x="11935814" y="13001625"/>
            <a:ext cx="494513" cy="511175"/>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 Center">
    <p:spTree>
      <p:nvGrpSpPr>
        <p:cNvPr id="1" name=""/>
        <p:cNvGrpSpPr/>
        <p:nvPr/>
      </p:nvGrpSpPr>
      <p:grpSpPr>
        <a:xfrm>
          <a:off x="0" y="0"/>
          <a:ext cx="0" cy="0"/>
          <a:chOff x="0" y="0"/>
          <a:chExt cx="0" cy="0"/>
        </a:xfrm>
      </p:grpSpPr>
      <p:sp>
        <p:nvSpPr>
          <p:cNvPr id="30" name="Title Text"/>
          <p:cNvSpPr txBox="1">
            <a:spLocks noGrp="1"/>
          </p:cNvSpPr>
          <p:nvPr>
            <p:ph type="title"/>
          </p:nvPr>
        </p:nvSpPr>
        <p:spPr>
          <a:xfrm>
            <a:off x="4833937" y="4536281"/>
            <a:ext cx="14716126" cy="4643438"/>
          </a:xfrm>
          <a:prstGeom prst="rect">
            <a:avLst/>
          </a:prstGeom>
        </p:spPr>
        <p:txBody>
          <a:bodyPr/>
          <a:lstStyle/>
          <a:p>
            <a:r>
              <a:t>Title Text</a:t>
            </a:r>
          </a:p>
        </p:txBody>
      </p:sp>
      <p:sp>
        <p:nvSpPr>
          <p:cNvPr id="3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Photo - Vertical">
    <p:spTree>
      <p:nvGrpSpPr>
        <p:cNvPr id="1" name=""/>
        <p:cNvGrpSpPr/>
        <p:nvPr/>
      </p:nvGrpSpPr>
      <p:grpSpPr>
        <a:xfrm>
          <a:off x="0" y="0"/>
          <a:ext cx="0" cy="0"/>
          <a:chOff x="0" y="0"/>
          <a:chExt cx="0" cy="0"/>
        </a:xfrm>
      </p:grpSpPr>
      <p:sp>
        <p:nvSpPr>
          <p:cNvPr id="38" name="Image"/>
          <p:cNvSpPr>
            <a:spLocks noGrp="1"/>
          </p:cNvSpPr>
          <p:nvPr>
            <p:ph type="pic" idx="21"/>
          </p:nvPr>
        </p:nvSpPr>
        <p:spPr>
          <a:xfrm>
            <a:off x="6869906" y="892968"/>
            <a:ext cx="17377173" cy="11584782"/>
          </a:xfrm>
          <a:prstGeom prst="rect">
            <a:avLst/>
          </a:prstGeom>
        </p:spPr>
        <p:txBody>
          <a:bodyPr lIns="91439" tIns="45719" rIns="91439" bIns="45719" anchor="t">
            <a:noAutofit/>
          </a:bodyPr>
          <a:lstStyle/>
          <a:p>
            <a:endParaRPr/>
          </a:p>
        </p:txBody>
      </p:sp>
      <p:sp>
        <p:nvSpPr>
          <p:cNvPr id="39" name="Title Text"/>
          <p:cNvSpPr txBox="1">
            <a:spLocks noGrp="1"/>
          </p:cNvSpPr>
          <p:nvPr>
            <p:ph type="title"/>
          </p:nvPr>
        </p:nvSpPr>
        <p:spPr>
          <a:xfrm>
            <a:off x="4387453" y="892968"/>
            <a:ext cx="7500938" cy="5607845"/>
          </a:xfrm>
          <a:prstGeom prst="rect">
            <a:avLst/>
          </a:prstGeom>
        </p:spPr>
        <p:txBody>
          <a:bodyPr anchor="b"/>
          <a:lstStyle>
            <a:lvl1pPr>
              <a:defRPr sz="8400" b="0">
                <a:latin typeface="+mn-lt"/>
                <a:ea typeface="+mn-ea"/>
                <a:cs typeface="+mn-cs"/>
                <a:sym typeface="Helvetica Light"/>
              </a:defRPr>
            </a:lvl1pPr>
          </a:lstStyle>
          <a:p>
            <a:r>
              <a:t>Title Text</a:t>
            </a:r>
          </a:p>
        </p:txBody>
      </p:sp>
      <p:sp>
        <p:nvSpPr>
          <p:cNvPr id="40" name="Body Level One…"/>
          <p:cNvSpPr txBox="1">
            <a:spLocks noGrp="1"/>
          </p:cNvSpPr>
          <p:nvPr>
            <p:ph type="body" sz="quarter" idx="1"/>
          </p:nvPr>
        </p:nvSpPr>
        <p:spPr>
          <a:xfrm>
            <a:off x="4387453" y="6697265"/>
            <a:ext cx="7500938" cy="5768579"/>
          </a:xfrm>
          <a:prstGeom prst="rect">
            <a:avLst/>
          </a:prstGeom>
        </p:spPr>
        <p:txBody>
          <a:bodyPr anchor="t"/>
          <a:lstStyle>
            <a:lvl1pPr marL="0" indent="0" algn="ctr">
              <a:buSzTx/>
              <a:buNone/>
              <a:defRPr sz="4400"/>
            </a:lvl1pPr>
            <a:lvl2pPr marL="0" indent="228600" algn="ctr">
              <a:buSzTx/>
              <a:buNone/>
              <a:defRPr sz="4400"/>
            </a:lvl2pPr>
            <a:lvl3pPr marL="0" indent="457200" algn="ctr">
              <a:buSzTx/>
              <a:buNone/>
              <a:defRPr sz="4400"/>
            </a:lvl3pPr>
            <a:lvl4pPr marL="0" indent="685800" algn="ctr">
              <a:buSzTx/>
              <a:buNone/>
              <a:defRPr sz="4400"/>
            </a:lvl4pPr>
            <a:lvl5pPr marL="0" indent="914400" algn="ctr">
              <a:buSzTx/>
              <a:buNone/>
              <a:defRPr sz="4400"/>
            </a:lvl5pPr>
          </a:lstStyle>
          <a:p>
            <a:r>
              <a:t>Body Level One</a:t>
            </a:r>
          </a:p>
          <a:p>
            <a:pPr lvl="1"/>
            <a:r>
              <a:t>Body Level Two</a:t>
            </a:r>
          </a:p>
          <a:p>
            <a:pPr lvl="2"/>
            <a:r>
              <a:t>Body Level Three</a:t>
            </a:r>
          </a:p>
          <a:p>
            <a:pPr lvl="3"/>
            <a:r>
              <a:t>Body Level Four</a:t>
            </a:r>
          </a:p>
          <a:p>
            <a:pPr lvl="4"/>
            <a:r>
              <a:t>Body Level Five</a:t>
            </a:r>
          </a:p>
        </p:txBody>
      </p:sp>
      <p:sp>
        <p:nvSpPr>
          <p:cNvPr id="4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48" name="Title Text"/>
          <p:cNvSpPr txBox="1">
            <a:spLocks noGrp="1"/>
          </p:cNvSpPr>
          <p:nvPr>
            <p:ph type="title"/>
          </p:nvPr>
        </p:nvSpPr>
        <p:spPr>
          <a:xfrm>
            <a:off x="4387453" y="625078"/>
            <a:ext cx="15609094" cy="3036094"/>
          </a:xfrm>
          <a:prstGeom prst="rect">
            <a:avLst/>
          </a:prstGeom>
        </p:spPr>
        <p:txBody>
          <a:bodyPr/>
          <a:lstStyle/>
          <a:p>
            <a:r>
              <a:t>Title Text</a:t>
            </a:r>
          </a:p>
        </p:txBody>
      </p:sp>
      <p:sp>
        <p:nvSpPr>
          <p:cNvPr id="4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56" name="Title Text"/>
          <p:cNvSpPr txBox="1">
            <a:spLocks noGrp="1"/>
          </p:cNvSpPr>
          <p:nvPr>
            <p:ph type="title"/>
          </p:nvPr>
        </p:nvSpPr>
        <p:spPr>
          <a:prstGeom prst="rect">
            <a:avLst/>
          </a:prstGeom>
        </p:spPr>
        <p:txBody>
          <a:bodyPr/>
          <a:lstStyle/>
          <a:p>
            <a:r>
              <a:t>Title Text</a:t>
            </a:r>
          </a:p>
        </p:txBody>
      </p:sp>
      <p:sp>
        <p:nvSpPr>
          <p:cNvPr id="57"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5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75" name="Body Level One…"/>
          <p:cNvSpPr txBox="1">
            <a:spLocks noGrp="1"/>
          </p:cNvSpPr>
          <p:nvPr>
            <p:ph type="body" idx="1"/>
          </p:nvPr>
        </p:nvSpPr>
        <p:spPr>
          <a:xfrm>
            <a:off x="4387453" y="1785937"/>
            <a:ext cx="15609094" cy="10144126"/>
          </a:xfrm>
          <a:prstGeom prst="rect">
            <a:avLst/>
          </a:prstGeom>
        </p:spPr>
        <p:txBody>
          <a:bodyPr/>
          <a:lstStyle>
            <a:lvl1pPr>
              <a:spcBef>
                <a:spcPts val="5900"/>
              </a:spcBef>
            </a:lvl1pPr>
            <a:lvl2pPr>
              <a:spcBef>
                <a:spcPts val="5900"/>
              </a:spcBef>
            </a:lvl2pPr>
            <a:lvl3pPr>
              <a:spcBef>
                <a:spcPts val="5900"/>
              </a:spcBef>
            </a:lvl3pPr>
            <a:lvl4pPr>
              <a:spcBef>
                <a:spcPts val="5900"/>
              </a:spcBef>
            </a:lvl4pPr>
            <a:lvl5pPr>
              <a:spcBef>
                <a:spcPts val="5900"/>
              </a:spcBef>
            </a:lvl5pPr>
          </a:lstStyle>
          <a:p>
            <a:r>
              <a:t>Body Level One</a:t>
            </a:r>
          </a:p>
          <a:p>
            <a:pPr lvl="1"/>
            <a:r>
              <a:t>Body Level Two</a:t>
            </a:r>
          </a:p>
          <a:p>
            <a:pPr lvl="2"/>
            <a:r>
              <a:t>Body Level Three</a:t>
            </a:r>
          </a:p>
          <a:p>
            <a:pPr lvl="3"/>
            <a:r>
              <a:t>Body Level Four</a:t>
            </a:r>
          </a:p>
          <a:p>
            <a:pPr lvl="4"/>
            <a:r>
              <a:t>Body Level Five</a:t>
            </a:r>
          </a:p>
        </p:txBody>
      </p:sp>
      <p:sp>
        <p:nvSpPr>
          <p:cNvPr id="7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83" name="Image"/>
          <p:cNvSpPr>
            <a:spLocks noGrp="1"/>
          </p:cNvSpPr>
          <p:nvPr>
            <p:ph type="pic" idx="21"/>
          </p:nvPr>
        </p:nvSpPr>
        <p:spPr>
          <a:xfrm>
            <a:off x="-291704" y="1250156"/>
            <a:ext cx="16841392" cy="11227594"/>
          </a:xfrm>
          <a:prstGeom prst="rect">
            <a:avLst/>
          </a:prstGeom>
        </p:spPr>
        <p:txBody>
          <a:bodyPr lIns="91439" tIns="45719" rIns="91439" bIns="45719" anchor="t">
            <a:noAutofit/>
          </a:bodyPr>
          <a:lstStyle/>
          <a:p>
            <a:endParaRPr/>
          </a:p>
        </p:txBody>
      </p:sp>
      <p:sp>
        <p:nvSpPr>
          <p:cNvPr id="84" name="Image"/>
          <p:cNvSpPr>
            <a:spLocks noGrp="1"/>
          </p:cNvSpPr>
          <p:nvPr>
            <p:ph type="pic" sz="quarter" idx="22"/>
          </p:nvPr>
        </p:nvSpPr>
        <p:spPr>
          <a:xfrm>
            <a:off x="12442031" y="7069144"/>
            <a:ext cx="8518923" cy="5682241"/>
          </a:xfrm>
          <a:prstGeom prst="rect">
            <a:avLst/>
          </a:prstGeom>
        </p:spPr>
        <p:txBody>
          <a:bodyPr lIns="91439" tIns="45719" rIns="91439" bIns="45719" anchor="t">
            <a:noAutofit/>
          </a:bodyPr>
          <a:lstStyle/>
          <a:p>
            <a:endParaRPr/>
          </a:p>
        </p:txBody>
      </p:sp>
      <p:sp>
        <p:nvSpPr>
          <p:cNvPr id="85" name="Image"/>
          <p:cNvSpPr>
            <a:spLocks noGrp="1"/>
          </p:cNvSpPr>
          <p:nvPr>
            <p:ph type="pic" sz="quarter" idx="23"/>
          </p:nvPr>
        </p:nvSpPr>
        <p:spPr>
          <a:xfrm>
            <a:off x="12192000" y="1246988"/>
            <a:ext cx="8251032" cy="5500689"/>
          </a:xfrm>
          <a:prstGeom prst="rect">
            <a:avLst/>
          </a:prstGeom>
        </p:spPr>
        <p:txBody>
          <a:bodyPr lIns="91439" tIns="45719" rIns="91439" bIns="45719" anchor="t">
            <a:noAutofit/>
          </a:bodyPr>
          <a:lstStyle/>
          <a:p>
            <a:endParaRPr/>
          </a:p>
        </p:txBody>
      </p:sp>
      <p:sp>
        <p:nvSpPr>
          <p:cNvPr id="8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Quote">
    <p:spTree>
      <p:nvGrpSpPr>
        <p:cNvPr id="1" name=""/>
        <p:cNvGrpSpPr/>
        <p:nvPr/>
      </p:nvGrpSpPr>
      <p:grpSpPr>
        <a:xfrm>
          <a:off x="0" y="0"/>
          <a:ext cx="0" cy="0"/>
          <a:chOff x="0" y="0"/>
          <a:chExt cx="0" cy="0"/>
        </a:xfrm>
      </p:grpSpPr>
      <p:sp>
        <p:nvSpPr>
          <p:cNvPr id="93" name="–Johnny Appleseed"/>
          <p:cNvSpPr txBox="1">
            <a:spLocks noGrp="1"/>
          </p:cNvSpPr>
          <p:nvPr>
            <p:ph type="body" sz="quarter" idx="21"/>
          </p:nvPr>
        </p:nvSpPr>
        <p:spPr>
          <a:xfrm>
            <a:off x="4833937" y="8947546"/>
            <a:ext cx="14716126" cy="660798"/>
          </a:xfrm>
          <a:prstGeom prst="rect">
            <a:avLst/>
          </a:prstGeom>
        </p:spPr>
        <p:txBody>
          <a:bodyPr anchor="t">
            <a:spAutoFit/>
          </a:bodyPr>
          <a:lstStyle>
            <a:lvl1pPr marL="0" indent="0" algn="ctr">
              <a:buSzTx/>
              <a:buNone/>
              <a:defRPr sz="3200">
                <a:latin typeface="+mj-lt"/>
                <a:ea typeface="+mj-ea"/>
                <a:cs typeface="+mj-cs"/>
                <a:sym typeface="Helvetica"/>
              </a:defRPr>
            </a:lvl1pPr>
          </a:lstStyle>
          <a:p>
            <a:r>
              <a:t>–Johnny Appleseed</a:t>
            </a:r>
          </a:p>
        </p:txBody>
      </p:sp>
      <p:sp>
        <p:nvSpPr>
          <p:cNvPr id="94" name="“Type a quote here.”"/>
          <p:cNvSpPr txBox="1">
            <a:spLocks noGrp="1"/>
          </p:cNvSpPr>
          <p:nvPr>
            <p:ph type="body" sz="quarter" idx="22"/>
          </p:nvPr>
        </p:nvSpPr>
        <p:spPr>
          <a:xfrm>
            <a:off x="4833937" y="6000353"/>
            <a:ext cx="14716126" cy="965201"/>
          </a:xfrm>
          <a:prstGeom prst="rect">
            <a:avLst/>
          </a:prstGeom>
        </p:spPr>
        <p:txBody>
          <a:bodyPr>
            <a:spAutoFit/>
          </a:bodyPr>
          <a:lstStyle>
            <a:lvl1pPr marL="0" indent="0" algn="ctr">
              <a:buSzTx/>
              <a:buNone/>
              <a:defRPr sz="5200"/>
            </a:lvl1pPr>
          </a:lstStyle>
          <a:p>
            <a:r>
              <a:t>“Type a quote here.” </a:t>
            </a:r>
          </a:p>
        </p:txBody>
      </p:sp>
      <p:sp>
        <p:nvSpPr>
          <p:cNvPr id="9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
        <p:nvSpPr>
          <p:cNvPr id="102" name="Image"/>
          <p:cNvSpPr>
            <a:spLocks noGrp="1"/>
          </p:cNvSpPr>
          <p:nvPr>
            <p:ph type="pic" idx="21"/>
          </p:nvPr>
        </p:nvSpPr>
        <p:spPr>
          <a:xfrm>
            <a:off x="1905000" y="0"/>
            <a:ext cx="20563290" cy="13716000"/>
          </a:xfrm>
          <a:prstGeom prst="rect">
            <a:avLst/>
          </a:prstGeom>
        </p:spPr>
        <p:txBody>
          <a:bodyPr lIns="91439" tIns="45719" rIns="91439" bIns="45719" anchor="t">
            <a:noAutofit/>
          </a:bodyPr>
          <a:lstStyle/>
          <a:p>
            <a:endParaRPr/>
          </a:p>
        </p:txBody>
      </p:sp>
      <p:sp>
        <p:nvSpPr>
          <p:cNvPr id="10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Title - Center">
    <p:spTree>
      <p:nvGrpSpPr>
        <p:cNvPr id="1" name=""/>
        <p:cNvGrpSpPr/>
        <p:nvPr/>
      </p:nvGrpSpPr>
      <p:grpSpPr>
        <a:xfrm>
          <a:off x="0" y="0"/>
          <a:ext cx="0" cy="0"/>
          <a:chOff x="0" y="0"/>
          <a:chExt cx="0" cy="0"/>
        </a:xfrm>
      </p:grpSpPr>
      <p:sp>
        <p:nvSpPr>
          <p:cNvPr id="117" name="Title Text"/>
          <p:cNvSpPr txBox="1">
            <a:spLocks noGrp="1"/>
          </p:cNvSpPr>
          <p:nvPr>
            <p:ph type="title"/>
          </p:nvPr>
        </p:nvSpPr>
        <p:spPr>
          <a:xfrm>
            <a:off x="1270000" y="3225800"/>
            <a:ext cx="10464800" cy="3302000"/>
          </a:xfrm>
          <a:prstGeom prst="rect">
            <a:avLst/>
          </a:prstGeom>
        </p:spPr>
        <p:txBody>
          <a:bodyPr lIns="50800" tIns="50800" rIns="50800" bIns="50800"/>
          <a:lstStyle>
            <a:lvl1pPr defTabSz="584200">
              <a:defRPr sz="8000"/>
            </a:lvl1pPr>
          </a:lstStyle>
          <a:p>
            <a:r>
              <a:t>Title Text</a:t>
            </a:r>
          </a:p>
        </p:txBody>
      </p:sp>
      <p:sp>
        <p:nvSpPr>
          <p:cNvPr id="118" name="Slide Number"/>
          <p:cNvSpPr txBox="1">
            <a:spLocks noGrp="1"/>
          </p:cNvSpPr>
          <p:nvPr>
            <p:ph type="sldNum" sz="quarter" idx="2"/>
          </p:nvPr>
        </p:nvSpPr>
        <p:spPr>
          <a:xfrm>
            <a:off x="6311798" y="9251950"/>
            <a:ext cx="368504" cy="381000"/>
          </a:xfrm>
          <a:prstGeom prst="rect">
            <a:avLst/>
          </a:prstGeom>
        </p:spPr>
        <p:txBody>
          <a:bodyPr lIns="50800" tIns="50800" rIns="50800" bIns="50800"/>
          <a:lstStyle>
            <a:lvl1pPr defTabSz="584200">
              <a:defRPr sz="1800"/>
            </a:lvl1p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125" name="Title Text"/>
          <p:cNvSpPr txBox="1">
            <a:spLocks noGrp="1"/>
          </p:cNvSpPr>
          <p:nvPr>
            <p:ph type="title"/>
          </p:nvPr>
        </p:nvSpPr>
        <p:spPr>
          <a:xfrm>
            <a:off x="952500" y="444500"/>
            <a:ext cx="11099800" cy="2159000"/>
          </a:xfrm>
          <a:prstGeom prst="rect">
            <a:avLst/>
          </a:prstGeom>
        </p:spPr>
        <p:txBody>
          <a:bodyPr lIns="50800" tIns="50800" rIns="50800" bIns="50800"/>
          <a:lstStyle>
            <a:lvl1pPr defTabSz="584200">
              <a:defRPr sz="8000"/>
            </a:lvl1pPr>
          </a:lstStyle>
          <a:p>
            <a:r>
              <a:t>Title Text</a:t>
            </a:r>
          </a:p>
        </p:txBody>
      </p:sp>
      <p:sp>
        <p:nvSpPr>
          <p:cNvPr id="126" name="Body Level One…"/>
          <p:cNvSpPr txBox="1">
            <a:spLocks noGrp="1"/>
          </p:cNvSpPr>
          <p:nvPr>
            <p:ph type="body" sz="half" idx="1"/>
          </p:nvPr>
        </p:nvSpPr>
        <p:spPr>
          <a:xfrm>
            <a:off x="952500" y="2603500"/>
            <a:ext cx="11099800" cy="6286500"/>
          </a:xfrm>
          <a:prstGeom prst="rect">
            <a:avLst/>
          </a:prstGeom>
        </p:spPr>
        <p:txBody>
          <a:bodyPr lIns="50800" tIns="50800" rIns="50800" bIns="50800"/>
          <a:lstStyle>
            <a:lvl1pPr marL="444500" indent="-444500" defTabSz="584200">
              <a:spcBef>
                <a:spcPts val="4200"/>
              </a:spcBef>
              <a:defRPr sz="3600"/>
            </a:lvl1pPr>
            <a:lvl2pPr marL="889000" indent="-444500" defTabSz="584200">
              <a:spcBef>
                <a:spcPts val="4200"/>
              </a:spcBef>
              <a:defRPr sz="3600"/>
            </a:lvl2pPr>
            <a:lvl3pPr marL="1333500" indent="-444500" defTabSz="584200">
              <a:spcBef>
                <a:spcPts val="4200"/>
              </a:spcBef>
              <a:defRPr sz="3600"/>
            </a:lvl3pPr>
            <a:lvl4pPr marL="1778000" indent="-444500" defTabSz="584200">
              <a:spcBef>
                <a:spcPts val="4200"/>
              </a:spcBef>
              <a:defRPr sz="3600"/>
            </a:lvl4pPr>
            <a:lvl5pPr marL="2222500" indent="-444500" defTabSz="584200">
              <a:spcBef>
                <a:spcPts val="4200"/>
              </a:spcBef>
              <a:defRPr sz="3600"/>
            </a:lvl5pPr>
          </a:lstStyle>
          <a:p>
            <a:r>
              <a:t>Body Level One</a:t>
            </a:r>
          </a:p>
          <a:p>
            <a:pPr lvl="1"/>
            <a:r>
              <a:t>Body Level Two</a:t>
            </a:r>
          </a:p>
          <a:p>
            <a:pPr lvl="2"/>
            <a:r>
              <a:t>Body Level Three</a:t>
            </a:r>
          </a:p>
          <a:p>
            <a:pPr lvl="3"/>
            <a:r>
              <a:t>Body Level Four</a:t>
            </a:r>
          </a:p>
          <a:p>
            <a:pPr lvl="4"/>
            <a:r>
              <a:t>Body Level Five</a:t>
            </a:r>
          </a:p>
        </p:txBody>
      </p:sp>
      <p:sp>
        <p:nvSpPr>
          <p:cNvPr id="127" name="Slide Number"/>
          <p:cNvSpPr txBox="1">
            <a:spLocks noGrp="1"/>
          </p:cNvSpPr>
          <p:nvPr>
            <p:ph type="sldNum" sz="quarter" idx="2"/>
          </p:nvPr>
        </p:nvSpPr>
        <p:spPr>
          <a:xfrm>
            <a:off x="6311798" y="9251950"/>
            <a:ext cx="368504" cy="381000"/>
          </a:xfrm>
          <a:prstGeom prst="rect">
            <a:avLst/>
          </a:prstGeom>
        </p:spPr>
        <p:txBody>
          <a:bodyPr lIns="50800" tIns="50800" rIns="50800" bIns="50800"/>
          <a:lstStyle>
            <a:lvl1pPr defTabSz="584200">
              <a:defRPr sz="1800"/>
            </a:lvl1p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143" name="Title Text"/>
          <p:cNvSpPr txBox="1">
            <a:spLocks noGrp="1"/>
          </p:cNvSpPr>
          <p:nvPr>
            <p:ph type="title"/>
          </p:nvPr>
        </p:nvSpPr>
        <p:spPr>
          <a:xfrm>
            <a:off x="4387453" y="625078"/>
            <a:ext cx="15609094" cy="3036094"/>
          </a:xfrm>
          <a:prstGeom prst="rect">
            <a:avLst/>
          </a:prstGeom>
        </p:spPr>
        <p:txBody>
          <a:bodyPr/>
          <a:lstStyle/>
          <a:p>
            <a:r>
              <a:t>Title Text</a:t>
            </a:r>
          </a:p>
        </p:txBody>
      </p:sp>
      <p:sp>
        <p:nvSpPr>
          <p:cNvPr id="14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151" name="Title Text"/>
          <p:cNvSpPr txBox="1">
            <a:spLocks noGrp="1"/>
          </p:cNvSpPr>
          <p:nvPr>
            <p:ph type="title"/>
          </p:nvPr>
        </p:nvSpPr>
        <p:spPr>
          <a:xfrm>
            <a:off x="317500" y="0"/>
            <a:ext cx="23749000" cy="2540000"/>
          </a:xfrm>
          <a:prstGeom prst="rect">
            <a:avLst/>
          </a:prstGeom>
        </p:spPr>
        <p:txBody>
          <a:bodyPr/>
          <a:lstStyle/>
          <a:p>
            <a:r>
              <a:t>Title Text</a:t>
            </a:r>
          </a:p>
        </p:txBody>
      </p:sp>
      <p:sp>
        <p:nvSpPr>
          <p:cNvPr id="152" name="Body Level One…"/>
          <p:cNvSpPr txBox="1">
            <a:spLocks noGrp="1"/>
          </p:cNvSpPr>
          <p:nvPr>
            <p:ph type="body" idx="1"/>
          </p:nvPr>
        </p:nvSpPr>
        <p:spPr>
          <a:xfrm>
            <a:off x="635000" y="2540000"/>
            <a:ext cx="23114000" cy="10795000"/>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15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160" name="Title Text"/>
          <p:cNvSpPr txBox="1">
            <a:spLocks noGrp="1"/>
          </p:cNvSpPr>
          <p:nvPr>
            <p:ph type="title"/>
          </p:nvPr>
        </p:nvSpPr>
        <p:spPr>
          <a:xfrm>
            <a:off x="4387453" y="625078"/>
            <a:ext cx="15609094" cy="3036094"/>
          </a:xfrm>
          <a:prstGeom prst="rect">
            <a:avLst/>
          </a:prstGeom>
        </p:spPr>
        <p:txBody>
          <a:bodyPr/>
          <a:lstStyle>
            <a:lvl1pPr>
              <a:defRPr b="0">
                <a:latin typeface="+mn-lt"/>
                <a:ea typeface="+mn-ea"/>
                <a:cs typeface="+mn-cs"/>
                <a:sym typeface="Helvetica Light"/>
              </a:defRPr>
            </a:lvl1pPr>
          </a:lstStyle>
          <a:p>
            <a:r>
              <a:t>Title Text</a:t>
            </a:r>
          </a:p>
        </p:txBody>
      </p:sp>
      <p:sp>
        <p:nvSpPr>
          <p:cNvPr id="16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7113147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25294" y="1371600"/>
            <a:ext cx="13716000" cy="2223064"/>
          </a:xfrm>
        </p:spPr>
        <p:txBody>
          <a:bodyPr anchor="b">
            <a:noAutofit/>
          </a:bodyPr>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1225294" y="3931920"/>
            <a:ext cx="13716000" cy="8400396"/>
          </a:xfrm>
        </p:spPr>
        <p:txBody>
          <a:bodyPr>
            <a:noAutofit/>
          </a:bodyPr>
          <a:lstStyle>
            <a:lvl1pPr>
              <a:defRPr sz="2800"/>
            </a:lvl1pPr>
            <a:lvl2pPr>
              <a:defRPr sz="2800"/>
            </a:lvl2pPr>
            <a:lvl3pPr>
              <a:defRPr sz="2800"/>
            </a:lvl3pPr>
            <a:lvl4pPr>
              <a:defRPr sz="2800"/>
            </a:lvl4pPr>
            <a:lvl5pPr>
              <a:defRPr sz="2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1225295" y="12693741"/>
            <a:ext cx="5610810" cy="730250"/>
          </a:xfrm>
        </p:spPr>
        <p:txBody>
          <a:bodyPr>
            <a:noAutofit/>
          </a:bodyPr>
          <a:lstStyle/>
          <a:p>
            <a:r>
              <a:rPr lang="en-US"/>
              <a:t>Sample Footer Text</a:t>
            </a:r>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8231707" y="12693741"/>
            <a:ext cx="5851174" cy="730250"/>
          </a:xfrm>
        </p:spPr>
        <p:txBody>
          <a:bodyPr>
            <a:noAutofit/>
          </a:bodyPr>
          <a:lstStyle/>
          <a:p>
            <a:fld id="{A7F72289-EB8A-47CA-A283-A769C9E761BF}" type="datetime1">
              <a:rPr lang="en-US" smtClean="0"/>
              <a:t>1/13/26</a:t>
            </a:fld>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4082881" y="12693741"/>
            <a:ext cx="858414" cy="730250"/>
          </a:xfrm>
        </p:spPr>
        <p:txBody>
          <a:bodyPr>
            <a:noAutofit/>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6183465" y="0"/>
            <a:ext cx="8200534" cy="13716000"/>
          </a:xfrm>
          <a:blipFill>
            <a:blip r:embed="rId2">
              <a:alphaModFix amt="60000"/>
            </a:blip>
            <a:stretch>
              <a:fillRect/>
            </a:stretch>
          </a:blipFill>
        </p:spPr>
        <p:txBody>
          <a:bodyPr/>
          <a:lstStyle>
            <a:lvl1pPr marL="0" indent="0">
              <a:buNone/>
              <a:defRPr/>
            </a:lvl1pPr>
          </a:lstStyle>
          <a:p>
            <a:r>
              <a:rPr lang="en-US" dirty="0"/>
              <a:t>.</a:t>
            </a:r>
          </a:p>
        </p:txBody>
      </p:sp>
    </p:spTree>
    <p:extLst>
      <p:ext uri="{BB962C8B-B14F-4D97-AF65-F5344CB8AC3E}">
        <p14:creationId xmlns:p14="http://schemas.microsoft.com/office/powerpoint/2010/main" val="33570990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19199" y="1371600"/>
            <a:ext cx="9129526" cy="2853596"/>
          </a:xfrm>
        </p:spPr>
        <p:txBody>
          <a:bodyPr anchor="b">
            <a:noAutofit/>
          </a:bodyPr>
          <a:lstStyle>
            <a:lvl1pPr>
              <a:defRPr sz="10800"/>
            </a:lvl1pPr>
          </a:lstStyle>
          <a:p>
            <a:r>
              <a:rPr lang="en-US" dirty="0"/>
              <a:t>Click to edit Master title style</a:t>
            </a:r>
          </a:p>
        </p:txBody>
      </p:sp>
      <p:sp>
        <p:nvSpPr>
          <p:cNvPr id="4" name="Picture Placeholder 3">
            <a:extLst>
              <a:ext uri="{FF2B5EF4-FFF2-40B4-BE49-F238E27FC236}">
                <a16:creationId xmlns:a16="http://schemas.microsoft.com/office/drawing/2014/main" id="{45580E71-5349-7975-EE00-1D48FBB45527}"/>
              </a:ext>
            </a:extLst>
          </p:cNvPr>
          <p:cNvSpPr>
            <a:spLocks noGrp="1"/>
          </p:cNvSpPr>
          <p:nvPr>
            <p:ph type="pic" sz="quarter" idx="15"/>
          </p:nvPr>
        </p:nvSpPr>
        <p:spPr>
          <a:xfrm>
            <a:off x="1219199" y="5029200"/>
            <a:ext cx="9129526" cy="7273196"/>
          </a:xfrm>
          <a:blipFill>
            <a:blip r:embed="rId2">
              <a:alphaModFix amt="60000"/>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11580121" y="1371600"/>
            <a:ext cx="11584682" cy="10930796"/>
          </a:xfrm>
        </p:spPr>
        <p:txBody>
          <a:bodyPr anchor="b">
            <a:noAutofit/>
          </a:bodyPr>
          <a:lstStyle>
            <a:lvl1pPr>
              <a:defRPr sz="2800"/>
            </a:lvl1pPr>
            <a:lvl2pPr>
              <a:defRPr sz="2800"/>
            </a:lvl2pPr>
            <a:lvl3pPr>
              <a:defRPr sz="2800"/>
            </a:lvl3pPr>
            <a:lvl4pPr>
              <a:defRPr sz="2800"/>
            </a:lvl4pPr>
            <a:lvl5pPr>
              <a:defRPr sz="2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3CC8FB4D-92F2-4C28-8BFC-2AE0229C3E9A}" type="datetime1">
              <a:rPr lang="en-US" smtClean="0"/>
              <a:t>1/13/26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76580184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219200" y="3200401"/>
            <a:ext cx="10769600" cy="9051926"/>
          </a:xfrm>
        </p:spPr>
        <p:txBody>
          <a:bodyPr/>
          <a:lstStyle>
            <a:lvl1pPr>
              <a:defRPr sz="5600"/>
            </a:lvl1pPr>
            <a:lvl2pPr>
              <a:defRPr sz="4800"/>
            </a:lvl2pPr>
            <a:lvl3pPr>
              <a:defRPr sz="4000"/>
            </a:lvl3pPr>
            <a:lvl4pPr>
              <a:defRPr sz="3600"/>
            </a:lvl4pPr>
            <a:lvl5pPr>
              <a:defRPr sz="3600"/>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2395200" y="3200401"/>
            <a:ext cx="10769600" cy="9051926"/>
          </a:xfrm>
        </p:spPr>
        <p:txBody>
          <a:bodyPr/>
          <a:lstStyle>
            <a:lvl1pPr>
              <a:defRPr sz="5600"/>
            </a:lvl1pPr>
            <a:lvl2pPr>
              <a:defRPr sz="4800"/>
            </a:lvl2pPr>
            <a:lvl3pPr>
              <a:defRPr sz="4000"/>
            </a:lvl3pPr>
            <a:lvl4pPr>
              <a:defRPr sz="3600"/>
            </a:lvl4pPr>
            <a:lvl5pPr>
              <a:defRPr sz="3600"/>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179284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635000" y="635000"/>
            <a:ext cx="23114000" cy="2540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71437" tIns="71437" rIns="71437" bIns="71437" anchor="ctr">
            <a:normAutofit/>
          </a:bodyPr>
          <a:lstStyle/>
          <a:p>
            <a:r>
              <a:t>Title Text</a:t>
            </a:r>
          </a:p>
        </p:txBody>
      </p:sp>
      <p:sp>
        <p:nvSpPr>
          <p:cNvPr id="3" name="Body Level One…"/>
          <p:cNvSpPr txBox="1">
            <a:spLocks noGrp="1"/>
          </p:cNvSpPr>
          <p:nvPr>
            <p:ph type="body" idx="1"/>
          </p:nvPr>
        </p:nvSpPr>
        <p:spPr>
          <a:xfrm>
            <a:off x="635000" y="2540000"/>
            <a:ext cx="23114000" cy="10160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71437" tIns="71437" rIns="71437" bIns="71437" anchor="ctr">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11935814" y="13010554"/>
            <a:ext cx="494513" cy="511176"/>
          </a:xfrm>
          <a:prstGeom prst="rect">
            <a:avLst/>
          </a:prstGeom>
          <a:ln w="12700">
            <a:miter lim="400000"/>
          </a:ln>
        </p:spPr>
        <p:txBody>
          <a:bodyPr wrap="none" lIns="71437" tIns="71437" rIns="71437" bIns="71437">
            <a:normAutofit/>
          </a:bodyPr>
          <a:lstStyle>
            <a:lvl1pPr>
              <a:defRPr sz="2400"/>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6" r:id="rId7"/>
    <p:sldLayoutId id="2147483657" r:id="rId8"/>
    <p:sldLayoutId id="2147483658" r:id="rId9"/>
    <p:sldLayoutId id="2147483659" r:id="rId10"/>
    <p:sldLayoutId id="2147483661" r:id="rId11"/>
    <p:sldLayoutId id="2147483662" r:id="rId12"/>
    <p:sldLayoutId id="2147483664" r:id="rId13"/>
    <p:sldLayoutId id="2147483665" r:id="rId14"/>
    <p:sldLayoutId id="2147483666" r:id="rId15"/>
    <p:sldLayoutId id="2147483667" r:id="rId16"/>
    <p:sldLayoutId id="2147483670" r:id="rId17"/>
    <p:sldLayoutId id="2147483671" r:id="rId18"/>
    <p:sldLayoutId id="2147483672" r:id="rId19"/>
  </p:sldLayoutIdLst>
  <p:transition spd="med"/>
  <p:txStyles>
    <p:titleStyle>
      <a:lvl1pPr marL="0" marR="0" indent="0" algn="ctr" defTabSz="821531" rtl="0" latinLnBrk="0">
        <a:lnSpc>
          <a:spcPct val="100000"/>
        </a:lnSpc>
        <a:spcBef>
          <a:spcPts val="0"/>
        </a:spcBef>
        <a:spcAft>
          <a:spcPts val="0"/>
        </a:spcAft>
        <a:buClrTx/>
        <a:buSzTx/>
        <a:buFontTx/>
        <a:buNone/>
        <a:tabLst/>
        <a:defRPr sz="11200" b="1" i="0" u="none" strike="noStrike" cap="none" spc="0" baseline="0">
          <a:solidFill>
            <a:srgbClr val="000000"/>
          </a:solidFill>
          <a:uFillTx/>
          <a:latin typeface="+mj-lt"/>
          <a:ea typeface="+mj-ea"/>
          <a:cs typeface="+mj-cs"/>
          <a:sym typeface="Helvetica"/>
        </a:defRPr>
      </a:lvl1pPr>
      <a:lvl2pPr marL="0" marR="0" indent="228600" algn="ctr" defTabSz="821531" rtl="0" latinLnBrk="0">
        <a:lnSpc>
          <a:spcPct val="100000"/>
        </a:lnSpc>
        <a:spcBef>
          <a:spcPts val="0"/>
        </a:spcBef>
        <a:spcAft>
          <a:spcPts val="0"/>
        </a:spcAft>
        <a:buClrTx/>
        <a:buSzTx/>
        <a:buFontTx/>
        <a:buNone/>
        <a:tabLst/>
        <a:defRPr sz="11200" b="1" i="0" u="none" strike="noStrike" cap="none" spc="0" baseline="0">
          <a:solidFill>
            <a:srgbClr val="000000"/>
          </a:solidFill>
          <a:uFillTx/>
          <a:latin typeface="+mj-lt"/>
          <a:ea typeface="+mj-ea"/>
          <a:cs typeface="+mj-cs"/>
          <a:sym typeface="Helvetica"/>
        </a:defRPr>
      </a:lvl2pPr>
      <a:lvl3pPr marL="0" marR="0" indent="457200" algn="ctr" defTabSz="821531" rtl="0" latinLnBrk="0">
        <a:lnSpc>
          <a:spcPct val="100000"/>
        </a:lnSpc>
        <a:spcBef>
          <a:spcPts val="0"/>
        </a:spcBef>
        <a:spcAft>
          <a:spcPts val="0"/>
        </a:spcAft>
        <a:buClrTx/>
        <a:buSzTx/>
        <a:buFontTx/>
        <a:buNone/>
        <a:tabLst/>
        <a:defRPr sz="11200" b="1" i="0" u="none" strike="noStrike" cap="none" spc="0" baseline="0">
          <a:solidFill>
            <a:srgbClr val="000000"/>
          </a:solidFill>
          <a:uFillTx/>
          <a:latin typeface="+mj-lt"/>
          <a:ea typeface="+mj-ea"/>
          <a:cs typeface="+mj-cs"/>
          <a:sym typeface="Helvetica"/>
        </a:defRPr>
      </a:lvl3pPr>
      <a:lvl4pPr marL="0" marR="0" indent="685800" algn="ctr" defTabSz="821531" rtl="0" latinLnBrk="0">
        <a:lnSpc>
          <a:spcPct val="100000"/>
        </a:lnSpc>
        <a:spcBef>
          <a:spcPts val="0"/>
        </a:spcBef>
        <a:spcAft>
          <a:spcPts val="0"/>
        </a:spcAft>
        <a:buClrTx/>
        <a:buSzTx/>
        <a:buFontTx/>
        <a:buNone/>
        <a:tabLst/>
        <a:defRPr sz="11200" b="1" i="0" u="none" strike="noStrike" cap="none" spc="0" baseline="0">
          <a:solidFill>
            <a:srgbClr val="000000"/>
          </a:solidFill>
          <a:uFillTx/>
          <a:latin typeface="+mj-lt"/>
          <a:ea typeface="+mj-ea"/>
          <a:cs typeface="+mj-cs"/>
          <a:sym typeface="Helvetica"/>
        </a:defRPr>
      </a:lvl4pPr>
      <a:lvl5pPr marL="0" marR="0" indent="914400" algn="ctr" defTabSz="821531" rtl="0" latinLnBrk="0">
        <a:lnSpc>
          <a:spcPct val="100000"/>
        </a:lnSpc>
        <a:spcBef>
          <a:spcPts val="0"/>
        </a:spcBef>
        <a:spcAft>
          <a:spcPts val="0"/>
        </a:spcAft>
        <a:buClrTx/>
        <a:buSzTx/>
        <a:buFontTx/>
        <a:buNone/>
        <a:tabLst/>
        <a:defRPr sz="11200" b="1" i="0" u="none" strike="noStrike" cap="none" spc="0" baseline="0">
          <a:solidFill>
            <a:srgbClr val="000000"/>
          </a:solidFill>
          <a:uFillTx/>
          <a:latin typeface="+mj-lt"/>
          <a:ea typeface="+mj-ea"/>
          <a:cs typeface="+mj-cs"/>
          <a:sym typeface="Helvetica"/>
        </a:defRPr>
      </a:lvl5pPr>
      <a:lvl6pPr marL="0" marR="0" indent="1143000" algn="ctr" defTabSz="821531" rtl="0" latinLnBrk="0">
        <a:lnSpc>
          <a:spcPct val="100000"/>
        </a:lnSpc>
        <a:spcBef>
          <a:spcPts val="0"/>
        </a:spcBef>
        <a:spcAft>
          <a:spcPts val="0"/>
        </a:spcAft>
        <a:buClrTx/>
        <a:buSzTx/>
        <a:buFontTx/>
        <a:buNone/>
        <a:tabLst/>
        <a:defRPr sz="11200" b="1" i="0" u="none" strike="noStrike" cap="none" spc="0" baseline="0">
          <a:solidFill>
            <a:srgbClr val="000000"/>
          </a:solidFill>
          <a:uFillTx/>
          <a:latin typeface="+mj-lt"/>
          <a:ea typeface="+mj-ea"/>
          <a:cs typeface="+mj-cs"/>
          <a:sym typeface="Helvetica"/>
        </a:defRPr>
      </a:lvl6pPr>
      <a:lvl7pPr marL="0" marR="0" indent="1371600" algn="ctr" defTabSz="821531" rtl="0" latinLnBrk="0">
        <a:lnSpc>
          <a:spcPct val="100000"/>
        </a:lnSpc>
        <a:spcBef>
          <a:spcPts val="0"/>
        </a:spcBef>
        <a:spcAft>
          <a:spcPts val="0"/>
        </a:spcAft>
        <a:buClrTx/>
        <a:buSzTx/>
        <a:buFontTx/>
        <a:buNone/>
        <a:tabLst/>
        <a:defRPr sz="11200" b="1" i="0" u="none" strike="noStrike" cap="none" spc="0" baseline="0">
          <a:solidFill>
            <a:srgbClr val="000000"/>
          </a:solidFill>
          <a:uFillTx/>
          <a:latin typeface="+mj-lt"/>
          <a:ea typeface="+mj-ea"/>
          <a:cs typeface="+mj-cs"/>
          <a:sym typeface="Helvetica"/>
        </a:defRPr>
      </a:lvl7pPr>
      <a:lvl8pPr marL="0" marR="0" indent="1600200" algn="ctr" defTabSz="821531" rtl="0" latinLnBrk="0">
        <a:lnSpc>
          <a:spcPct val="100000"/>
        </a:lnSpc>
        <a:spcBef>
          <a:spcPts val="0"/>
        </a:spcBef>
        <a:spcAft>
          <a:spcPts val="0"/>
        </a:spcAft>
        <a:buClrTx/>
        <a:buSzTx/>
        <a:buFontTx/>
        <a:buNone/>
        <a:tabLst/>
        <a:defRPr sz="11200" b="1" i="0" u="none" strike="noStrike" cap="none" spc="0" baseline="0">
          <a:solidFill>
            <a:srgbClr val="000000"/>
          </a:solidFill>
          <a:uFillTx/>
          <a:latin typeface="+mj-lt"/>
          <a:ea typeface="+mj-ea"/>
          <a:cs typeface="+mj-cs"/>
          <a:sym typeface="Helvetica"/>
        </a:defRPr>
      </a:lvl8pPr>
      <a:lvl9pPr marL="0" marR="0" indent="1828800" algn="ctr" defTabSz="821531" rtl="0" latinLnBrk="0">
        <a:lnSpc>
          <a:spcPct val="100000"/>
        </a:lnSpc>
        <a:spcBef>
          <a:spcPts val="0"/>
        </a:spcBef>
        <a:spcAft>
          <a:spcPts val="0"/>
        </a:spcAft>
        <a:buClrTx/>
        <a:buSzTx/>
        <a:buFontTx/>
        <a:buNone/>
        <a:tabLst/>
        <a:defRPr sz="11200" b="1" i="0" u="none" strike="noStrike" cap="none" spc="0" baseline="0">
          <a:solidFill>
            <a:srgbClr val="000000"/>
          </a:solidFill>
          <a:uFillTx/>
          <a:latin typeface="+mj-lt"/>
          <a:ea typeface="+mj-ea"/>
          <a:cs typeface="+mj-cs"/>
          <a:sym typeface="Helvetica"/>
        </a:defRPr>
      </a:lvl9pPr>
    </p:titleStyle>
    <p:bodyStyle>
      <a:lvl1pPr marL="617361" marR="0" indent="-617361" algn="l" defTabSz="821531" latinLnBrk="0">
        <a:lnSpc>
          <a:spcPct val="100000"/>
        </a:lnSpc>
        <a:spcBef>
          <a:spcPts val="0"/>
        </a:spcBef>
        <a:spcAft>
          <a:spcPts val="0"/>
        </a:spcAft>
        <a:buClrTx/>
        <a:buSzPct val="75000"/>
        <a:buFontTx/>
        <a:buChar char="•"/>
        <a:tabLst/>
        <a:defRPr sz="5000" b="0" i="0" u="none" strike="noStrike" cap="none" spc="0" baseline="0">
          <a:solidFill>
            <a:srgbClr val="000000"/>
          </a:solidFill>
          <a:uFillTx/>
          <a:latin typeface="+mn-lt"/>
          <a:ea typeface="+mn-ea"/>
          <a:cs typeface="+mn-cs"/>
          <a:sym typeface="Helvetica Light"/>
        </a:defRPr>
      </a:lvl1pPr>
      <a:lvl2pPr marL="1061861" marR="0" indent="-617361" algn="l" defTabSz="821531" latinLnBrk="0">
        <a:lnSpc>
          <a:spcPct val="100000"/>
        </a:lnSpc>
        <a:spcBef>
          <a:spcPts val="0"/>
        </a:spcBef>
        <a:spcAft>
          <a:spcPts val="0"/>
        </a:spcAft>
        <a:buClrTx/>
        <a:buSzPct val="75000"/>
        <a:buFontTx/>
        <a:buChar char="•"/>
        <a:tabLst/>
        <a:defRPr sz="5000" b="0" i="0" u="none" strike="noStrike" cap="none" spc="0" baseline="0">
          <a:solidFill>
            <a:srgbClr val="000000"/>
          </a:solidFill>
          <a:uFillTx/>
          <a:latin typeface="+mn-lt"/>
          <a:ea typeface="+mn-ea"/>
          <a:cs typeface="+mn-cs"/>
          <a:sym typeface="Helvetica Light"/>
        </a:defRPr>
      </a:lvl2pPr>
      <a:lvl3pPr marL="1506361" marR="0" indent="-617361" algn="l" defTabSz="821531" latinLnBrk="0">
        <a:lnSpc>
          <a:spcPct val="100000"/>
        </a:lnSpc>
        <a:spcBef>
          <a:spcPts val="0"/>
        </a:spcBef>
        <a:spcAft>
          <a:spcPts val="0"/>
        </a:spcAft>
        <a:buClrTx/>
        <a:buSzPct val="75000"/>
        <a:buFontTx/>
        <a:buChar char="•"/>
        <a:tabLst/>
        <a:defRPr sz="5000" b="0" i="0" u="none" strike="noStrike" cap="none" spc="0" baseline="0">
          <a:solidFill>
            <a:srgbClr val="000000"/>
          </a:solidFill>
          <a:uFillTx/>
          <a:latin typeface="+mn-lt"/>
          <a:ea typeface="+mn-ea"/>
          <a:cs typeface="+mn-cs"/>
          <a:sym typeface="Helvetica Light"/>
        </a:defRPr>
      </a:lvl3pPr>
      <a:lvl4pPr marL="1950861" marR="0" indent="-617361" algn="l" defTabSz="821531" latinLnBrk="0">
        <a:lnSpc>
          <a:spcPct val="100000"/>
        </a:lnSpc>
        <a:spcBef>
          <a:spcPts val="0"/>
        </a:spcBef>
        <a:spcAft>
          <a:spcPts val="0"/>
        </a:spcAft>
        <a:buClrTx/>
        <a:buSzPct val="75000"/>
        <a:buFontTx/>
        <a:buChar char="•"/>
        <a:tabLst/>
        <a:defRPr sz="5000" b="0" i="0" u="none" strike="noStrike" cap="none" spc="0" baseline="0">
          <a:solidFill>
            <a:srgbClr val="000000"/>
          </a:solidFill>
          <a:uFillTx/>
          <a:latin typeface="+mn-lt"/>
          <a:ea typeface="+mn-ea"/>
          <a:cs typeface="+mn-cs"/>
          <a:sym typeface="Helvetica Light"/>
        </a:defRPr>
      </a:lvl4pPr>
      <a:lvl5pPr marL="2395361" marR="0" indent="-617361" algn="l" defTabSz="821531" latinLnBrk="0">
        <a:lnSpc>
          <a:spcPct val="100000"/>
        </a:lnSpc>
        <a:spcBef>
          <a:spcPts val="0"/>
        </a:spcBef>
        <a:spcAft>
          <a:spcPts val="0"/>
        </a:spcAft>
        <a:buClrTx/>
        <a:buSzPct val="75000"/>
        <a:buFontTx/>
        <a:buChar char="•"/>
        <a:tabLst/>
        <a:defRPr sz="5000" b="0" i="0" u="none" strike="noStrike" cap="none" spc="0" baseline="0">
          <a:solidFill>
            <a:srgbClr val="000000"/>
          </a:solidFill>
          <a:uFillTx/>
          <a:latin typeface="+mn-lt"/>
          <a:ea typeface="+mn-ea"/>
          <a:cs typeface="+mn-cs"/>
          <a:sym typeface="Helvetica Light"/>
        </a:defRPr>
      </a:lvl5pPr>
      <a:lvl6pPr marL="2839861" marR="0" indent="-617361" algn="l" defTabSz="821531" latinLnBrk="0">
        <a:lnSpc>
          <a:spcPct val="100000"/>
        </a:lnSpc>
        <a:spcBef>
          <a:spcPts val="0"/>
        </a:spcBef>
        <a:spcAft>
          <a:spcPts val="0"/>
        </a:spcAft>
        <a:buClrTx/>
        <a:buSzPct val="75000"/>
        <a:buFontTx/>
        <a:buChar char="•"/>
        <a:tabLst/>
        <a:defRPr sz="5000" b="0" i="0" u="none" strike="noStrike" cap="none" spc="0" baseline="0">
          <a:solidFill>
            <a:srgbClr val="000000"/>
          </a:solidFill>
          <a:uFillTx/>
          <a:latin typeface="+mn-lt"/>
          <a:ea typeface="+mn-ea"/>
          <a:cs typeface="+mn-cs"/>
          <a:sym typeface="Helvetica Light"/>
        </a:defRPr>
      </a:lvl6pPr>
      <a:lvl7pPr marL="3284361" marR="0" indent="-617361" algn="l" defTabSz="821531" latinLnBrk="0">
        <a:lnSpc>
          <a:spcPct val="100000"/>
        </a:lnSpc>
        <a:spcBef>
          <a:spcPts val="0"/>
        </a:spcBef>
        <a:spcAft>
          <a:spcPts val="0"/>
        </a:spcAft>
        <a:buClrTx/>
        <a:buSzPct val="75000"/>
        <a:buFontTx/>
        <a:buChar char="•"/>
        <a:tabLst/>
        <a:defRPr sz="5000" b="0" i="0" u="none" strike="noStrike" cap="none" spc="0" baseline="0">
          <a:solidFill>
            <a:srgbClr val="000000"/>
          </a:solidFill>
          <a:uFillTx/>
          <a:latin typeface="+mn-lt"/>
          <a:ea typeface="+mn-ea"/>
          <a:cs typeface="+mn-cs"/>
          <a:sym typeface="Helvetica Light"/>
        </a:defRPr>
      </a:lvl7pPr>
      <a:lvl8pPr marL="3728861" marR="0" indent="-617361" algn="l" defTabSz="821531" latinLnBrk="0">
        <a:lnSpc>
          <a:spcPct val="100000"/>
        </a:lnSpc>
        <a:spcBef>
          <a:spcPts val="0"/>
        </a:spcBef>
        <a:spcAft>
          <a:spcPts val="0"/>
        </a:spcAft>
        <a:buClrTx/>
        <a:buSzPct val="75000"/>
        <a:buFontTx/>
        <a:buChar char="•"/>
        <a:tabLst/>
        <a:defRPr sz="5000" b="0" i="0" u="none" strike="noStrike" cap="none" spc="0" baseline="0">
          <a:solidFill>
            <a:srgbClr val="000000"/>
          </a:solidFill>
          <a:uFillTx/>
          <a:latin typeface="+mn-lt"/>
          <a:ea typeface="+mn-ea"/>
          <a:cs typeface="+mn-cs"/>
          <a:sym typeface="Helvetica Light"/>
        </a:defRPr>
      </a:lvl8pPr>
      <a:lvl9pPr marL="4173361" marR="0" indent="-617361" algn="l" defTabSz="821531" latinLnBrk="0">
        <a:lnSpc>
          <a:spcPct val="100000"/>
        </a:lnSpc>
        <a:spcBef>
          <a:spcPts val="0"/>
        </a:spcBef>
        <a:spcAft>
          <a:spcPts val="0"/>
        </a:spcAft>
        <a:buClrTx/>
        <a:buSzPct val="75000"/>
        <a:buFontTx/>
        <a:buChar char="•"/>
        <a:tabLst/>
        <a:defRPr sz="5000" b="0" i="0" u="none" strike="noStrike" cap="none" spc="0" baseline="0">
          <a:solidFill>
            <a:srgbClr val="000000"/>
          </a:solidFill>
          <a:uFillTx/>
          <a:latin typeface="+mn-lt"/>
          <a:ea typeface="+mn-ea"/>
          <a:cs typeface="+mn-cs"/>
          <a:sym typeface="Helvetica Light"/>
        </a:defRPr>
      </a:lvl9pPr>
    </p:bodyStyle>
    <p:otherStyle>
      <a:lvl1pPr marL="0" marR="0" indent="0" algn="ctr" defTabSz="821531"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Light"/>
        </a:defRPr>
      </a:lvl1pPr>
      <a:lvl2pPr marL="0" marR="0" indent="228600" algn="ctr" defTabSz="821531"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Light"/>
        </a:defRPr>
      </a:lvl2pPr>
      <a:lvl3pPr marL="0" marR="0" indent="457200" algn="ctr" defTabSz="821531"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Light"/>
        </a:defRPr>
      </a:lvl3pPr>
      <a:lvl4pPr marL="0" marR="0" indent="685800" algn="ctr" defTabSz="821531"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Light"/>
        </a:defRPr>
      </a:lvl4pPr>
      <a:lvl5pPr marL="0" marR="0" indent="914400" algn="ctr" defTabSz="821531"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Light"/>
        </a:defRPr>
      </a:lvl5pPr>
      <a:lvl6pPr marL="0" marR="0" indent="1143000" algn="ctr" defTabSz="821531"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Light"/>
        </a:defRPr>
      </a:lvl6pPr>
      <a:lvl7pPr marL="0" marR="0" indent="1371600" algn="ctr" defTabSz="821531"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Light"/>
        </a:defRPr>
      </a:lvl7pPr>
      <a:lvl8pPr marL="0" marR="0" indent="1600200" algn="ctr" defTabSz="821531"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Light"/>
        </a:defRPr>
      </a:lvl8pPr>
      <a:lvl9pPr marL="0" marR="0" indent="1828800" algn="ctr" defTabSz="821531"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Helvetica Ligh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hyperlink" Target="https://www.acs.org/careers/chemical-sciences/areas/biochemistry.html" TargetMode="External"/><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hyperlink" Target="https://commons.wikimedia.org/wiki/File:Enzyme_inhibitor.svg" TargetMode="External"/><Relationship Id="rId5" Type="http://schemas.openxmlformats.org/officeDocument/2006/relationships/image" Target="../media/image4.png"/><Relationship Id="rId4" Type="http://schemas.openxmlformats.org/officeDocument/2006/relationships/hyperlink" Target="https://en.wikipedia.org/wiki/Drug_design#cite_note-isbn0-415-...-1"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s://i2db.wustl.edu/about/what-is-informatics/" TargetMode="External"/><Relationship Id="rId2" Type="http://schemas.openxmlformats.org/officeDocument/2006/relationships/notesSlide" Target="../notesSlides/notesSlide2.xml"/><Relationship Id="rId1" Type="http://schemas.openxmlformats.org/officeDocument/2006/relationships/slideLayout" Target="../slideLayouts/slideLayout6.xml"/><Relationship Id="rId5" Type="http://schemas.openxmlformats.org/officeDocument/2006/relationships/hyperlink" Target="https://doi.org/10.1038/s41586-021-03819-2" TargetMode="Externa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6.xml"/><Relationship Id="rId5" Type="http://schemas.openxmlformats.org/officeDocument/2006/relationships/image" Target="../media/image9.sv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hyperlink" Target="https://www.nobelprize.org/prizes/chemistry/2024/summary/" TargetMode="Externa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8" Type="http://schemas.openxmlformats.org/officeDocument/2006/relationships/hyperlink" Target="https://www.sdsc.edu/index.html" TargetMode="External"/><Relationship Id="rId13" Type="http://schemas.openxmlformats.org/officeDocument/2006/relationships/hyperlink" Target="https://iit.instructure.com/courses/18016" TargetMode="External"/><Relationship Id="rId3" Type="http://schemas.openxmlformats.org/officeDocument/2006/relationships/hyperlink" Target="https://daveminh.github.io/Chem456-2026S/" TargetMode="External"/><Relationship Id="rId7" Type="http://schemas.openxmlformats.org/officeDocument/2006/relationships/hyperlink" Target="https://daveminh.github.io/Chem456-2026S/grading/" TargetMode="External"/><Relationship Id="rId12" Type="http://schemas.openxmlformats.org/officeDocument/2006/relationships/hyperlink" Target="https://access-ci.org/" TargetMode="External"/><Relationship Id="rId2" Type="http://schemas.openxmlformats.org/officeDocument/2006/relationships/notesSlide" Target="../notesSlides/notesSlide3.xml"/><Relationship Id="rId16" Type="http://schemas.openxmlformats.org/officeDocument/2006/relationships/image" Target="../media/image10.png"/><Relationship Id="rId1" Type="http://schemas.openxmlformats.org/officeDocument/2006/relationships/slideLayout" Target="../slideLayouts/slideLayout6.xml"/><Relationship Id="rId6" Type="http://schemas.openxmlformats.org/officeDocument/2006/relationships/hyperlink" Target="https://daveminh.github.io/Chem456-2026S/assignments/" TargetMode="External"/><Relationship Id="rId11" Type="http://schemas.openxmlformats.org/officeDocument/2006/relationships/hyperlink" Target="https://operations.access-ci.org/identity/new-user" TargetMode="External"/><Relationship Id="rId5" Type="http://schemas.openxmlformats.org/officeDocument/2006/relationships/hyperlink" Target="https://daveminh.github.io/Chem456-2026S/schedule/" TargetMode="External"/><Relationship Id="rId15" Type="http://schemas.openxmlformats.org/officeDocument/2006/relationships/hyperlink" Target="https://iit.instructure.com/courses/18016/discussion_topics" TargetMode="External"/><Relationship Id="rId10" Type="http://schemas.openxmlformats.org/officeDocument/2006/relationships/hyperlink" Target="https://portal.expanse.sdsc.edu/" TargetMode="External"/><Relationship Id="rId4" Type="http://schemas.openxmlformats.org/officeDocument/2006/relationships/hyperlink" Target="https://daveminh.github.io/Chem456-2026S/resources/" TargetMode="External"/><Relationship Id="rId9" Type="http://schemas.openxmlformats.org/officeDocument/2006/relationships/hyperlink" Target="https://www.sdsc.edu/systems/expanse/index.html" TargetMode="External"/><Relationship Id="rId14" Type="http://schemas.openxmlformats.org/officeDocument/2006/relationships/hyperlink" Target="https://iit.instructure.com/courses/18016/assignments"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ccbatiit.github.io/downloads/DavidMinh_CV.pdf" TargetMode="Externa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hyperlink" Target="https://meettheprof.com/view/professors/entry/david-minh/" TargetMode="Externa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hyperlink" Target="https://iit.instructure.com/courses/18016/discussion_topics/64739" TargetMode="Externa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hyperlink" Target="https://portal.expanse.sdsc.edu/" TargetMode="External"/><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0.png"/><Relationship Id="rId5" Type="http://schemas.openxmlformats.org/officeDocument/2006/relationships/hyperlink" Target="https://operations.access-ci.org/identity/new-user" TargetMode="External"/><Relationship Id="rId4" Type="http://schemas.openxmlformats.org/officeDocument/2006/relationships/hyperlink" Target="https://access-ci.org/"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allocations.access-ci.org/" TargetMode="External"/><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2" Type="http://schemas.openxmlformats.org/officeDocument/2006/relationships/hyperlink" Target="https://github.com/daveminh/Chem456-2026S/blob/main/exercises/00-Basic_Linux.md" TargetMode="Externa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hyperlink" Target="https://iit.instructure.com/courses/18016/assignments/77960" TargetMode="External"/><Relationship Id="rId2" Type="http://schemas.openxmlformats.org/officeDocument/2006/relationships/hyperlink" Target="https://operations.access-ci.org/identity/new-user" TargetMode="External"/><Relationship Id="rId1" Type="http://schemas.openxmlformats.org/officeDocument/2006/relationships/slideLayout" Target="../slideLayouts/slideLayout6.xml"/><Relationship Id="rId4" Type="http://schemas.openxmlformats.org/officeDocument/2006/relationships/hyperlink" Target="https://iit.instructure.com/courses/18016/discussion_topics/64739"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 name="8/26/2024"/>
          <p:cNvSpPr txBox="1">
            <a:spLocks noGrp="1"/>
          </p:cNvSpPr>
          <p:nvPr>
            <p:ph type="title"/>
          </p:nvPr>
        </p:nvSpPr>
        <p:spPr>
          <a:xfrm>
            <a:off x="635000" y="454891"/>
            <a:ext cx="23114000" cy="2085109"/>
          </a:xfrm>
        </p:spPr>
        <p:txBody>
          <a:bodyPr>
            <a:normAutofit/>
          </a:bodyPr>
          <a:lstStyle/>
          <a:p>
            <a:r>
              <a:rPr lang="en-US" dirty="0"/>
              <a:t>Chem 456 1/12/2026</a:t>
            </a:r>
          </a:p>
        </p:txBody>
      </p:sp>
      <p:sp>
        <p:nvSpPr>
          <p:cNvPr id="179" name="Welcome…"/>
          <p:cNvSpPr txBox="1">
            <a:spLocks noGrp="1"/>
          </p:cNvSpPr>
          <p:nvPr>
            <p:ph type="body" idx="1"/>
          </p:nvPr>
        </p:nvSpPr>
        <p:spPr>
          <a:xfrm>
            <a:off x="635000" y="2540000"/>
            <a:ext cx="23114000" cy="10160000"/>
          </a:xfrm>
        </p:spPr>
        <p:txBody>
          <a:bodyPr/>
          <a:lstStyle/>
          <a:p>
            <a:r>
              <a:rPr lang="en-US" dirty="0"/>
              <a:t>About the course, Computational Biochemistry and Drug Design</a:t>
            </a:r>
          </a:p>
          <a:p>
            <a:pPr lvl="1"/>
            <a:r>
              <a:rPr lang="en-US" dirty="0"/>
              <a:t>Definitions</a:t>
            </a:r>
          </a:p>
          <a:p>
            <a:pPr lvl="1"/>
            <a:r>
              <a:rPr lang="en-US" dirty="0"/>
              <a:t>Course overview</a:t>
            </a:r>
          </a:p>
          <a:p>
            <a:pPr lvl="1"/>
            <a:r>
              <a:rPr lang="en-US" dirty="0"/>
              <a:t>Online resources</a:t>
            </a:r>
          </a:p>
          <a:p>
            <a:r>
              <a:rPr lang="en-US" dirty="0"/>
              <a:t>Introductions</a:t>
            </a:r>
          </a:p>
          <a:p>
            <a:pPr lvl="1"/>
            <a:r>
              <a:rPr lang="en-US" dirty="0"/>
              <a:t>Instructor</a:t>
            </a:r>
          </a:p>
          <a:p>
            <a:pPr lvl="1"/>
            <a:r>
              <a:rPr lang="en-US" dirty="0"/>
              <a:t>Yourself (by 1/21)</a:t>
            </a:r>
          </a:p>
          <a:p>
            <a:r>
              <a:rPr lang="en-US" dirty="0"/>
              <a:t>High-performance computing</a:t>
            </a:r>
          </a:p>
          <a:p>
            <a:r>
              <a:rPr lang="en-US" dirty="0"/>
              <a:t>Linux </a:t>
            </a:r>
          </a:p>
          <a:p>
            <a:pPr lvl="1"/>
            <a:r>
              <a:rPr lang="en-US" dirty="0"/>
              <a:t>Motivation</a:t>
            </a:r>
          </a:p>
          <a:p>
            <a:pPr lvl="1"/>
            <a:r>
              <a:rPr lang="en-US" dirty="0"/>
              <a:t>Basic commands</a:t>
            </a:r>
          </a:p>
          <a:p>
            <a:pPr lvl="1"/>
            <a:r>
              <a:rPr lang="en-US" dirty="0"/>
              <a:t>Exercise 0: Basic Linux + Treasure Hunt</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24542-C978-3B2F-0738-9306570366A7}"/>
              </a:ext>
            </a:extLst>
          </p:cNvPr>
          <p:cNvSpPr>
            <a:spLocks noGrp="1"/>
          </p:cNvSpPr>
          <p:nvPr>
            <p:ph type="title"/>
          </p:nvPr>
        </p:nvSpPr>
        <p:spPr>
          <a:xfrm>
            <a:off x="635000" y="635000"/>
            <a:ext cx="23114000" cy="2540000"/>
          </a:xfrm>
        </p:spPr>
        <p:txBody>
          <a:bodyPr>
            <a:normAutofit fontScale="90000"/>
          </a:bodyPr>
          <a:lstStyle/>
          <a:p>
            <a:r>
              <a:rPr lang="en-US" dirty="0"/>
              <a:t>Computational Biochemistry and Drug Design</a:t>
            </a:r>
          </a:p>
        </p:txBody>
      </p:sp>
      <p:sp>
        <p:nvSpPr>
          <p:cNvPr id="5" name="Text Placeholder 4">
            <a:extLst>
              <a:ext uri="{FF2B5EF4-FFF2-40B4-BE49-F238E27FC236}">
                <a16:creationId xmlns:a16="http://schemas.microsoft.com/office/drawing/2014/main" id="{7B277D49-4B21-9F1D-4952-8D2175B34183}"/>
              </a:ext>
            </a:extLst>
          </p:cNvPr>
          <p:cNvSpPr>
            <a:spLocks noGrp="1"/>
          </p:cNvSpPr>
          <p:nvPr>
            <p:ph type="body" idx="1"/>
          </p:nvPr>
        </p:nvSpPr>
        <p:spPr>
          <a:xfrm>
            <a:off x="635000" y="3667760"/>
            <a:ext cx="13949680" cy="8691880"/>
          </a:xfrm>
        </p:spPr>
        <p:txBody>
          <a:bodyPr>
            <a:normAutofit/>
          </a:bodyPr>
          <a:lstStyle/>
          <a:p>
            <a:r>
              <a:rPr lang="en-US" b="1" dirty="0"/>
              <a:t>Biochemistry</a:t>
            </a:r>
            <a:r>
              <a:rPr lang="en-US" dirty="0"/>
              <a:t> – the study of </a:t>
            </a:r>
            <a:r>
              <a:rPr lang="en-US" dirty="0">
                <a:hlinkClick r:id="rId3"/>
              </a:rPr>
              <a:t>chemical processes related to living organisms</a:t>
            </a:r>
            <a:r>
              <a:rPr lang="en-US" dirty="0"/>
              <a:t>.</a:t>
            </a:r>
          </a:p>
          <a:p>
            <a:r>
              <a:rPr lang="en-US" b="1" dirty="0"/>
              <a:t>Drug design </a:t>
            </a:r>
            <a:r>
              <a:rPr lang="en-US" dirty="0"/>
              <a:t>– </a:t>
            </a:r>
            <a:r>
              <a:rPr lang="en-US" dirty="0">
                <a:hlinkClick r:id="rId4"/>
              </a:rPr>
              <a:t>the inventive process of finding new medications based on the knowledge of a biological target</a:t>
            </a:r>
            <a:r>
              <a:rPr lang="en-US" dirty="0"/>
              <a:t>.</a:t>
            </a:r>
          </a:p>
          <a:p>
            <a:r>
              <a:rPr lang="en-US" dirty="0"/>
              <a:t>Nowadays, computers are widely used in both.</a:t>
            </a:r>
          </a:p>
        </p:txBody>
      </p:sp>
      <p:grpSp>
        <p:nvGrpSpPr>
          <p:cNvPr id="17" name="Group 16">
            <a:extLst>
              <a:ext uri="{FF2B5EF4-FFF2-40B4-BE49-F238E27FC236}">
                <a16:creationId xmlns:a16="http://schemas.microsoft.com/office/drawing/2014/main" id="{6F7C2D8A-39DD-84DC-65ED-D74A84D3C39B}"/>
              </a:ext>
            </a:extLst>
          </p:cNvPr>
          <p:cNvGrpSpPr/>
          <p:nvPr/>
        </p:nvGrpSpPr>
        <p:grpSpPr>
          <a:xfrm>
            <a:off x="15542260" y="5332661"/>
            <a:ext cx="7772400" cy="5088278"/>
            <a:chOff x="15542260" y="5332661"/>
            <a:chExt cx="7772400" cy="5088278"/>
          </a:xfrm>
        </p:grpSpPr>
        <p:pic>
          <p:nvPicPr>
            <p:cNvPr id="15" name="Picture 14" descr="A diagram of a sequence of steps&#10;&#10;AI-generated content may be incorrect.">
              <a:extLst>
                <a:ext uri="{FF2B5EF4-FFF2-40B4-BE49-F238E27FC236}">
                  <a16:creationId xmlns:a16="http://schemas.microsoft.com/office/drawing/2014/main" id="{311B79C8-6B46-7DDC-CE90-E507A630335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542260" y="5332661"/>
              <a:ext cx="7772400" cy="4574677"/>
            </a:xfrm>
            <a:prstGeom prst="rect">
              <a:avLst/>
            </a:prstGeom>
          </p:spPr>
        </p:pic>
        <p:sp>
          <p:nvSpPr>
            <p:cNvPr id="16" name="TextBox 15">
              <a:extLst>
                <a:ext uri="{FF2B5EF4-FFF2-40B4-BE49-F238E27FC236}">
                  <a16:creationId xmlns:a16="http://schemas.microsoft.com/office/drawing/2014/main" id="{E86B2BD5-5FC1-0B49-8C3D-6D73F4EF23EF}"/>
                </a:ext>
              </a:extLst>
            </p:cNvPr>
            <p:cNvSpPr txBox="1"/>
            <p:nvPr/>
          </p:nvSpPr>
          <p:spPr>
            <a:xfrm>
              <a:off x="15542260" y="9907338"/>
              <a:ext cx="7772400" cy="51360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531"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000000"/>
                  </a:solidFill>
                  <a:effectLst/>
                  <a:uFillTx/>
                  <a:latin typeface="+mn-lt"/>
                  <a:ea typeface="+mn-ea"/>
                  <a:cs typeface="+mn-cs"/>
                  <a:sym typeface="Helvetica Light"/>
                </a:rPr>
                <a:t>Some biochemical processes. </a:t>
              </a:r>
              <a:r>
                <a:rPr kumimoji="0" lang="en-US" sz="2400" b="0" i="0" u="none" strike="noStrike" cap="none" spc="0" normalizeH="0" baseline="0" dirty="0">
                  <a:ln>
                    <a:noFill/>
                  </a:ln>
                  <a:solidFill>
                    <a:srgbClr val="000000"/>
                  </a:solidFill>
                  <a:effectLst/>
                  <a:uFillTx/>
                  <a:latin typeface="+mn-lt"/>
                  <a:ea typeface="+mn-ea"/>
                  <a:cs typeface="+mn-cs"/>
                  <a:sym typeface="Helvetica Light"/>
                  <a:hlinkClick r:id="rId6"/>
                </a:rPr>
                <a:t>CCA-SA4.0</a:t>
              </a:r>
              <a:endParaRPr kumimoji="0" lang="en-US" sz="2400" b="0" i="0" u="none" strike="noStrike" cap="none" spc="0" normalizeH="0" baseline="0" dirty="0">
                <a:ln>
                  <a:noFill/>
                </a:ln>
                <a:solidFill>
                  <a:srgbClr val="000000"/>
                </a:solidFill>
                <a:effectLst/>
                <a:uFillTx/>
                <a:latin typeface="+mn-lt"/>
                <a:ea typeface="+mn-ea"/>
                <a:cs typeface="+mn-cs"/>
                <a:sym typeface="Helvetica Light"/>
              </a:endParaRPr>
            </a:p>
          </p:txBody>
        </p:sp>
      </p:grpSp>
    </p:spTree>
    <p:extLst>
      <p:ext uri="{BB962C8B-B14F-4D97-AF65-F5344CB8AC3E}">
        <p14:creationId xmlns:p14="http://schemas.microsoft.com/office/powerpoint/2010/main" val="1508047587"/>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CFC479-702D-6B50-D779-7E3E799F60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91C832-01A8-07A8-D2CC-261282705FB8}"/>
              </a:ext>
            </a:extLst>
          </p:cNvPr>
          <p:cNvSpPr>
            <a:spLocks noGrp="1"/>
          </p:cNvSpPr>
          <p:nvPr>
            <p:ph type="title"/>
          </p:nvPr>
        </p:nvSpPr>
        <p:spPr>
          <a:xfrm>
            <a:off x="635000" y="635000"/>
            <a:ext cx="23114000" cy="2540000"/>
          </a:xfrm>
        </p:spPr>
        <p:txBody>
          <a:bodyPr>
            <a:normAutofit/>
          </a:bodyPr>
          <a:lstStyle/>
          <a:p>
            <a:r>
              <a:rPr lang="en-US" dirty="0"/>
              <a:t>What will this course cover?</a:t>
            </a:r>
          </a:p>
        </p:txBody>
      </p:sp>
      <p:sp>
        <p:nvSpPr>
          <p:cNvPr id="5" name="Text Placeholder 4">
            <a:extLst>
              <a:ext uri="{FF2B5EF4-FFF2-40B4-BE49-F238E27FC236}">
                <a16:creationId xmlns:a16="http://schemas.microsoft.com/office/drawing/2014/main" id="{B61E3C8A-22FE-8340-1ABC-ECE112885C9D}"/>
              </a:ext>
            </a:extLst>
          </p:cNvPr>
          <p:cNvSpPr>
            <a:spLocks noGrp="1"/>
          </p:cNvSpPr>
          <p:nvPr>
            <p:ph type="body" idx="1"/>
          </p:nvPr>
        </p:nvSpPr>
        <p:spPr>
          <a:xfrm>
            <a:off x="635000" y="3667760"/>
            <a:ext cx="12806680" cy="8691880"/>
          </a:xfrm>
        </p:spPr>
        <p:txBody>
          <a:bodyPr>
            <a:normAutofit/>
          </a:bodyPr>
          <a:lstStyle/>
          <a:p>
            <a:r>
              <a:rPr lang="en-US" b="1" dirty="0"/>
              <a:t>Informatics</a:t>
            </a:r>
            <a:r>
              <a:rPr lang="en-US" dirty="0"/>
              <a:t> – </a:t>
            </a:r>
            <a:r>
              <a:rPr lang="en-US" dirty="0">
                <a:hlinkClick r:id="rId3"/>
              </a:rPr>
              <a:t>the use of data-centric approaches to solve complex problems</a:t>
            </a:r>
            <a:r>
              <a:rPr lang="en-US" dirty="0"/>
              <a:t>. Includes artificial intelligence.</a:t>
            </a:r>
          </a:p>
          <a:p>
            <a:r>
              <a:rPr lang="en-US" b="1" dirty="0"/>
              <a:t>Energy</a:t>
            </a:r>
            <a:r>
              <a:rPr lang="en-US" dirty="0"/>
              <a:t>, focusing on types and applications of potential energy models</a:t>
            </a:r>
          </a:p>
          <a:p>
            <a:r>
              <a:rPr lang="en-US" b="1" dirty="0"/>
              <a:t>Molecular dynamics simulations</a:t>
            </a:r>
            <a:endParaRPr lang="en-US" dirty="0"/>
          </a:p>
          <a:p>
            <a:pPr lvl="1"/>
            <a:r>
              <a:rPr lang="en-US" dirty="0"/>
              <a:t>evaluating stability of structural elements and networks</a:t>
            </a:r>
          </a:p>
          <a:p>
            <a:pPr lvl="1"/>
            <a:r>
              <a:rPr lang="en-US" dirty="0"/>
              <a:t>investigating how motion leads to conformational populations and relates with function</a:t>
            </a:r>
          </a:p>
        </p:txBody>
      </p:sp>
      <p:grpSp>
        <p:nvGrpSpPr>
          <p:cNvPr id="7" name="Group 6">
            <a:extLst>
              <a:ext uri="{FF2B5EF4-FFF2-40B4-BE49-F238E27FC236}">
                <a16:creationId xmlns:a16="http://schemas.microsoft.com/office/drawing/2014/main" id="{60B018C6-DA7F-0030-AA6D-A41D91340B31}"/>
              </a:ext>
            </a:extLst>
          </p:cNvPr>
          <p:cNvGrpSpPr/>
          <p:nvPr/>
        </p:nvGrpSpPr>
        <p:grpSpPr>
          <a:xfrm>
            <a:off x="13968661" y="6047987"/>
            <a:ext cx="9780339" cy="3931426"/>
            <a:chOff x="14253142" y="3175000"/>
            <a:chExt cx="9780339" cy="3931426"/>
          </a:xfrm>
        </p:grpSpPr>
        <p:pic>
          <p:nvPicPr>
            <p:cNvPr id="4" name="Picture 3" descr="A close-up of a diagram&#10;&#10;AI-generated content may be incorrect.">
              <a:extLst>
                <a:ext uri="{FF2B5EF4-FFF2-40B4-BE49-F238E27FC236}">
                  <a16:creationId xmlns:a16="http://schemas.microsoft.com/office/drawing/2014/main" id="{52CCA8D6-3218-82A8-33A2-84F30E4147F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253142" y="3175000"/>
              <a:ext cx="9780339" cy="2997200"/>
            </a:xfrm>
            <a:prstGeom prst="rect">
              <a:avLst/>
            </a:prstGeom>
          </p:spPr>
        </p:pic>
        <p:sp>
          <p:nvSpPr>
            <p:cNvPr id="6" name="TextBox 5">
              <a:extLst>
                <a:ext uri="{FF2B5EF4-FFF2-40B4-BE49-F238E27FC236}">
                  <a16:creationId xmlns:a16="http://schemas.microsoft.com/office/drawing/2014/main" id="{DE4CDD1B-90D9-A7F3-A1CA-0962700E61E3}"/>
                </a:ext>
              </a:extLst>
            </p:cNvPr>
            <p:cNvSpPr txBox="1"/>
            <p:nvPr/>
          </p:nvSpPr>
          <p:spPr>
            <a:xfrm>
              <a:off x="14253143" y="6223493"/>
              <a:ext cx="9780338" cy="8829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r>
                <a:rPr lang="en-US" sz="2400" dirty="0"/>
                <a:t>AlphaFold protein structure prediction (</a:t>
              </a:r>
              <a:r>
                <a:rPr lang="en-US" sz="2400" dirty="0">
                  <a:hlinkClick r:id="rId5"/>
                </a:rPr>
                <a:t>Nature 596, 583–589 (2021)</a:t>
              </a:r>
              <a:r>
                <a:rPr lang="en-US" sz="2400" dirty="0"/>
                <a:t> CCA-SA4.0) was awarded the 2024 Nobel Prize in Chemistry</a:t>
              </a:r>
              <a:endParaRPr kumimoji="0" lang="en-US" sz="2400" b="0" i="0" u="none" strike="noStrike" cap="none" spc="0" normalizeH="0" baseline="0" dirty="0">
                <a:ln>
                  <a:noFill/>
                </a:ln>
                <a:solidFill>
                  <a:srgbClr val="000000"/>
                </a:solidFill>
                <a:effectLst/>
                <a:uFillTx/>
                <a:latin typeface="+mn-lt"/>
                <a:ea typeface="+mn-ea"/>
                <a:cs typeface="+mn-cs"/>
                <a:sym typeface="Helvetica Light"/>
              </a:endParaRPr>
            </a:p>
          </p:txBody>
        </p:sp>
      </p:grpSp>
    </p:spTree>
    <p:extLst>
      <p:ext uri="{BB962C8B-B14F-4D97-AF65-F5344CB8AC3E}">
        <p14:creationId xmlns:p14="http://schemas.microsoft.com/office/powerpoint/2010/main" val="3992863471"/>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5000" y="232664"/>
            <a:ext cx="23114000" cy="2540000"/>
          </a:xfrm>
        </p:spPr>
        <p:txBody>
          <a:bodyPr>
            <a:normAutofit/>
          </a:bodyPr>
          <a:lstStyle/>
          <a:p>
            <a:r>
              <a:rPr lang="en-US" dirty="0"/>
              <a:t>Some tools we’ll learn to use</a:t>
            </a:r>
          </a:p>
        </p:txBody>
      </p:sp>
      <p:sp>
        <p:nvSpPr>
          <p:cNvPr id="3" name="Text Placeholder 2"/>
          <p:cNvSpPr>
            <a:spLocks noGrp="1"/>
          </p:cNvSpPr>
          <p:nvPr>
            <p:ph type="body" idx="1"/>
          </p:nvPr>
        </p:nvSpPr>
        <p:spPr>
          <a:xfrm>
            <a:off x="635000" y="2540000"/>
            <a:ext cx="17378680" cy="10160000"/>
          </a:xfrm>
        </p:spPr>
        <p:txBody>
          <a:bodyPr/>
          <a:lstStyle/>
          <a:p>
            <a:r>
              <a:rPr lang="en-US" dirty="0"/>
              <a:t>AlphaFold</a:t>
            </a:r>
          </a:p>
          <a:p>
            <a:pPr lvl="1"/>
            <a:r>
              <a:rPr lang="en-US" dirty="0"/>
              <a:t>Informatics-based structure prediction</a:t>
            </a:r>
          </a:p>
          <a:p>
            <a:pPr lvl="1"/>
            <a:r>
              <a:rPr lang="en-US" dirty="0"/>
              <a:t>Less track record for complexes</a:t>
            </a:r>
          </a:p>
          <a:p>
            <a:r>
              <a:rPr lang="en-US" dirty="0"/>
              <a:t>Molecular docking</a:t>
            </a:r>
          </a:p>
          <a:p>
            <a:pPr lvl="1"/>
            <a:r>
              <a:rPr lang="en-US" dirty="0"/>
              <a:t>Physics-based structure prediction</a:t>
            </a:r>
          </a:p>
          <a:p>
            <a:pPr lvl="1"/>
            <a:r>
              <a:rPr lang="en-US" dirty="0"/>
              <a:t>Rank (large) virtual libraries to prioritize molecules to test</a:t>
            </a:r>
          </a:p>
          <a:p>
            <a:r>
              <a:rPr lang="en-US" dirty="0"/>
              <a:t>Enhanced sampling methods</a:t>
            </a:r>
          </a:p>
          <a:p>
            <a:pPr lvl="1"/>
            <a:r>
              <a:rPr lang="en-US" dirty="0"/>
              <a:t>Explore conformations more quickly</a:t>
            </a:r>
          </a:p>
          <a:p>
            <a:pPr lvl="1"/>
            <a:r>
              <a:rPr lang="en-US" dirty="0"/>
              <a:t>Obtain reproducible and converged results</a:t>
            </a:r>
          </a:p>
          <a:p>
            <a:r>
              <a:rPr lang="en-US" dirty="0"/>
              <a:t>Free energy methods</a:t>
            </a:r>
          </a:p>
          <a:p>
            <a:pPr lvl="1"/>
            <a:r>
              <a:rPr lang="en-US" dirty="0"/>
              <a:t>Compare interactions between (closely analogous) molecules</a:t>
            </a:r>
          </a:p>
          <a:p>
            <a:pPr lvl="1"/>
            <a:r>
              <a:rPr lang="en-US" dirty="0"/>
              <a:t>Rank (small) virtual libraries more rigorously</a:t>
            </a:r>
          </a:p>
        </p:txBody>
      </p:sp>
      <p:grpSp>
        <p:nvGrpSpPr>
          <p:cNvPr id="12" name="Group 11">
            <a:extLst>
              <a:ext uri="{FF2B5EF4-FFF2-40B4-BE49-F238E27FC236}">
                <a16:creationId xmlns:a16="http://schemas.microsoft.com/office/drawing/2014/main" id="{A4795CDE-C089-8844-CFE0-D851EAD39706}"/>
              </a:ext>
            </a:extLst>
          </p:cNvPr>
          <p:cNvGrpSpPr/>
          <p:nvPr/>
        </p:nvGrpSpPr>
        <p:grpSpPr>
          <a:xfrm>
            <a:off x="18751550" y="6188826"/>
            <a:ext cx="4259580" cy="2862347"/>
            <a:chOff x="17160240" y="5837413"/>
            <a:chExt cx="4259580" cy="2862347"/>
          </a:xfrm>
        </p:grpSpPr>
        <p:pic>
          <p:nvPicPr>
            <p:cNvPr id="7" name="Graphic 6" descr="Filter with solid fill">
              <a:extLst>
                <a:ext uri="{FF2B5EF4-FFF2-40B4-BE49-F238E27FC236}">
                  <a16:creationId xmlns:a16="http://schemas.microsoft.com/office/drawing/2014/main" id="{6404DA85-F8DD-60CF-B510-A85C4ABD55C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9202400" y="6400800"/>
              <a:ext cx="2042160" cy="2042160"/>
            </a:xfrm>
            <a:prstGeom prst="rect">
              <a:avLst/>
            </a:prstGeom>
          </p:spPr>
        </p:pic>
        <p:pic>
          <p:nvPicPr>
            <p:cNvPr id="9" name="Graphic 8" descr="Laptop with solid fill">
              <a:extLst>
                <a:ext uri="{FF2B5EF4-FFF2-40B4-BE49-F238E27FC236}">
                  <a16:creationId xmlns:a16="http://schemas.microsoft.com/office/drawing/2014/main" id="{440704CA-9E30-E2CE-BC7E-56DC7518BF6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160240" y="6400799"/>
              <a:ext cx="2042160" cy="2042160"/>
            </a:xfrm>
            <a:prstGeom prst="rect">
              <a:avLst/>
            </a:prstGeom>
          </p:spPr>
        </p:pic>
        <p:sp>
          <p:nvSpPr>
            <p:cNvPr id="10" name="TextBox 9">
              <a:extLst>
                <a:ext uri="{FF2B5EF4-FFF2-40B4-BE49-F238E27FC236}">
                  <a16:creationId xmlns:a16="http://schemas.microsoft.com/office/drawing/2014/main" id="{89450752-9017-9A59-2F73-126CF4211D59}"/>
                </a:ext>
              </a:extLst>
            </p:cNvPr>
            <p:cNvSpPr txBox="1"/>
            <p:nvPr/>
          </p:nvSpPr>
          <p:spPr>
            <a:xfrm>
              <a:off x="19027140" y="5837413"/>
              <a:ext cx="2392680" cy="8829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531"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000000"/>
                  </a:solidFill>
                  <a:effectLst/>
                  <a:uFillTx/>
                  <a:latin typeface="+mn-lt"/>
                  <a:ea typeface="+mn-ea"/>
                  <a:cs typeface="+mn-cs"/>
                  <a:sym typeface="Helvetica Light"/>
                </a:rPr>
                <a:t>Many </a:t>
              </a:r>
              <a:r>
                <a:rPr lang="en-US" sz="2400" dirty="0"/>
                <a:t>possibilities</a:t>
              </a:r>
              <a:endParaRPr kumimoji="0" lang="en-US" sz="2400" b="0" i="0" u="none" strike="noStrike" cap="none" spc="0" normalizeH="0" baseline="0" dirty="0">
                <a:ln>
                  <a:noFill/>
                </a:ln>
                <a:solidFill>
                  <a:srgbClr val="000000"/>
                </a:solidFill>
                <a:effectLst/>
                <a:uFillTx/>
                <a:latin typeface="+mn-lt"/>
                <a:ea typeface="+mn-ea"/>
                <a:cs typeface="+mn-cs"/>
                <a:sym typeface="Helvetica Light"/>
              </a:endParaRPr>
            </a:p>
          </p:txBody>
        </p:sp>
        <p:sp>
          <p:nvSpPr>
            <p:cNvPr id="11" name="TextBox 10">
              <a:extLst>
                <a:ext uri="{FF2B5EF4-FFF2-40B4-BE49-F238E27FC236}">
                  <a16:creationId xmlns:a16="http://schemas.microsoft.com/office/drawing/2014/main" id="{4D30FD0A-CA82-B79B-0568-B412B172BA68}"/>
                </a:ext>
              </a:extLst>
            </p:cNvPr>
            <p:cNvSpPr txBox="1"/>
            <p:nvPr/>
          </p:nvSpPr>
          <p:spPr>
            <a:xfrm>
              <a:off x="19027140" y="8186159"/>
              <a:ext cx="2392680" cy="51360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531"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000000"/>
                  </a:solidFill>
                  <a:effectLst/>
                  <a:uFillTx/>
                  <a:latin typeface="+mn-lt"/>
                  <a:ea typeface="+mn-ea"/>
                  <a:cs typeface="+mn-cs"/>
                  <a:sym typeface="Helvetica Light"/>
                </a:rPr>
                <a:t>Few choices</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66A0E5-F01B-A93E-BB45-4770C131111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5E5506C-2102-1CD2-FFAB-085C995AA4E0}"/>
              </a:ext>
            </a:extLst>
          </p:cNvPr>
          <p:cNvSpPr/>
          <p:nvPr/>
        </p:nvSpPr>
        <p:spPr>
          <a:xfrm>
            <a:off x="2225040" y="6492240"/>
            <a:ext cx="20482560" cy="9144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0"/>
          </a:p>
        </p:txBody>
      </p:sp>
      <p:sp>
        <p:nvSpPr>
          <p:cNvPr id="5" name="Isosceles Triangle 5">
            <a:extLst>
              <a:ext uri="{FF2B5EF4-FFF2-40B4-BE49-F238E27FC236}">
                <a16:creationId xmlns:a16="http://schemas.microsoft.com/office/drawing/2014/main" id="{1CD35A8B-DB49-0328-E356-3BCBDB8D213D}"/>
              </a:ext>
            </a:extLst>
          </p:cNvPr>
          <p:cNvSpPr/>
          <p:nvPr/>
        </p:nvSpPr>
        <p:spPr>
          <a:xfrm rot="5400000">
            <a:off x="22707600" y="6455664"/>
            <a:ext cx="1005840" cy="987552"/>
          </a:xfrm>
          <a:prstGeom prst="triangle">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0"/>
          </a:p>
        </p:txBody>
      </p:sp>
      <p:sp>
        <p:nvSpPr>
          <p:cNvPr id="6" name="Oval 5">
            <a:extLst>
              <a:ext uri="{FF2B5EF4-FFF2-40B4-BE49-F238E27FC236}">
                <a16:creationId xmlns:a16="http://schemas.microsoft.com/office/drawing/2014/main" id="{7123FD79-0AC6-D337-31BD-3B35BC78BA1F}"/>
              </a:ext>
            </a:extLst>
          </p:cNvPr>
          <p:cNvSpPr/>
          <p:nvPr/>
        </p:nvSpPr>
        <p:spPr>
          <a:xfrm>
            <a:off x="1813560" y="5989320"/>
            <a:ext cx="1920240" cy="1920240"/>
          </a:xfrm>
          <a:prstGeom prst="ellipse">
            <a:avLst/>
          </a:prstGeom>
          <a:solidFill>
            <a:srgbClr val="FFFFFF"/>
          </a:solidFill>
          <a:ln w="317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4800">
                <a:latin typeface="Segoe UI Emoji"/>
              </a:rPr>
              <a:t>🧑‍🏫</a:t>
            </a:r>
          </a:p>
        </p:txBody>
      </p:sp>
      <p:sp>
        <p:nvSpPr>
          <p:cNvPr id="7" name="TextBox 6">
            <a:extLst>
              <a:ext uri="{FF2B5EF4-FFF2-40B4-BE49-F238E27FC236}">
                <a16:creationId xmlns:a16="http://schemas.microsoft.com/office/drawing/2014/main" id="{DD8AD0F0-3BA2-C7F7-D2C4-536FF0311B1C}"/>
              </a:ext>
            </a:extLst>
          </p:cNvPr>
          <p:cNvSpPr txBox="1"/>
          <p:nvPr/>
        </p:nvSpPr>
        <p:spPr>
          <a:xfrm>
            <a:off x="2309450" y="7211569"/>
            <a:ext cx="928459" cy="492443"/>
          </a:xfrm>
          <a:prstGeom prst="rect">
            <a:avLst/>
          </a:prstGeom>
          <a:noFill/>
        </p:spPr>
        <p:txBody>
          <a:bodyPr wrap="none">
            <a:spAutoFit/>
          </a:bodyPr>
          <a:lstStyle/>
          <a:p>
            <a:pPr algn="ctr"/>
            <a:r>
              <a:rPr sz="2600" b="1" dirty="0">
                <a:solidFill>
                  <a:srgbClr val="CC0000"/>
                </a:solidFill>
              </a:rPr>
              <a:t>2004</a:t>
            </a:r>
          </a:p>
        </p:txBody>
      </p:sp>
      <p:cxnSp>
        <p:nvCxnSpPr>
          <p:cNvPr id="8" name="Connector 8">
            <a:extLst>
              <a:ext uri="{FF2B5EF4-FFF2-40B4-BE49-F238E27FC236}">
                <a16:creationId xmlns:a16="http://schemas.microsoft.com/office/drawing/2014/main" id="{1DFAB35E-7634-8701-3D62-FD2DC2FE0E61}"/>
              </a:ext>
            </a:extLst>
          </p:cNvPr>
          <p:cNvCxnSpPr/>
          <p:nvPr/>
        </p:nvCxnSpPr>
        <p:spPr>
          <a:xfrm flipV="1">
            <a:off x="487680" y="5394960"/>
            <a:ext cx="0" cy="0"/>
          </a:xfrm>
          <a:prstGeom prst="line">
            <a:avLst/>
          </a:prstGeom>
          <a:ln w="19050">
            <a:solidFill>
              <a:srgbClr val="76777B"/>
            </a:solidFill>
          </a:ln>
        </p:spPr>
        <p:style>
          <a:lnRef idx="2">
            <a:schemeClr val="accent1"/>
          </a:lnRef>
          <a:fillRef idx="0">
            <a:schemeClr val="accent1"/>
          </a:fillRef>
          <a:effectRef idx="1">
            <a:schemeClr val="accent1"/>
          </a:effectRef>
          <a:fontRef idx="minor">
            <a:schemeClr val="tx1"/>
          </a:fontRef>
        </p:style>
      </p:cxnSp>
      <p:sp>
        <p:nvSpPr>
          <p:cNvPr id="9" name="Rounded Rectangle 8">
            <a:extLst>
              <a:ext uri="{FF2B5EF4-FFF2-40B4-BE49-F238E27FC236}">
                <a16:creationId xmlns:a16="http://schemas.microsoft.com/office/drawing/2014/main" id="{6E8D9E78-D049-9119-DBDE-D85307BC22E0}"/>
              </a:ext>
            </a:extLst>
          </p:cNvPr>
          <p:cNvSpPr/>
          <p:nvPr/>
        </p:nvSpPr>
        <p:spPr>
          <a:xfrm>
            <a:off x="350520" y="2926080"/>
            <a:ext cx="4846320" cy="2468880"/>
          </a:xfrm>
          <a:prstGeom prst="roundRect">
            <a:avLst/>
          </a:prstGeom>
          <a:solidFill>
            <a:srgbClr val="FFFFFF"/>
          </a:solidFill>
          <a:ln w="12700">
            <a:solidFill>
              <a:srgbClr val="76777B"/>
            </a:solidFill>
          </a:ln>
        </p:spPr>
        <p:style>
          <a:lnRef idx="1">
            <a:schemeClr val="accent1"/>
          </a:lnRef>
          <a:fillRef idx="3">
            <a:schemeClr val="accent1"/>
          </a:fillRef>
          <a:effectRef idx="2">
            <a:schemeClr val="accent1"/>
          </a:effectRef>
          <a:fontRef idx="minor">
            <a:schemeClr val="lt1"/>
          </a:fontRef>
        </p:style>
        <p:txBody>
          <a:bodyPr wrap="square" lIns="219456" tIns="109728" rIns="219456" bIns="109728" rtlCol="0" anchor="ctr"/>
          <a:lstStyle/>
          <a:p>
            <a:pPr algn="ctr"/>
            <a:r>
              <a:rPr sz="2400" b="1" dirty="0">
                <a:solidFill>
                  <a:srgbClr val="000000"/>
                </a:solidFill>
              </a:rPr>
              <a:t>Molecular modeling workshop</a:t>
            </a:r>
          </a:p>
          <a:p>
            <a:r>
              <a:rPr lang="en-US" sz="2000" dirty="0">
                <a:solidFill>
                  <a:srgbClr val="76777B"/>
                </a:solidFill>
              </a:rPr>
              <a:t>I a</a:t>
            </a:r>
            <a:r>
              <a:rPr sz="2000" dirty="0">
                <a:solidFill>
                  <a:srgbClr val="76777B"/>
                </a:solidFill>
              </a:rPr>
              <a:t>ttended a workshop at the start of my Ph.D., helping me get off to a quick start</a:t>
            </a:r>
          </a:p>
        </p:txBody>
      </p:sp>
      <p:sp>
        <p:nvSpPr>
          <p:cNvPr id="10" name="Oval 9">
            <a:extLst>
              <a:ext uri="{FF2B5EF4-FFF2-40B4-BE49-F238E27FC236}">
                <a16:creationId xmlns:a16="http://schemas.microsoft.com/office/drawing/2014/main" id="{F3B4DCE7-5E9C-849F-30EB-01D528A5CE01}"/>
              </a:ext>
            </a:extLst>
          </p:cNvPr>
          <p:cNvSpPr/>
          <p:nvPr/>
        </p:nvSpPr>
        <p:spPr>
          <a:xfrm>
            <a:off x="4622074" y="5989320"/>
            <a:ext cx="1920240" cy="1920240"/>
          </a:xfrm>
          <a:prstGeom prst="ellipse">
            <a:avLst/>
          </a:prstGeom>
          <a:solidFill>
            <a:srgbClr val="FFFFFF"/>
          </a:solidFill>
          <a:ln w="317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4800">
                <a:latin typeface="Segoe UI Emoji"/>
              </a:rPr>
              <a:t>🏛️</a:t>
            </a:r>
          </a:p>
        </p:txBody>
      </p:sp>
      <p:sp>
        <p:nvSpPr>
          <p:cNvPr id="11" name="TextBox 10">
            <a:extLst>
              <a:ext uri="{FF2B5EF4-FFF2-40B4-BE49-F238E27FC236}">
                <a16:creationId xmlns:a16="http://schemas.microsoft.com/office/drawing/2014/main" id="{31083FC2-20CA-9685-59E3-980F078C207A}"/>
              </a:ext>
            </a:extLst>
          </p:cNvPr>
          <p:cNvSpPr txBox="1"/>
          <p:nvPr/>
        </p:nvSpPr>
        <p:spPr>
          <a:xfrm>
            <a:off x="5117964" y="7211569"/>
            <a:ext cx="928459" cy="492443"/>
          </a:xfrm>
          <a:prstGeom prst="rect">
            <a:avLst/>
          </a:prstGeom>
          <a:noFill/>
        </p:spPr>
        <p:txBody>
          <a:bodyPr wrap="none">
            <a:spAutoFit/>
          </a:bodyPr>
          <a:lstStyle/>
          <a:p>
            <a:pPr algn="ctr"/>
            <a:r>
              <a:rPr sz="2600" b="1" dirty="0">
                <a:solidFill>
                  <a:srgbClr val="CC0000"/>
                </a:solidFill>
              </a:rPr>
              <a:t>2017</a:t>
            </a:r>
          </a:p>
        </p:txBody>
      </p:sp>
      <p:sp>
        <p:nvSpPr>
          <p:cNvPr id="12" name="Rounded Rectangle 11">
            <a:extLst>
              <a:ext uri="{FF2B5EF4-FFF2-40B4-BE49-F238E27FC236}">
                <a16:creationId xmlns:a16="http://schemas.microsoft.com/office/drawing/2014/main" id="{248BCB54-0F02-359E-A2E6-5771B460B60F}"/>
              </a:ext>
            </a:extLst>
          </p:cNvPr>
          <p:cNvSpPr/>
          <p:nvPr/>
        </p:nvSpPr>
        <p:spPr>
          <a:xfrm>
            <a:off x="3183418" y="8467342"/>
            <a:ext cx="4846320" cy="2468880"/>
          </a:xfrm>
          <a:prstGeom prst="roundRect">
            <a:avLst/>
          </a:prstGeom>
          <a:solidFill>
            <a:srgbClr val="FFFFFF"/>
          </a:solidFill>
          <a:ln w="12700">
            <a:solidFill>
              <a:srgbClr val="76777B"/>
            </a:solidFill>
          </a:ln>
        </p:spPr>
        <p:style>
          <a:lnRef idx="1">
            <a:schemeClr val="accent1"/>
          </a:lnRef>
          <a:fillRef idx="3">
            <a:schemeClr val="accent1"/>
          </a:fillRef>
          <a:effectRef idx="2">
            <a:schemeClr val="accent1"/>
          </a:effectRef>
          <a:fontRef idx="minor">
            <a:schemeClr val="lt1"/>
          </a:fontRef>
        </p:style>
        <p:txBody>
          <a:bodyPr wrap="square" lIns="219456" tIns="109728" rIns="219456" bIns="109728" rtlCol="0" anchor="ctr"/>
          <a:lstStyle/>
          <a:p>
            <a:pPr algn="ctr"/>
            <a:r>
              <a:rPr sz="2400" b="1" dirty="0">
                <a:solidFill>
                  <a:srgbClr val="000000"/>
                </a:solidFill>
              </a:rPr>
              <a:t>Programs launched</a:t>
            </a:r>
          </a:p>
          <a:p>
            <a:r>
              <a:rPr sz="2000" dirty="0">
                <a:solidFill>
                  <a:srgbClr val="76777B"/>
                </a:solidFill>
              </a:rPr>
              <a:t>Illinois Tech launches </a:t>
            </a:r>
            <a:r>
              <a:rPr lang="en-US" sz="2000" dirty="0">
                <a:solidFill>
                  <a:srgbClr val="76777B"/>
                </a:solidFill>
              </a:rPr>
              <a:t>degree programs in </a:t>
            </a:r>
            <a:r>
              <a:rPr sz="2000" dirty="0">
                <a:solidFill>
                  <a:srgbClr val="76777B"/>
                </a:solidFill>
              </a:rPr>
              <a:t>medicinal and computational chemistry</a:t>
            </a:r>
          </a:p>
        </p:txBody>
      </p:sp>
      <p:sp>
        <p:nvSpPr>
          <p:cNvPr id="13" name="Oval 12">
            <a:extLst>
              <a:ext uri="{FF2B5EF4-FFF2-40B4-BE49-F238E27FC236}">
                <a16:creationId xmlns:a16="http://schemas.microsoft.com/office/drawing/2014/main" id="{51D5B363-F58F-BAC0-FA9E-B355B5495224}"/>
              </a:ext>
            </a:extLst>
          </p:cNvPr>
          <p:cNvSpPr/>
          <p:nvPr/>
        </p:nvSpPr>
        <p:spPr>
          <a:xfrm>
            <a:off x="7430588" y="5989320"/>
            <a:ext cx="1920240" cy="1920240"/>
          </a:xfrm>
          <a:prstGeom prst="ellipse">
            <a:avLst/>
          </a:prstGeom>
          <a:solidFill>
            <a:srgbClr val="FFFFFF"/>
          </a:solidFill>
          <a:ln w="317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4800">
                <a:latin typeface="Segoe UI Emoji"/>
              </a:rPr>
              <a:t>💻</a:t>
            </a:r>
          </a:p>
        </p:txBody>
      </p:sp>
      <p:sp>
        <p:nvSpPr>
          <p:cNvPr id="14" name="TextBox 13">
            <a:extLst>
              <a:ext uri="{FF2B5EF4-FFF2-40B4-BE49-F238E27FC236}">
                <a16:creationId xmlns:a16="http://schemas.microsoft.com/office/drawing/2014/main" id="{ED2427C4-77D2-7304-DEE8-D3299B041331}"/>
              </a:ext>
            </a:extLst>
          </p:cNvPr>
          <p:cNvSpPr txBox="1"/>
          <p:nvPr/>
        </p:nvSpPr>
        <p:spPr>
          <a:xfrm>
            <a:off x="7926478" y="7211569"/>
            <a:ext cx="928459" cy="492443"/>
          </a:xfrm>
          <a:prstGeom prst="rect">
            <a:avLst/>
          </a:prstGeom>
          <a:noFill/>
        </p:spPr>
        <p:txBody>
          <a:bodyPr wrap="none">
            <a:spAutoFit/>
          </a:bodyPr>
          <a:lstStyle/>
          <a:p>
            <a:pPr algn="ctr"/>
            <a:r>
              <a:rPr sz="2600" b="1">
                <a:solidFill>
                  <a:srgbClr val="CC0000"/>
                </a:solidFill>
              </a:rPr>
              <a:t>2020</a:t>
            </a:r>
          </a:p>
        </p:txBody>
      </p:sp>
      <p:cxnSp>
        <p:nvCxnSpPr>
          <p:cNvPr id="15" name="Connector 16">
            <a:extLst>
              <a:ext uri="{FF2B5EF4-FFF2-40B4-BE49-F238E27FC236}">
                <a16:creationId xmlns:a16="http://schemas.microsoft.com/office/drawing/2014/main" id="{8016AA2B-A114-BE1F-0172-4C2A64369AA4}"/>
              </a:ext>
            </a:extLst>
          </p:cNvPr>
          <p:cNvCxnSpPr/>
          <p:nvPr/>
        </p:nvCxnSpPr>
        <p:spPr>
          <a:xfrm flipV="1">
            <a:off x="487680" y="5394960"/>
            <a:ext cx="0" cy="0"/>
          </a:xfrm>
          <a:prstGeom prst="line">
            <a:avLst/>
          </a:prstGeom>
          <a:ln w="19050">
            <a:solidFill>
              <a:srgbClr val="76777B"/>
            </a:solidFill>
          </a:ln>
        </p:spPr>
        <p:style>
          <a:lnRef idx="2">
            <a:schemeClr val="accent1"/>
          </a:lnRef>
          <a:fillRef idx="0">
            <a:schemeClr val="accent1"/>
          </a:fillRef>
          <a:effectRef idx="1">
            <a:schemeClr val="accent1"/>
          </a:effectRef>
          <a:fontRef idx="minor">
            <a:schemeClr val="tx1"/>
          </a:fontRef>
        </p:style>
      </p:cxnSp>
      <p:sp>
        <p:nvSpPr>
          <p:cNvPr id="16" name="Rounded Rectangle 15">
            <a:extLst>
              <a:ext uri="{FF2B5EF4-FFF2-40B4-BE49-F238E27FC236}">
                <a16:creationId xmlns:a16="http://schemas.microsoft.com/office/drawing/2014/main" id="{AD2566DC-D72E-500A-D5F1-7A28440EAF30}"/>
              </a:ext>
            </a:extLst>
          </p:cNvPr>
          <p:cNvSpPr/>
          <p:nvPr/>
        </p:nvSpPr>
        <p:spPr>
          <a:xfrm>
            <a:off x="5967548" y="2926080"/>
            <a:ext cx="4846320" cy="2468880"/>
          </a:xfrm>
          <a:prstGeom prst="roundRect">
            <a:avLst/>
          </a:prstGeom>
          <a:solidFill>
            <a:srgbClr val="FFFFFF"/>
          </a:solidFill>
          <a:ln w="12700">
            <a:solidFill>
              <a:srgbClr val="76777B"/>
            </a:solidFill>
          </a:ln>
        </p:spPr>
        <p:style>
          <a:lnRef idx="1">
            <a:schemeClr val="accent1"/>
          </a:lnRef>
          <a:fillRef idx="3">
            <a:schemeClr val="accent1"/>
          </a:fillRef>
          <a:effectRef idx="2">
            <a:schemeClr val="accent1"/>
          </a:effectRef>
          <a:fontRef idx="minor">
            <a:schemeClr val="lt1"/>
          </a:fontRef>
        </p:style>
        <p:txBody>
          <a:bodyPr wrap="square" lIns="219456" tIns="109728" rIns="219456" bIns="109728" rtlCol="0" anchor="ctr"/>
          <a:lstStyle/>
          <a:p>
            <a:pPr algn="ctr"/>
            <a:r>
              <a:rPr sz="2400" b="1" dirty="0">
                <a:solidFill>
                  <a:srgbClr val="000000"/>
                </a:solidFill>
              </a:rPr>
              <a:t>Chem 456 first taught</a:t>
            </a:r>
          </a:p>
          <a:p>
            <a:r>
              <a:rPr sz="2000" dirty="0">
                <a:solidFill>
                  <a:srgbClr val="76777B"/>
                </a:solidFill>
              </a:rPr>
              <a:t>Chem 456 begins in a computer lab and moves online due to the pandemic</a:t>
            </a:r>
          </a:p>
        </p:txBody>
      </p:sp>
      <p:sp>
        <p:nvSpPr>
          <p:cNvPr id="17" name="Oval 16">
            <a:extLst>
              <a:ext uri="{FF2B5EF4-FFF2-40B4-BE49-F238E27FC236}">
                <a16:creationId xmlns:a16="http://schemas.microsoft.com/office/drawing/2014/main" id="{2FE9C7D5-F911-8AAD-6CDF-1EDEFCBF3FE2}"/>
              </a:ext>
            </a:extLst>
          </p:cNvPr>
          <p:cNvSpPr/>
          <p:nvPr/>
        </p:nvSpPr>
        <p:spPr>
          <a:xfrm>
            <a:off x="10239102" y="5989320"/>
            <a:ext cx="1920240" cy="1920240"/>
          </a:xfrm>
          <a:prstGeom prst="ellipse">
            <a:avLst/>
          </a:prstGeom>
          <a:solidFill>
            <a:srgbClr val="FFFFFF"/>
          </a:solidFill>
          <a:ln w="317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4800">
                <a:latin typeface="Segoe UI Emoji"/>
              </a:rPr>
              <a:t>🌐</a:t>
            </a:r>
          </a:p>
        </p:txBody>
      </p:sp>
      <p:sp>
        <p:nvSpPr>
          <p:cNvPr id="18" name="TextBox 17">
            <a:extLst>
              <a:ext uri="{FF2B5EF4-FFF2-40B4-BE49-F238E27FC236}">
                <a16:creationId xmlns:a16="http://schemas.microsoft.com/office/drawing/2014/main" id="{75944739-543F-CA4D-541E-8550AA3B512C}"/>
              </a:ext>
            </a:extLst>
          </p:cNvPr>
          <p:cNvSpPr txBox="1"/>
          <p:nvPr/>
        </p:nvSpPr>
        <p:spPr>
          <a:xfrm>
            <a:off x="10596334" y="7211569"/>
            <a:ext cx="1205779" cy="492443"/>
          </a:xfrm>
          <a:prstGeom prst="rect">
            <a:avLst/>
          </a:prstGeom>
          <a:noFill/>
        </p:spPr>
        <p:txBody>
          <a:bodyPr wrap="none">
            <a:spAutoFit/>
          </a:bodyPr>
          <a:lstStyle/>
          <a:p>
            <a:pPr algn="ctr"/>
            <a:r>
              <a:rPr sz="2600" b="1" dirty="0">
                <a:solidFill>
                  <a:srgbClr val="CC0000"/>
                </a:solidFill>
              </a:rPr>
              <a:t>2021</a:t>
            </a:r>
            <a:r>
              <a:rPr lang="en-US" sz="2600" b="1" dirty="0">
                <a:solidFill>
                  <a:srgbClr val="CC0000"/>
                </a:solidFill>
              </a:rPr>
              <a:t>M</a:t>
            </a:r>
            <a:endParaRPr sz="2600" b="1" dirty="0">
              <a:solidFill>
                <a:srgbClr val="CC0000"/>
              </a:solidFill>
            </a:endParaRPr>
          </a:p>
        </p:txBody>
      </p:sp>
      <p:sp>
        <p:nvSpPr>
          <p:cNvPr id="19" name="Rounded Rectangle 18">
            <a:extLst>
              <a:ext uri="{FF2B5EF4-FFF2-40B4-BE49-F238E27FC236}">
                <a16:creationId xmlns:a16="http://schemas.microsoft.com/office/drawing/2014/main" id="{6739372E-DB39-464D-290F-9A10925298BB}"/>
              </a:ext>
            </a:extLst>
          </p:cNvPr>
          <p:cNvSpPr/>
          <p:nvPr/>
        </p:nvSpPr>
        <p:spPr>
          <a:xfrm>
            <a:off x="8800446" y="8467342"/>
            <a:ext cx="4846320" cy="2468880"/>
          </a:xfrm>
          <a:prstGeom prst="roundRect">
            <a:avLst/>
          </a:prstGeom>
          <a:solidFill>
            <a:srgbClr val="FFFFFF"/>
          </a:solidFill>
          <a:ln w="12700">
            <a:solidFill>
              <a:srgbClr val="76777B"/>
            </a:solidFill>
          </a:ln>
        </p:spPr>
        <p:style>
          <a:lnRef idx="1">
            <a:schemeClr val="accent1"/>
          </a:lnRef>
          <a:fillRef idx="3">
            <a:schemeClr val="accent1"/>
          </a:fillRef>
          <a:effectRef idx="2">
            <a:schemeClr val="accent1"/>
          </a:effectRef>
          <a:fontRef idx="minor">
            <a:schemeClr val="lt1"/>
          </a:fontRef>
        </p:style>
        <p:txBody>
          <a:bodyPr wrap="square" lIns="219456" tIns="109728" rIns="219456" bIns="109728" rtlCol="0" anchor="ctr"/>
          <a:lstStyle/>
          <a:p>
            <a:pPr algn="ctr"/>
            <a:r>
              <a:rPr sz="2400" b="1" dirty="0">
                <a:solidFill>
                  <a:srgbClr val="000000"/>
                </a:solidFill>
              </a:rPr>
              <a:t>Online workshop + Chem 456</a:t>
            </a:r>
          </a:p>
          <a:p>
            <a:r>
              <a:rPr lang="en-US" sz="2000" dirty="0">
                <a:solidFill>
                  <a:srgbClr val="76777B"/>
                </a:solidFill>
              </a:rPr>
              <a:t>I o</a:t>
            </a:r>
            <a:r>
              <a:rPr sz="2000" dirty="0">
                <a:solidFill>
                  <a:srgbClr val="76777B"/>
                </a:solidFill>
              </a:rPr>
              <a:t>rganized an online workshop and ran a small session of Chem 456</a:t>
            </a:r>
            <a:r>
              <a:rPr lang="en-US" sz="2000" dirty="0">
                <a:solidFill>
                  <a:srgbClr val="76777B"/>
                </a:solidFill>
              </a:rPr>
              <a:t>, running labs </a:t>
            </a:r>
            <a:r>
              <a:rPr sz="2000" dirty="0">
                <a:solidFill>
                  <a:srgbClr val="76777B"/>
                </a:solidFill>
              </a:rPr>
              <a:t>on a virtual machine</a:t>
            </a:r>
          </a:p>
        </p:txBody>
      </p:sp>
      <p:sp>
        <p:nvSpPr>
          <p:cNvPr id="20" name="Oval 19">
            <a:extLst>
              <a:ext uri="{FF2B5EF4-FFF2-40B4-BE49-F238E27FC236}">
                <a16:creationId xmlns:a16="http://schemas.microsoft.com/office/drawing/2014/main" id="{5C704F0F-5E1C-7FDB-6564-C8163269A70C}"/>
              </a:ext>
            </a:extLst>
          </p:cNvPr>
          <p:cNvSpPr/>
          <p:nvPr/>
        </p:nvSpPr>
        <p:spPr>
          <a:xfrm>
            <a:off x="13047616" y="5989320"/>
            <a:ext cx="1920240" cy="1920240"/>
          </a:xfrm>
          <a:prstGeom prst="ellipse">
            <a:avLst/>
          </a:prstGeom>
          <a:solidFill>
            <a:srgbClr val="FFFFFF"/>
          </a:solidFill>
          <a:ln w="317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4800">
                <a:latin typeface="Segoe UI Emoji"/>
              </a:rPr>
              <a:t>📍</a:t>
            </a:r>
          </a:p>
        </p:txBody>
      </p:sp>
      <p:sp>
        <p:nvSpPr>
          <p:cNvPr id="21" name="TextBox 20">
            <a:extLst>
              <a:ext uri="{FF2B5EF4-FFF2-40B4-BE49-F238E27FC236}">
                <a16:creationId xmlns:a16="http://schemas.microsoft.com/office/drawing/2014/main" id="{73E1B2AC-BF2B-E3C1-7E03-77FC9F3AA974}"/>
              </a:ext>
            </a:extLst>
          </p:cNvPr>
          <p:cNvSpPr txBox="1"/>
          <p:nvPr/>
        </p:nvSpPr>
        <p:spPr>
          <a:xfrm>
            <a:off x="13441717" y="7211569"/>
            <a:ext cx="1132040" cy="492443"/>
          </a:xfrm>
          <a:prstGeom prst="rect">
            <a:avLst/>
          </a:prstGeom>
          <a:noFill/>
        </p:spPr>
        <p:txBody>
          <a:bodyPr wrap="none">
            <a:spAutoFit/>
          </a:bodyPr>
          <a:lstStyle/>
          <a:p>
            <a:pPr algn="ctr"/>
            <a:r>
              <a:rPr sz="2600" b="1" dirty="0">
                <a:solidFill>
                  <a:srgbClr val="CC0000"/>
                </a:solidFill>
              </a:rPr>
              <a:t>2022</a:t>
            </a:r>
            <a:r>
              <a:rPr lang="en-US" sz="2600" b="1" dirty="0">
                <a:solidFill>
                  <a:srgbClr val="CC0000"/>
                </a:solidFill>
              </a:rPr>
              <a:t>S</a:t>
            </a:r>
            <a:endParaRPr sz="2600" b="1" dirty="0">
              <a:solidFill>
                <a:srgbClr val="CC0000"/>
              </a:solidFill>
            </a:endParaRPr>
          </a:p>
        </p:txBody>
      </p:sp>
      <p:cxnSp>
        <p:nvCxnSpPr>
          <p:cNvPr id="22" name="Connector 24">
            <a:extLst>
              <a:ext uri="{FF2B5EF4-FFF2-40B4-BE49-F238E27FC236}">
                <a16:creationId xmlns:a16="http://schemas.microsoft.com/office/drawing/2014/main" id="{52996A2E-288F-AABB-7279-48B0841E9A6D}"/>
              </a:ext>
            </a:extLst>
          </p:cNvPr>
          <p:cNvCxnSpPr/>
          <p:nvPr/>
        </p:nvCxnSpPr>
        <p:spPr>
          <a:xfrm flipV="1">
            <a:off x="487680" y="5394960"/>
            <a:ext cx="0" cy="0"/>
          </a:xfrm>
          <a:prstGeom prst="line">
            <a:avLst/>
          </a:prstGeom>
          <a:ln w="19050">
            <a:solidFill>
              <a:srgbClr val="76777B"/>
            </a:solidFill>
          </a:ln>
        </p:spPr>
        <p:style>
          <a:lnRef idx="2">
            <a:schemeClr val="accent1"/>
          </a:lnRef>
          <a:fillRef idx="0">
            <a:schemeClr val="accent1"/>
          </a:fillRef>
          <a:effectRef idx="1">
            <a:schemeClr val="accent1"/>
          </a:effectRef>
          <a:fontRef idx="minor">
            <a:schemeClr val="tx1"/>
          </a:fontRef>
        </p:style>
      </p:cxnSp>
      <p:sp>
        <p:nvSpPr>
          <p:cNvPr id="23" name="Rounded Rectangle 22">
            <a:extLst>
              <a:ext uri="{FF2B5EF4-FFF2-40B4-BE49-F238E27FC236}">
                <a16:creationId xmlns:a16="http://schemas.microsoft.com/office/drawing/2014/main" id="{0FE75213-C202-7803-422C-D1CF4DC2B94E}"/>
              </a:ext>
            </a:extLst>
          </p:cNvPr>
          <p:cNvSpPr/>
          <p:nvPr/>
        </p:nvSpPr>
        <p:spPr>
          <a:xfrm>
            <a:off x="11584576" y="2926080"/>
            <a:ext cx="4846320" cy="2468880"/>
          </a:xfrm>
          <a:prstGeom prst="roundRect">
            <a:avLst/>
          </a:prstGeom>
          <a:solidFill>
            <a:srgbClr val="FFFFFF"/>
          </a:solidFill>
          <a:ln w="12700">
            <a:solidFill>
              <a:srgbClr val="76777B"/>
            </a:solidFill>
          </a:ln>
        </p:spPr>
        <p:style>
          <a:lnRef idx="1">
            <a:schemeClr val="accent1"/>
          </a:lnRef>
          <a:fillRef idx="3">
            <a:schemeClr val="accent1"/>
          </a:fillRef>
          <a:effectRef idx="2">
            <a:schemeClr val="accent1"/>
          </a:effectRef>
          <a:fontRef idx="minor">
            <a:schemeClr val="lt1"/>
          </a:fontRef>
        </p:style>
        <p:txBody>
          <a:bodyPr wrap="square" lIns="219456" tIns="109728" rIns="219456" bIns="109728" rtlCol="0" anchor="ctr"/>
          <a:lstStyle/>
          <a:p>
            <a:pPr algn="ctr"/>
            <a:r>
              <a:rPr sz="2400" b="1" dirty="0">
                <a:solidFill>
                  <a:srgbClr val="000000"/>
                </a:solidFill>
              </a:rPr>
              <a:t>Colombia workshop</a:t>
            </a:r>
          </a:p>
          <a:p>
            <a:r>
              <a:rPr lang="en-US" sz="2000" dirty="0">
                <a:solidFill>
                  <a:srgbClr val="76777B"/>
                </a:solidFill>
              </a:rPr>
              <a:t>I w</a:t>
            </a:r>
            <a:r>
              <a:rPr sz="2000" dirty="0">
                <a:solidFill>
                  <a:srgbClr val="76777B"/>
                </a:solidFill>
              </a:rPr>
              <a:t>orked with four students to run </a:t>
            </a:r>
            <a:r>
              <a:rPr lang="en-US" sz="2000" dirty="0">
                <a:solidFill>
                  <a:srgbClr val="76777B"/>
                </a:solidFill>
              </a:rPr>
              <a:t>a</a:t>
            </a:r>
            <a:r>
              <a:rPr sz="2000" dirty="0">
                <a:solidFill>
                  <a:srgbClr val="76777B"/>
                </a:solidFill>
              </a:rPr>
              <a:t> workshop in Colombia</a:t>
            </a:r>
            <a:r>
              <a:rPr lang="en-US" sz="2000" dirty="0">
                <a:solidFill>
                  <a:srgbClr val="76777B"/>
                </a:solidFill>
              </a:rPr>
              <a:t>, </a:t>
            </a:r>
            <a:r>
              <a:rPr sz="2000" dirty="0">
                <a:solidFill>
                  <a:srgbClr val="76777B"/>
                </a:solidFill>
              </a:rPr>
              <a:t>migrat</a:t>
            </a:r>
            <a:r>
              <a:rPr lang="en-US" sz="2000" dirty="0">
                <a:solidFill>
                  <a:srgbClr val="76777B"/>
                </a:solidFill>
              </a:rPr>
              <a:t>ing </a:t>
            </a:r>
            <a:r>
              <a:rPr sz="2000" dirty="0">
                <a:solidFill>
                  <a:srgbClr val="76777B"/>
                </a:solidFill>
              </a:rPr>
              <a:t>labs to Google </a:t>
            </a:r>
            <a:r>
              <a:rPr sz="2000" dirty="0" err="1">
                <a:solidFill>
                  <a:srgbClr val="76777B"/>
                </a:solidFill>
              </a:rPr>
              <a:t>Colab</a:t>
            </a:r>
            <a:endParaRPr sz="2000" dirty="0">
              <a:solidFill>
                <a:srgbClr val="76777B"/>
              </a:solidFill>
            </a:endParaRPr>
          </a:p>
        </p:txBody>
      </p:sp>
      <p:sp>
        <p:nvSpPr>
          <p:cNvPr id="24" name="Oval 23">
            <a:extLst>
              <a:ext uri="{FF2B5EF4-FFF2-40B4-BE49-F238E27FC236}">
                <a16:creationId xmlns:a16="http://schemas.microsoft.com/office/drawing/2014/main" id="{F8F3AC7F-6CE5-CDB2-2CEA-660644679035}"/>
              </a:ext>
            </a:extLst>
          </p:cNvPr>
          <p:cNvSpPr/>
          <p:nvPr/>
        </p:nvSpPr>
        <p:spPr>
          <a:xfrm>
            <a:off x="15856130" y="5989320"/>
            <a:ext cx="1920240" cy="1920240"/>
          </a:xfrm>
          <a:prstGeom prst="ellipse">
            <a:avLst/>
          </a:prstGeom>
          <a:solidFill>
            <a:srgbClr val="FFFFFF"/>
          </a:solidFill>
          <a:ln w="317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4800">
                <a:latin typeface="Segoe UI Emoji"/>
              </a:rPr>
              <a:t>💡</a:t>
            </a:r>
          </a:p>
        </p:txBody>
      </p:sp>
      <p:sp>
        <p:nvSpPr>
          <p:cNvPr id="25" name="TextBox 24">
            <a:extLst>
              <a:ext uri="{FF2B5EF4-FFF2-40B4-BE49-F238E27FC236}">
                <a16:creationId xmlns:a16="http://schemas.microsoft.com/office/drawing/2014/main" id="{78674470-89B6-CBB9-38DE-90A08B5F575D}"/>
              </a:ext>
            </a:extLst>
          </p:cNvPr>
          <p:cNvSpPr txBox="1"/>
          <p:nvPr/>
        </p:nvSpPr>
        <p:spPr>
          <a:xfrm>
            <a:off x="16259045" y="7211569"/>
            <a:ext cx="1114409" cy="492443"/>
          </a:xfrm>
          <a:prstGeom prst="rect">
            <a:avLst/>
          </a:prstGeom>
          <a:noFill/>
        </p:spPr>
        <p:txBody>
          <a:bodyPr wrap="none">
            <a:spAutoFit/>
          </a:bodyPr>
          <a:lstStyle/>
          <a:p>
            <a:pPr algn="ctr"/>
            <a:r>
              <a:rPr sz="2600" b="1" dirty="0">
                <a:solidFill>
                  <a:srgbClr val="CC0000"/>
                </a:solidFill>
              </a:rPr>
              <a:t>2022</a:t>
            </a:r>
            <a:r>
              <a:rPr lang="en-US" sz="2600" b="1" dirty="0">
                <a:solidFill>
                  <a:srgbClr val="CC0000"/>
                </a:solidFill>
              </a:rPr>
              <a:t>F</a:t>
            </a:r>
            <a:endParaRPr sz="2600" b="1" dirty="0">
              <a:solidFill>
                <a:srgbClr val="CC0000"/>
              </a:solidFill>
            </a:endParaRPr>
          </a:p>
        </p:txBody>
      </p:sp>
      <p:sp>
        <p:nvSpPr>
          <p:cNvPr id="26" name="Rounded Rectangle 25">
            <a:extLst>
              <a:ext uri="{FF2B5EF4-FFF2-40B4-BE49-F238E27FC236}">
                <a16:creationId xmlns:a16="http://schemas.microsoft.com/office/drawing/2014/main" id="{50222A02-F76C-B2B8-077D-6F12160F33BC}"/>
              </a:ext>
            </a:extLst>
          </p:cNvPr>
          <p:cNvSpPr/>
          <p:nvPr/>
        </p:nvSpPr>
        <p:spPr>
          <a:xfrm>
            <a:off x="14417474" y="8467342"/>
            <a:ext cx="4846320" cy="2468880"/>
          </a:xfrm>
          <a:prstGeom prst="roundRect">
            <a:avLst/>
          </a:prstGeom>
          <a:solidFill>
            <a:srgbClr val="FFFFFF"/>
          </a:solidFill>
          <a:ln w="12700">
            <a:solidFill>
              <a:srgbClr val="76777B"/>
            </a:solidFill>
          </a:ln>
        </p:spPr>
        <p:style>
          <a:lnRef idx="1">
            <a:schemeClr val="accent1"/>
          </a:lnRef>
          <a:fillRef idx="3">
            <a:schemeClr val="accent1"/>
          </a:fillRef>
          <a:effectRef idx="2">
            <a:schemeClr val="accent1"/>
          </a:effectRef>
          <a:fontRef idx="minor">
            <a:schemeClr val="lt1"/>
          </a:fontRef>
        </p:style>
        <p:txBody>
          <a:bodyPr wrap="square" lIns="219456" tIns="109728" rIns="219456" bIns="109728" rtlCol="0" anchor="ctr"/>
          <a:lstStyle/>
          <a:p>
            <a:pPr algn="ctr"/>
            <a:r>
              <a:rPr sz="2400" b="1" dirty="0">
                <a:solidFill>
                  <a:srgbClr val="000000"/>
                </a:solidFill>
              </a:rPr>
              <a:t>Patent + startup outcome</a:t>
            </a:r>
          </a:p>
          <a:p>
            <a:r>
              <a:rPr lang="en-US" sz="2000" dirty="0">
                <a:solidFill>
                  <a:srgbClr val="76777B"/>
                </a:solidFill>
              </a:rPr>
              <a:t>I taught </a:t>
            </a:r>
            <a:r>
              <a:rPr sz="2000" dirty="0">
                <a:solidFill>
                  <a:srgbClr val="76777B"/>
                </a:solidFill>
              </a:rPr>
              <a:t>Chem 456</a:t>
            </a:r>
            <a:r>
              <a:rPr lang="en-US" sz="2000" dirty="0">
                <a:solidFill>
                  <a:srgbClr val="76777B"/>
                </a:solidFill>
              </a:rPr>
              <a:t> and </a:t>
            </a:r>
            <a:r>
              <a:rPr sz="2000" dirty="0">
                <a:solidFill>
                  <a:srgbClr val="76777B"/>
                </a:solidFill>
              </a:rPr>
              <a:t> a student project ultimately led to a patent and a startup company</a:t>
            </a:r>
          </a:p>
        </p:txBody>
      </p:sp>
      <p:sp>
        <p:nvSpPr>
          <p:cNvPr id="27" name="Oval 26">
            <a:extLst>
              <a:ext uri="{FF2B5EF4-FFF2-40B4-BE49-F238E27FC236}">
                <a16:creationId xmlns:a16="http://schemas.microsoft.com/office/drawing/2014/main" id="{136DEC43-C726-F7F4-8A00-6FEDB96DACDD}"/>
              </a:ext>
            </a:extLst>
          </p:cNvPr>
          <p:cNvSpPr/>
          <p:nvPr/>
        </p:nvSpPr>
        <p:spPr>
          <a:xfrm>
            <a:off x="18664644" y="5989320"/>
            <a:ext cx="1920240" cy="1920240"/>
          </a:xfrm>
          <a:prstGeom prst="ellipse">
            <a:avLst/>
          </a:prstGeom>
          <a:solidFill>
            <a:srgbClr val="FFFFFF"/>
          </a:solidFill>
          <a:ln w="317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4800">
                <a:latin typeface="Segoe UI Emoji"/>
              </a:rPr>
              <a:t>🏅</a:t>
            </a:r>
          </a:p>
        </p:txBody>
      </p:sp>
      <p:sp>
        <p:nvSpPr>
          <p:cNvPr id="28" name="TextBox 27">
            <a:extLst>
              <a:ext uri="{FF2B5EF4-FFF2-40B4-BE49-F238E27FC236}">
                <a16:creationId xmlns:a16="http://schemas.microsoft.com/office/drawing/2014/main" id="{5920AF83-D5E2-1E60-972B-DC66046DF3D2}"/>
              </a:ext>
            </a:extLst>
          </p:cNvPr>
          <p:cNvSpPr txBox="1"/>
          <p:nvPr/>
        </p:nvSpPr>
        <p:spPr>
          <a:xfrm>
            <a:off x="19067559" y="7211569"/>
            <a:ext cx="1114409" cy="492443"/>
          </a:xfrm>
          <a:prstGeom prst="rect">
            <a:avLst/>
          </a:prstGeom>
          <a:noFill/>
        </p:spPr>
        <p:txBody>
          <a:bodyPr wrap="none">
            <a:spAutoFit/>
          </a:bodyPr>
          <a:lstStyle/>
          <a:p>
            <a:pPr algn="ctr"/>
            <a:r>
              <a:rPr sz="2600" b="1" dirty="0">
                <a:solidFill>
                  <a:srgbClr val="CC0000"/>
                </a:solidFill>
              </a:rPr>
              <a:t>2024</a:t>
            </a:r>
            <a:r>
              <a:rPr lang="en-US" sz="2600" b="1" dirty="0">
                <a:solidFill>
                  <a:srgbClr val="CC0000"/>
                </a:solidFill>
              </a:rPr>
              <a:t>F</a:t>
            </a:r>
            <a:endParaRPr sz="2600" b="1" dirty="0">
              <a:solidFill>
                <a:srgbClr val="CC0000"/>
              </a:solidFill>
            </a:endParaRPr>
          </a:p>
        </p:txBody>
      </p:sp>
      <p:cxnSp>
        <p:nvCxnSpPr>
          <p:cNvPr id="29" name="Connector 32">
            <a:extLst>
              <a:ext uri="{FF2B5EF4-FFF2-40B4-BE49-F238E27FC236}">
                <a16:creationId xmlns:a16="http://schemas.microsoft.com/office/drawing/2014/main" id="{D79DF2D2-8F84-E946-EB6F-65CACAE0F52D}"/>
              </a:ext>
            </a:extLst>
          </p:cNvPr>
          <p:cNvCxnSpPr/>
          <p:nvPr/>
        </p:nvCxnSpPr>
        <p:spPr>
          <a:xfrm flipV="1">
            <a:off x="487680" y="5394960"/>
            <a:ext cx="0" cy="0"/>
          </a:xfrm>
          <a:prstGeom prst="line">
            <a:avLst/>
          </a:prstGeom>
          <a:ln w="19050">
            <a:solidFill>
              <a:srgbClr val="76777B"/>
            </a:solidFill>
          </a:ln>
        </p:spPr>
        <p:style>
          <a:lnRef idx="2">
            <a:schemeClr val="accent1"/>
          </a:lnRef>
          <a:fillRef idx="0">
            <a:schemeClr val="accent1"/>
          </a:fillRef>
          <a:effectRef idx="1">
            <a:schemeClr val="accent1"/>
          </a:effectRef>
          <a:fontRef idx="minor">
            <a:schemeClr val="tx1"/>
          </a:fontRef>
        </p:style>
      </p:cxnSp>
      <p:sp>
        <p:nvSpPr>
          <p:cNvPr id="30" name="Rounded Rectangle 29">
            <a:extLst>
              <a:ext uri="{FF2B5EF4-FFF2-40B4-BE49-F238E27FC236}">
                <a16:creationId xmlns:a16="http://schemas.microsoft.com/office/drawing/2014/main" id="{E9521EC7-E45F-5CF7-8F1F-689A06F29C02}"/>
              </a:ext>
            </a:extLst>
          </p:cNvPr>
          <p:cNvSpPr/>
          <p:nvPr/>
        </p:nvSpPr>
        <p:spPr>
          <a:xfrm>
            <a:off x="17201604" y="2926080"/>
            <a:ext cx="4846320" cy="2468880"/>
          </a:xfrm>
          <a:prstGeom prst="roundRect">
            <a:avLst/>
          </a:prstGeom>
          <a:solidFill>
            <a:srgbClr val="FFFFFF"/>
          </a:solidFill>
          <a:ln w="12700">
            <a:solidFill>
              <a:srgbClr val="76777B"/>
            </a:solidFill>
          </a:ln>
        </p:spPr>
        <p:style>
          <a:lnRef idx="1">
            <a:schemeClr val="accent1"/>
          </a:lnRef>
          <a:fillRef idx="3">
            <a:schemeClr val="accent1"/>
          </a:fillRef>
          <a:effectRef idx="2">
            <a:schemeClr val="accent1"/>
          </a:effectRef>
          <a:fontRef idx="minor">
            <a:schemeClr val="lt1"/>
          </a:fontRef>
        </p:style>
        <p:txBody>
          <a:bodyPr wrap="square" lIns="219456" tIns="109728" rIns="219456" bIns="109728" rtlCol="0" anchor="ctr"/>
          <a:lstStyle/>
          <a:p>
            <a:r>
              <a:rPr lang="en-US" sz="2400" dirty="0">
                <a:hlinkClick r:id="rId2"/>
              </a:rPr>
              <a:t>Nobel Prize in Chemistry</a:t>
            </a:r>
            <a:r>
              <a:rPr lang="en-US" sz="2400" dirty="0"/>
              <a:t> </a:t>
            </a:r>
            <a:r>
              <a:rPr sz="2000" dirty="0">
                <a:solidFill>
                  <a:srgbClr val="76777B"/>
                </a:solidFill>
              </a:rPr>
              <a:t>Awarded for “computational protein design” and “protein structure prediction”</a:t>
            </a:r>
            <a:r>
              <a:rPr lang="en-US" sz="2000" dirty="0">
                <a:solidFill>
                  <a:srgbClr val="76777B"/>
                </a:solidFill>
              </a:rPr>
              <a:t>, related to this class</a:t>
            </a:r>
            <a:endParaRPr sz="2000" dirty="0">
              <a:solidFill>
                <a:srgbClr val="76777B"/>
              </a:solidFill>
            </a:endParaRPr>
          </a:p>
        </p:txBody>
      </p:sp>
      <p:sp>
        <p:nvSpPr>
          <p:cNvPr id="31" name="Oval 30">
            <a:extLst>
              <a:ext uri="{FF2B5EF4-FFF2-40B4-BE49-F238E27FC236}">
                <a16:creationId xmlns:a16="http://schemas.microsoft.com/office/drawing/2014/main" id="{DB3CC77A-1637-27CA-0D6C-882C325036D8}"/>
              </a:ext>
            </a:extLst>
          </p:cNvPr>
          <p:cNvSpPr/>
          <p:nvPr/>
        </p:nvSpPr>
        <p:spPr>
          <a:xfrm>
            <a:off x="21473160" y="5989320"/>
            <a:ext cx="1920240" cy="1920240"/>
          </a:xfrm>
          <a:prstGeom prst="ellipse">
            <a:avLst/>
          </a:prstGeom>
          <a:solidFill>
            <a:srgbClr val="FFFFFF"/>
          </a:solidFill>
          <a:ln w="317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4800">
                <a:latin typeface="Segoe UI Emoji"/>
              </a:rPr>
              <a:t>☁️</a:t>
            </a:r>
          </a:p>
        </p:txBody>
      </p:sp>
      <p:sp>
        <p:nvSpPr>
          <p:cNvPr id="32" name="TextBox 31">
            <a:extLst>
              <a:ext uri="{FF2B5EF4-FFF2-40B4-BE49-F238E27FC236}">
                <a16:creationId xmlns:a16="http://schemas.microsoft.com/office/drawing/2014/main" id="{BDF6F2E4-1908-C10C-08BC-CCDC6BECBDA0}"/>
              </a:ext>
            </a:extLst>
          </p:cNvPr>
          <p:cNvSpPr txBox="1"/>
          <p:nvPr/>
        </p:nvSpPr>
        <p:spPr>
          <a:xfrm>
            <a:off x="21876075" y="7211569"/>
            <a:ext cx="1114409" cy="492443"/>
          </a:xfrm>
          <a:prstGeom prst="rect">
            <a:avLst/>
          </a:prstGeom>
          <a:noFill/>
        </p:spPr>
        <p:txBody>
          <a:bodyPr wrap="none">
            <a:spAutoFit/>
          </a:bodyPr>
          <a:lstStyle/>
          <a:p>
            <a:pPr algn="ctr"/>
            <a:r>
              <a:rPr sz="2600" b="1" dirty="0">
                <a:solidFill>
                  <a:srgbClr val="CC0000"/>
                </a:solidFill>
              </a:rPr>
              <a:t>2024</a:t>
            </a:r>
            <a:r>
              <a:rPr lang="en-US" sz="2600" b="1" dirty="0">
                <a:solidFill>
                  <a:srgbClr val="CC0000"/>
                </a:solidFill>
              </a:rPr>
              <a:t>F</a:t>
            </a:r>
            <a:endParaRPr sz="2600" b="1" dirty="0">
              <a:solidFill>
                <a:srgbClr val="CC0000"/>
              </a:solidFill>
            </a:endParaRPr>
          </a:p>
        </p:txBody>
      </p:sp>
      <p:sp>
        <p:nvSpPr>
          <p:cNvPr id="33" name="Rounded Rectangle 32">
            <a:extLst>
              <a:ext uri="{FF2B5EF4-FFF2-40B4-BE49-F238E27FC236}">
                <a16:creationId xmlns:a16="http://schemas.microsoft.com/office/drawing/2014/main" id="{45412651-FEF9-0B46-4AFC-8B88A377188D}"/>
              </a:ext>
            </a:extLst>
          </p:cNvPr>
          <p:cNvSpPr/>
          <p:nvPr/>
        </p:nvSpPr>
        <p:spPr>
          <a:xfrm>
            <a:off x="20088992" y="8467342"/>
            <a:ext cx="4002399" cy="2468880"/>
          </a:xfrm>
          <a:prstGeom prst="roundRect">
            <a:avLst/>
          </a:prstGeom>
          <a:solidFill>
            <a:srgbClr val="FFFFFF"/>
          </a:solidFill>
          <a:ln w="12700">
            <a:solidFill>
              <a:srgbClr val="76777B"/>
            </a:solidFill>
          </a:ln>
        </p:spPr>
        <p:style>
          <a:lnRef idx="1">
            <a:schemeClr val="accent1"/>
          </a:lnRef>
          <a:fillRef idx="3">
            <a:schemeClr val="accent1"/>
          </a:fillRef>
          <a:effectRef idx="2">
            <a:schemeClr val="accent1"/>
          </a:effectRef>
          <a:fontRef idx="minor">
            <a:schemeClr val="lt1"/>
          </a:fontRef>
        </p:style>
        <p:txBody>
          <a:bodyPr wrap="square" lIns="219456" tIns="109728" rIns="219456" bIns="109728" rtlCol="0" anchor="ctr"/>
          <a:lstStyle/>
          <a:p>
            <a:pPr algn="ctr"/>
            <a:r>
              <a:rPr sz="2400" b="1" dirty="0">
                <a:solidFill>
                  <a:srgbClr val="000000"/>
                </a:solidFill>
              </a:rPr>
              <a:t>ACCESS-CI migration</a:t>
            </a:r>
          </a:p>
          <a:p>
            <a:r>
              <a:rPr lang="en-US" sz="2000" dirty="0">
                <a:solidFill>
                  <a:srgbClr val="76777B"/>
                </a:solidFill>
              </a:rPr>
              <a:t>I t</a:t>
            </a:r>
            <a:r>
              <a:rPr sz="2000" dirty="0">
                <a:solidFill>
                  <a:srgbClr val="76777B"/>
                </a:solidFill>
              </a:rPr>
              <a:t>aught Chem 456 and migrated some labs to ACCESS-CI</a:t>
            </a:r>
          </a:p>
        </p:txBody>
      </p:sp>
      <p:sp>
        <p:nvSpPr>
          <p:cNvPr id="37" name="Title 36">
            <a:extLst>
              <a:ext uri="{FF2B5EF4-FFF2-40B4-BE49-F238E27FC236}">
                <a16:creationId xmlns:a16="http://schemas.microsoft.com/office/drawing/2014/main" id="{A40C146A-0E05-4297-65D3-88B3C14D5CD5}"/>
              </a:ext>
            </a:extLst>
          </p:cNvPr>
          <p:cNvSpPr>
            <a:spLocks noGrp="1"/>
          </p:cNvSpPr>
          <p:nvPr>
            <p:ph type="title"/>
          </p:nvPr>
        </p:nvSpPr>
        <p:spPr>
          <a:xfrm>
            <a:off x="0" y="625078"/>
            <a:ext cx="24384000" cy="3036094"/>
          </a:xfrm>
        </p:spPr>
        <p:txBody>
          <a:bodyPr>
            <a:normAutofit fontScale="90000"/>
          </a:bodyPr>
          <a:lstStyle/>
          <a:p>
            <a:r>
              <a:rPr lang="en-US" dirty="0"/>
              <a:t>Milestones related to Chem 456</a:t>
            </a:r>
            <a:br>
              <a:rPr lang="en-US" dirty="0"/>
            </a:br>
            <a:endParaRPr lang="en-US" dirty="0"/>
          </a:p>
        </p:txBody>
      </p:sp>
    </p:spTree>
    <p:extLst>
      <p:ext uri="{BB962C8B-B14F-4D97-AF65-F5344CB8AC3E}">
        <p14:creationId xmlns:p14="http://schemas.microsoft.com/office/powerpoint/2010/main" val="1526835873"/>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animBg="1"/>
      <p:bldP spid="16" grpId="0" animBg="1"/>
      <p:bldP spid="19" grpId="0" animBg="1"/>
      <p:bldP spid="23" grpId="0" animBg="1"/>
      <p:bldP spid="26" grpId="0" animBg="1"/>
      <p:bldP spid="30" grpId="0" animBg="1"/>
      <p:bldP spid="3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B2296-A0FB-0F36-D8EA-4F4DDA2778DE}"/>
              </a:ext>
            </a:extLst>
          </p:cNvPr>
          <p:cNvSpPr>
            <a:spLocks noGrp="1"/>
          </p:cNvSpPr>
          <p:nvPr>
            <p:ph type="title"/>
          </p:nvPr>
        </p:nvSpPr>
        <p:spPr>
          <a:xfrm>
            <a:off x="635000" y="463550"/>
            <a:ext cx="23114000" cy="2540000"/>
          </a:xfrm>
        </p:spPr>
        <p:txBody>
          <a:bodyPr/>
          <a:lstStyle/>
          <a:p>
            <a:r>
              <a:rPr lang="en-US" dirty="0"/>
              <a:t>Online Resources</a:t>
            </a:r>
          </a:p>
        </p:txBody>
      </p:sp>
      <p:sp>
        <p:nvSpPr>
          <p:cNvPr id="3" name="Text Placeholder 2">
            <a:extLst>
              <a:ext uri="{FF2B5EF4-FFF2-40B4-BE49-F238E27FC236}">
                <a16:creationId xmlns:a16="http://schemas.microsoft.com/office/drawing/2014/main" id="{A9D1E9F9-5040-E08D-DA3D-8832A5584D0E}"/>
              </a:ext>
            </a:extLst>
          </p:cNvPr>
          <p:cNvSpPr>
            <a:spLocks noGrp="1"/>
          </p:cNvSpPr>
          <p:nvPr>
            <p:ph type="body" idx="1"/>
          </p:nvPr>
        </p:nvSpPr>
        <p:spPr>
          <a:xfrm>
            <a:off x="635000" y="2540000"/>
            <a:ext cx="15038388" cy="10712450"/>
          </a:xfrm>
        </p:spPr>
        <p:txBody>
          <a:bodyPr>
            <a:normAutofit fontScale="77500" lnSpcReduction="20000"/>
          </a:bodyPr>
          <a:lstStyle/>
          <a:p>
            <a:r>
              <a:rPr lang="en-US" dirty="0"/>
              <a:t>The course </a:t>
            </a:r>
            <a:r>
              <a:rPr lang="en-US" dirty="0">
                <a:hlinkClick r:id="rId3"/>
              </a:rPr>
              <a:t>website</a:t>
            </a:r>
            <a:r>
              <a:rPr lang="en-US" dirty="0"/>
              <a:t> includes the </a:t>
            </a:r>
          </a:p>
          <a:p>
            <a:pPr lvl="1"/>
            <a:r>
              <a:rPr lang="en-US" dirty="0"/>
              <a:t>Syllabus</a:t>
            </a:r>
          </a:p>
          <a:p>
            <a:pPr lvl="1"/>
            <a:r>
              <a:rPr lang="en-US" dirty="0">
                <a:hlinkClick r:id="rId4"/>
              </a:rPr>
              <a:t>Resources tab</a:t>
            </a:r>
            <a:r>
              <a:rPr lang="en-US" dirty="0"/>
              <a:t>, with links to previous classes and other sites</a:t>
            </a:r>
          </a:p>
          <a:p>
            <a:pPr lvl="1"/>
            <a:r>
              <a:rPr lang="en-US" dirty="0">
                <a:hlinkClick r:id="rId5"/>
              </a:rPr>
              <a:t>Schedule</a:t>
            </a:r>
            <a:r>
              <a:rPr lang="en-US" dirty="0"/>
              <a:t>, with links to class notes and exercises</a:t>
            </a:r>
          </a:p>
          <a:p>
            <a:pPr lvl="1"/>
            <a:r>
              <a:rPr lang="en-US" dirty="0"/>
              <a:t>Description of </a:t>
            </a:r>
            <a:r>
              <a:rPr lang="en-US" dirty="0">
                <a:hlinkClick r:id="rId6"/>
              </a:rPr>
              <a:t>Assignments</a:t>
            </a:r>
            <a:r>
              <a:rPr lang="en-US" dirty="0"/>
              <a:t> and </a:t>
            </a:r>
            <a:r>
              <a:rPr lang="en-US" dirty="0">
                <a:hlinkClick r:id="rId7"/>
              </a:rPr>
              <a:t>Grading</a:t>
            </a:r>
            <a:endParaRPr lang="en-US" dirty="0"/>
          </a:p>
          <a:p>
            <a:r>
              <a:rPr lang="en-US" dirty="0"/>
              <a:t>The </a:t>
            </a:r>
            <a:r>
              <a:rPr lang="en-US" dirty="0">
                <a:hlinkClick r:id="rId8"/>
              </a:rPr>
              <a:t>San Diego Supercomputer Center</a:t>
            </a:r>
            <a:r>
              <a:rPr lang="en-US" dirty="0"/>
              <a:t> (SDSC) </a:t>
            </a:r>
            <a:r>
              <a:rPr lang="en-US" dirty="0">
                <a:hlinkClick r:id="rId9"/>
              </a:rPr>
              <a:t>Expanse</a:t>
            </a:r>
            <a:r>
              <a:rPr lang="en-US" dirty="0"/>
              <a:t> </a:t>
            </a:r>
            <a:r>
              <a:rPr lang="en-US" dirty="0">
                <a:hlinkClick r:id="rId10"/>
              </a:rPr>
              <a:t>User Portal</a:t>
            </a:r>
            <a:endParaRPr lang="en-US" dirty="0"/>
          </a:p>
          <a:p>
            <a:pPr lvl="1"/>
            <a:r>
              <a:rPr lang="en-US" dirty="0"/>
              <a:t>requires an </a:t>
            </a:r>
            <a:r>
              <a:rPr lang="en-US" dirty="0">
                <a:hlinkClick r:id="rId11"/>
              </a:rPr>
              <a:t>account</a:t>
            </a:r>
            <a:r>
              <a:rPr lang="en-US" dirty="0"/>
              <a:t> from the Advanced Cyberinfrastructure Coordination Ecosystem: Services &amp; Support (</a:t>
            </a:r>
            <a:r>
              <a:rPr lang="en-US" dirty="0">
                <a:hlinkClick r:id="rId12"/>
              </a:rPr>
              <a:t>ACCESS-CI</a:t>
            </a:r>
            <a:r>
              <a:rPr lang="en-US" dirty="0"/>
              <a:t>) program</a:t>
            </a:r>
          </a:p>
          <a:p>
            <a:pPr lvl="1"/>
            <a:r>
              <a:rPr lang="en-US" dirty="0"/>
              <a:t>can be accessed through modern laptop/desktop computers (e.g. classroom desktops) using a modern browser</a:t>
            </a:r>
          </a:p>
          <a:p>
            <a:pPr lvl="1"/>
            <a:r>
              <a:rPr lang="en-US" dirty="0"/>
              <a:t>allows you to </a:t>
            </a:r>
          </a:p>
          <a:p>
            <a:pPr lvl="2"/>
            <a:r>
              <a:rPr lang="en-US" dirty="0"/>
              <a:t>upload and download files</a:t>
            </a:r>
          </a:p>
          <a:p>
            <a:pPr lvl="2"/>
            <a:r>
              <a:rPr lang="en-US" dirty="0"/>
              <a:t>access the shell to set up environments/submit batch jobs and run interactive </a:t>
            </a:r>
            <a:r>
              <a:rPr lang="en-US" dirty="0" err="1"/>
              <a:t>Jupyter</a:t>
            </a:r>
            <a:r>
              <a:rPr lang="en-US" dirty="0"/>
              <a:t> notebooks</a:t>
            </a:r>
          </a:p>
          <a:p>
            <a:pPr lvl="1"/>
            <a:r>
              <a:rPr lang="en-US" dirty="0"/>
              <a:t>is where you will work on exercises and projects</a:t>
            </a:r>
          </a:p>
          <a:p>
            <a:pPr lvl="1"/>
            <a:r>
              <a:rPr lang="en-US" dirty="0"/>
              <a:t>will use an educational allocation from </a:t>
            </a:r>
            <a:r>
              <a:rPr lang="en-US" dirty="0">
                <a:hlinkClick r:id="rId12"/>
              </a:rPr>
              <a:t>ACCESS-CI</a:t>
            </a:r>
            <a:r>
              <a:rPr lang="en-US" dirty="0"/>
              <a:t>. If needed, graduate students can obtain their own allocation.</a:t>
            </a:r>
          </a:p>
          <a:p>
            <a:r>
              <a:rPr lang="en-US" dirty="0">
                <a:hlinkClick r:id="rId13"/>
              </a:rPr>
              <a:t>Canvas</a:t>
            </a:r>
            <a:r>
              <a:rPr lang="en-US" dirty="0"/>
              <a:t> is where you will</a:t>
            </a:r>
          </a:p>
          <a:p>
            <a:pPr lvl="1"/>
            <a:r>
              <a:rPr lang="en-US" dirty="0"/>
              <a:t>submit </a:t>
            </a:r>
            <a:r>
              <a:rPr lang="en-US" dirty="0">
                <a:hlinkClick r:id="rId14"/>
              </a:rPr>
              <a:t>assignments</a:t>
            </a:r>
            <a:r>
              <a:rPr lang="en-US" dirty="0"/>
              <a:t>, except for large files</a:t>
            </a:r>
          </a:p>
          <a:p>
            <a:pPr lvl="1"/>
            <a:r>
              <a:rPr lang="en-US" dirty="0"/>
              <a:t>post information in </a:t>
            </a:r>
            <a:r>
              <a:rPr lang="en-US" dirty="0">
                <a:hlinkClick r:id="rId15"/>
              </a:rPr>
              <a:t>discussions</a:t>
            </a:r>
            <a:r>
              <a:rPr lang="en-US" dirty="0"/>
              <a:t> visible to the class</a:t>
            </a:r>
          </a:p>
        </p:txBody>
      </p:sp>
      <p:pic>
        <p:nvPicPr>
          <p:cNvPr id="4" name="Picture 3">
            <a:extLst>
              <a:ext uri="{FF2B5EF4-FFF2-40B4-BE49-F238E27FC236}">
                <a16:creationId xmlns:a16="http://schemas.microsoft.com/office/drawing/2014/main" id="{04A16EB8-7CD1-C5B5-05FA-4DFD808C433E}"/>
              </a:ext>
            </a:extLst>
          </p:cNvPr>
          <p:cNvPicPr>
            <a:picLocks noChangeAspect="1"/>
          </p:cNvPicPr>
          <p:nvPr/>
        </p:nvPicPr>
        <p:blipFill>
          <a:blip r:embed="rId16"/>
          <a:stretch>
            <a:fillRect/>
          </a:stretch>
        </p:blipFill>
        <p:spPr>
          <a:xfrm>
            <a:off x="15976600" y="4781042"/>
            <a:ext cx="7772400" cy="6312916"/>
          </a:xfrm>
          <a:prstGeom prst="rect">
            <a:avLst/>
          </a:prstGeom>
        </p:spPr>
      </p:pic>
    </p:spTree>
    <p:extLst>
      <p:ext uri="{BB962C8B-B14F-4D97-AF65-F5344CB8AC3E}">
        <p14:creationId xmlns:p14="http://schemas.microsoft.com/office/powerpoint/2010/main" val="2564975319"/>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1" end="11"/>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2" end="12"/>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
                                            <p:txEl>
                                              <p:pRg st="13" end="13"/>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
                                            <p:txEl>
                                              <p:pRg st="14" end="14"/>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 name="Introductions"/>
          <p:cNvSpPr txBox="1">
            <a:spLocks noGrp="1"/>
          </p:cNvSpPr>
          <p:nvPr>
            <p:ph type="title"/>
          </p:nvPr>
        </p:nvSpPr>
        <p:spPr>
          <a:prstGeom prst="rect">
            <a:avLst/>
          </a:prstGeom>
        </p:spPr>
        <p:txBody>
          <a:bodyPr/>
          <a:lstStyle/>
          <a:p>
            <a:r>
              <a:t>Introductions</a:t>
            </a: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 name="About me: work"/>
          <p:cNvSpPr txBox="1">
            <a:spLocks noGrp="1"/>
          </p:cNvSpPr>
          <p:nvPr>
            <p:ph type="title"/>
          </p:nvPr>
        </p:nvSpPr>
        <p:spPr>
          <a:xfrm>
            <a:off x="317500" y="0"/>
            <a:ext cx="23749000" cy="2540000"/>
          </a:xfrm>
          <a:prstGeom prst="rect">
            <a:avLst/>
          </a:prstGeom>
        </p:spPr>
        <p:txBody>
          <a:bodyPr/>
          <a:lstStyle/>
          <a:p>
            <a:r>
              <a:t>About me: work</a:t>
            </a:r>
          </a:p>
        </p:txBody>
      </p:sp>
      <p:sp>
        <p:nvSpPr>
          <p:cNvPr id="191" name="Coauthored 56 peer-reviewed journal articles…"/>
          <p:cNvSpPr txBox="1">
            <a:spLocks noGrp="1"/>
          </p:cNvSpPr>
          <p:nvPr>
            <p:ph type="body" sz="half" idx="4294967295"/>
          </p:nvPr>
        </p:nvSpPr>
        <p:spPr>
          <a:xfrm>
            <a:off x="11190209" y="2540000"/>
            <a:ext cx="12388062" cy="9842500"/>
          </a:xfrm>
          <a:prstGeom prst="rect">
            <a:avLst/>
          </a:prstGeom>
        </p:spPr>
        <p:txBody>
          <a:bodyPr/>
          <a:lstStyle/>
          <a:p>
            <a:pPr marL="567972" indent="-567972" defTabSz="755808">
              <a:defRPr sz="4600"/>
            </a:pPr>
            <a:r>
              <a:rPr dirty="0"/>
              <a:t>Coauthored </a:t>
            </a:r>
            <a:r>
              <a:rPr lang="en-US" dirty="0"/>
              <a:t>61</a:t>
            </a:r>
            <a:r>
              <a:rPr dirty="0"/>
              <a:t> peer-reviewed journal articles</a:t>
            </a:r>
          </a:p>
          <a:p>
            <a:pPr marL="567972" indent="-567972" defTabSz="755808">
              <a:defRPr sz="4600"/>
            </a:pPr>
            <a:r>
              <a:rPr dirty="0"/>
              <a:t>Cited over 1</a:t>
            </a:r>
            <a:r>
              <a:rPr lang="en-US" dirty="0"/>
              <a:t>7</a:t>
            </a:r>
            <a:r>
              <a:rPr dirty="0"/>
              <a:t>00 times with an h-index of 2</a:t>
            </a:r>
            <a:r>
              <a:rPr lang="en-US" dirty="0"/>
              <a:t>3</a:t>
            </a:r>
            <a:r>
              <a:rPr dirty="0"/>
              <a:t>, according to Google scholar. </a:t>
            </a:r>
          </a:p>
          <a:p>
            <a:pPr marL="567972" indent="-567972" defTabSz="755808">
              <a:defRPr sz="4600"/>
            </a:pPr>
            <a:r>
              <a:rPr dirty="0"/>
              <a:t>Current research in computational chemistry</a:t>
            </a:r>
          </a:p>
          <a:p>
            <a:pPr marL="976912" lvl="1" indent="-567972" defTabSz="755808">
              <a:defRPr sz="4600"/>
            </a:pPr>
            <a:r>
              <a:rPr dirty="0"/>
              <a:t>Developing methods related to structure-based drug design</a:t>
            </a:r>
          </a:p>
          <a:p>
            <a:pPr marL="1385852" lvl="2" indent="-567972" defTabSz="755808">
              <a:defRPr sz="4600"/>
            </a:pPr>
            <a:r>
              <a:rPr dirty="0"/>
              <a:t>predicting binding affinities and ligand efficacy</a:t>
            </a:r>
          </a:p>
          <a:p>
            <a:pPr marL="1385852" lvl="2" indent="-567972" defTabSz="755808">
              <a:defRPr sz="4600"/>
            </a:pPr>
            <a:r>
              <a:rPr dirty="0"/>
              <a:t>simulating biological macromolecules</a:t>
            </a:r>
          </a:p>
          <a:p>
            <a:pPr marL="976912" lvl="1" indent="-567972" defTabSz="755808">
              <a:defRPr sz="4600"/>
            </a:pPr>
            <a:r>
              <a:rPr dirty="0"/>
              <a:t>Involved in antibiotic drug discovery</a:t>
            </a:r>
          </a:p>
          <a:p>
            <a:pPr marL="976912" lvl="1" indent="-567972" defTabSz="755808">
              <a:defRPr sz="4600"/>
            </a:pPr>
            <a:r>
              <a:rPr lang="en-US" dirty="0"/>
              <a:t>R</a:t>
            </a:r>
            <a:r>
              <a:rPr dirty="0"/>
              <a:t>esearch has been funded by NIH</a:t>
            </a:r>
            <a:r>
              <a:rPr lang="en-US" dirty="0"/>
              <a:t>, </a:t>
            </a:r>
            <a:r>
              <a:rPr dirty="0"/>
              <a:t>NSF</a:t>
            </a:r>
            <a:r>
              <a:rPr lang="en-US" dirty="0"/>
              <a:t>, and Illinois</a:t>
            </a:r>
            <a:endParaRPr dirty="0"/>
          </a:p>
        </p:txBody>
      </p:sp>
      <p:sp>
        <p:nvSpPr>
          <p:cNvPr id="192" name="Slide Number"/>
          <p:cNvSpPr txBox="1">
            <a:spLocks noGrp="1"/>
          </p:cNvSpPr>
          <p:nvPr>
            <p:ph type="sldNum" sz="quarter" idx="4294967295"/>
          </p:nvPr>
        </p:nvSpPr>
        <p:spPr>
          <a:xfrm>
            <a:off x="12020548" y="13010554"/>
            <a:ext cx="325045" cy="511176"/>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8</a:t>
            </a:fld>
            <a:endParaRPr/>
          </a:p>
        </p:txBody>
      </p:sp>
      <p:sp>
        <p:nvSpPr>
          <p:cNvPr id="193" name="Full curriculum vitae: https://ccbatiit.github.io/downloads/DavidMinh_CV.pdf"/>
          <p:cNvSpPr txBox="1"/>
          <p:nvPr/>
        </p:nvSpPr>
        <p:spPr>
          <a:xfrm>
            <a:off x="7873729" y="12255367"/>
            <a:ext cx="13856540" cy="62547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71437" tIns="71437" rIns="71437" bIns="71437" anchor="ctr">
            <a:spAutoFit/>
          </a:bodyPr>
          <a:lstStyle/>
          <a:p>
            <a:pPr>
              <a:defRPr sz="3200"/>
            </a:pPr>
            <a:r>
              <a:rPr dirty="0"/>
              <a:t>Full curriculum vitae: </a:t>
            </a:r>
            <a:r>
              <a:rPr u="sng" dirty="0">
                <a:hlinkClick r:id="rId2"/>
              </a:rPr>
              <a:t>https://ccbatiit.github.io/downloads/DavidMinh_CV.pdf</a:t>
            </a:r>
          </a:p>
        </p:txBody>
      </p:sp>
      <p:pic>
        <p:nvPicPr>
          <p:cNvPr id="194" name="DavidMinh_CV (dragged).pdf" descr="DavidMinh_CV (dragged).pdf"/>
          <p:cNvPicPr>
            <a:picLocks noChangeAspect="1"/>
          </p:cNvPicPr>
          <p:nvPr/>
        </p:nvPicPr>
        <p:blipFill>
          <a:blip r:embed="rId3"/>
          <a:stretch>
            <a:fillRect/>
          </a:stretch>
        </p:blipFill>
        <p:spPr>
          <a:xfrm>
            <a:off x="-5257" y="1354011"/>
            <a:ext cx="11544301" cy="14939683"/>
          </a:xfrm>
          <a:prstGeom prst="rect">
            <a:avLst/>
          </a:prstGeom>
          <a:ln w="12700">
            <a:miter lim="400000"/>
          </a:ln>
        </p:spPr>
      </p:pic>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91">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191">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191">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191">
                                            <p:txEl>
                                              <p:pRg st="2" end="2"/>
                                            </p:txEl>
                                          </p:spTgt>
                                        </p:tgtEl>
                                        <p:attrNameLst>
                                          <p:attrName>style.visibility</p:attrName>
                                        </p:attrNameLst>
                                      </p:cBhvr>
                                      <p:to>
                                        <p:strVal val="visible"/>
                                      </p:to>
                                    </p:set>
                                  </p:childTnLst>
                                </p:cTn>
                              </p:par>
                              <p:par>
                                <p:cTn id="17" presetID="1" presetClass="entr" presetSubtype="0" fill="hold" grpId="1" nodeType="withEffect">
                                  <p:stCondLst>
                                    <p:cond delay="0"/>
                                  </p:stCondLst>
                                  <p:iterate>
                                    <p:tmAbs val="0"/>
                                  </p:iterate>
                                  <p:childTnLst>
                                    <p:set>
                                      <p:cBhvr>
                                        <p:cTn id="18" fill="hold"/>
                                        <p:tgtEl>
                                          <p:spTgt spid="191">
                                            <p:txEl>
                                              <p:pRg st="3" end="3"/>
                                            </p:txEl>
                                          </p:spTgt>
                                        </p:tgtEl>
                                        <p:attrNameLst>
                                          <p:attrName>style.visibility</p:attrName>
                                        </p:attrNameLst>
                                      </p:cBhvr>
                                      <p:to>
                                        <p:strVal val="visible"/>
                                      </p:to>
                                    </p:set>
                                  </p:childTnLst>
                                </p:cTn>
                              </p:par>
                              <p:par>
                                <p:cTn id="19" presetID="1" presetClass="entr" presetSubtype="0" fill="hold" grpId="1" nodeType="withEffect">
                                  <p:stCondLst>
                                    <p:cond delay="0"/>
                                  </p:stCondLst>
                                  <p:iterate>
                                    <p:tmAbs val="0"/>
                                  </p:iterate>
                                  <p:childTnLst>
                                    <p:set>
                                      <p:cBhvr>
                                        <p:cTn id="20" fill="hold"/>
                                        <p:tgtEl>
                                          <p:spTgt spid="191">
                                            <p:txEl>
                                              <p:pRg st="4" end="4"/>
                                            </p:txEl>
                                          </p:spTgt>
                                        </p:tgtEl>
                                        <p:attrNameLst>
                                          <p:attrName>style.visibility</p:attrName>
                                        </p:attrNameLst>
                                      </p:cBhvr>
                                      <p:to>
                                        <p:strVal val="visible"/>
                                      </p:to>
                                    </p:set>
                                  </p:childTnLst>
                                </p:cTn>
                              </p:par>
                              <p:par>
                                <p:cTn id="21" presetID="1" presetClass="entr" presetSubtype="0" fill="hold" grpId="1" nodeType="withEffect">
                                  <p:stCondLst>
                                    <p:cond delay="0"/>
                                  </p:stCondLst>
                                  <p:iterate>
                                    <p:tmAbs val="0"/>
                                  </p:iterate>
                                  <p:childTnLst>
                                    <p:set>
                                      <p:cBhvr>
                                        <p:cTn id="22" fill="hold"/>
                                        <p:tgtEl>
                                          <p:spTgt spid="191">
                                            <p:txEl>
                                              <p:pRg st="5" end="5"/>
                                            </p:txEl>
                                          </p:spTgt>
                                        </p:tgtEl>
                                        <p:attrNameLst>
                                          <p:attrName>style.visibility</p:attrName>
                                        </p:attrNameLst>
                                      </p:cBhvr>
                                      <p:to>
                                        <p:strVal val="visible"/>
                                      </p:to>
                                    </p:set>
                                  </p:childTnLst>
                                </p:cTn>
                              </p:par>
                              <p:par>
                                <p:cTn id="23" presetID="1" presetClass="entr" presetSubtype="0" fill="hold" grpId="1" nodeType="withEffect">
                                  <p:stCondLst>
                                    <p:cond delay="0"/>
                                  </p:stCondLst>
                                  <p:iterate>
                                    <p:tmAbs val="0"/>
                                  </p:iterate>
                                  <p:childTnLst>
                                    <p:set>
                                      <p:cBhvr>
                                        <p:cTn id="24" fill="hold"/>
                                        <p:tgtEl>
                                          <p:spTgt spid="191">
                                            <p:txEl>
                                              <p:pRg st="6" end="6"/>
                                            </p:txEl>
                                          </p:spTgt>
                                        </p:tgtEl>
                                        <p:attrNameLst>
                                          <p:attrName>style.visibility</p:attrName>
                                        </p:attrNameLst>
                                      </p:cBhvr>
                                      <p:to>
                                        <p:strVal val="visible"/>
                                      </p:to>
                                    </p:set>
                                  </p:childTnLst>
                                </p:cTn>
                              </p:par>
                              <p:par>
                                <p:cTn id="25" presetID="1" presetClass="entr" presetSubtype="0" fill="hold" grpId="1" nodeType="withEffect">
                                  <p:stCondLst>
                                    <p:cond delay="0"/>
                                  </p:stCondLst>
                                  <p:iterate>
                                    <p:tmAbs val="0"/>
                                  </p:iterate>
                                  <p:childTnLst>
                                    <p:set>
                                      <p:cBhvr>
                                        <p:cTn id="26" fill="hold"/>
                                        <p:tgtEl>
                                          <p:spTgt spid="19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1" grpId="1" build="p" animBg="1" advAuto="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 name="About me: beyond work"/>
          <p:cNvSpPr txBox="1">
            <a:spLocks noGrp="1"/>
          </p:cNvSpPr>
          <p:nvPr>
            <p:ph type="title"/>
          </p:nvPr>
        </p:nvSpPr>
        <p:spPr>
          <a:prstGeom prst="rect">
            <a:avLst/>
          </a:prstGeom>
        </p:spPr>
        <p:txBody>
          <a:bodyPr/>
          <a:lstStyle/>
          <a:p>
            <a:r>
              <a:t>About me: beyond work</a:t>
            </a:r>
          </a:p>
        </p:txBody>
      </p:sp>
      <p:sp>
        <p:nvSpPr>
          <p:cNvPr id="197" name="Outside of work, I like to…"/>
          <p:cNvSpPr txBox="1">
            <a:spLocks noGrp="1"/>
          </p:cNvSpPr>
          <p:nvPr>
            <p:ph type="body" idx="1"/>
          </p:nvPr>
        </p:nvSpPr>
        <p:spPr>
          <a:xfrm>
            <a:off x="317500" y="2540000"/>
            <a:ext cx="23114000" cy="10160000"/>
          </a:xfrm>
          <a:prstGeom prst="rect">
            <a:avLst/>
          </a:prstGeom>
        </p:spPr>
        <p:txBody>
          <a:bodyPr lIns="50800" tIns="50800" rIns="50800" bIns="50800" numCol="2" spcCol="1155700"/>
          <a:lstStyle/>
          <a:p>
            <a:r>
              <a:rPr dirty="0"/>
              <a:t>Outside of work, I like to</a:t>
            </a:r>
          </a:p>
          <a:p>
            <a:pPr lvl="1"/>
            <a:r>
              <a:rPr lang="en-US" dirty="0"/>
              <a:t>exercise, especially CrossFit, swimming, and biking.</a:t>
            </a:r>
          </a:p>
          <a:p>
            <a:pPr lvl="1"/>
            <a:r>
              <a:rPr dirty="0"/>
              <a:t>play sports, especially </a:t>
            </a:r>
            <a:r>
              <a:rPr lang="en-US" dirty="0"/>
              <a:t>basketball, </a:t>
            </a:r>
            <a:r>
              <a:rPr dirty="0"/>
              <a:t>tennis, and </a:t>
            </a:r>
            <a:r>
              <a:rPr lang="en-US" dirty="0"/>
              <a:t>table tennis</a:t>
            </a:r>
            <a:r>
              <a:rPr dirty="0"/>
              <a:t>.</a:t>
            </a:r>
            <a:endParaRPr lang="en-US" dirty="0"/>
          </a:p>
          <a:p>
            <a:pPr lvl="1"/>
            <a:r>
              <a:rPr dirty="0"/>
              <a:t>listen to podcasts and </a:t>
            </a:r>
            <a:r>
              <a:rPr lang="en-US" dirty="0"/>
              <a:t>sometimes </a:t>
            </a:r>
            <a:r>
              <a:rPr dirty="0"/>
              <a:t>audiobooks. Some of my favorite podcasts are Planet Money</a:t>
            </a:r>
            <a:r>
              <a:rPr lang="en-US" dirty="0"/>
              <a:t> and Hidden Brain</a:t>
            </a:r>
            <a:r>
              <a:rPr dirty="0"/>
              <a:t>.</a:t>
            </a:r>
          </a:p>
          <a:p>
            <a:pPr lvl="1"/>
            <a:r>
              <a:rPr dirty="0"/>
              <a:t>play board games, especially </a:t>
            </a:r>
            <a:r>
              <a:rPr lang="en-US" dirty="0"/>
              <a:t>chess</a:t>
            </a:r>
            <a:r>
              <a:rPr dirty="0"/>
              <a:t>.</a:t>
            </a:r>
          </a:p>
          <a:p>
            <a:pPr lvl="1"/>
            <a:r>
              <a:rPr dirty="0"/>
              <a:t>play music, especially </a:t>
            </a:r>
            <a:r>
              <a:rPr lang="en-US" dirty="0"/>
              <a:t>guitar</a:t>
            </a:r>
            <a:r>
              <a:rPr dirty="0"/>
              <a:t>. I also </a:t>
            </a:r>
            <a:r>
              <a:rPr lang="en-US" dirty="0"/>
              <a:t>can </a:t>
            </a:r>
            <a:r>
              <a:rPr dirty="0"/>
              <a:t>play bass</a:t>
            </a:r>
            <a:r>
              <a:rPr lang="en-US" dirty="0"/>
              <a:t> and piano</a:t>
            </a:r>
            <a:r>
              <a:rPr dirty="0"/>
              <a:t>.</a:t>
            </a:r>
          </a:p>
          <a:p>
            <a:pPr lvl="1"/>
            <a:r>
              <a:rPr dirty="0"/>
              <a:t>read news and sometimes books</a:t>
            </a:r>
            <a:r>
              <a:rPr lang="en-US" dirty="0"/>
              <a:t>.</a:t>
            </a:r>
            <a:endParaRPr dirty="0"/>
          </a:p>
          <a:p>
            <a:pPr lvl="1"/>
            <a:r>
              <a:rPr dirty="0"/>
              <a:t>travel. I’ve been to 6 continents</a:t>
            </a:r>
            <a:r>
              <a:rPr lang="en-US" dirty="0"/>
              <a:t>.</a:t>
            </a:r>
            <a:endParaRPr dirty="0"/>
          </a:p>
          <a:p>
            <a:r>
              <a:rPr dirty="0"/>
              <a:t>I am</a:t>
            </a:r>
          </a:p>
          <a:p>
            <a:pPr lvl="1"/>
            <a:r>
              <a:rPr dirty="0"/>
              <a:t>Australian-born and American-raised by Vietnamese parents of Vietnamese and Chinese descent</a:t>
            </a:r>
          </a:p>
          <a:p>
            <a:pPr lvl="1"/>
            <a:r>
              <a:rPr dirty="0"/>
              <a:t>married, with 2 children</a:t>
            </a:r>
          </a:p>
          <a:p>
            <a:pPr lvl="1"/>
            <a:r>
              <a:rPr dirty="0"/>
              <a:t>Christian</a:t>
            </a:r>
            <a:r>
              <a:rPr lang="en-US" dirty="0"/>
              <a:t>, c.f. my profile on </a:t>
            </a:r>
            <a:r>
              <a:rPr lang="en-US" u="sng" dirty="0">
                <a:hlinkClick r:id="rId2"/>
              </a:rPr>
              <a:t>Meet the Prof</a:t>
            </a:r>
            <a:endParaRPr lang="en-US" dirty="0"/>
          </a:p>
          <a:p>
            <a:pPr lvl="1"/>
            <a:r>
              <a:rPr dirty="0"/>
              <a:t>incredibly blessed!</a:t>
            </a:r>
            <a:endParaRPr lang="en-US" dirty="0"/>
          </a:p>
        </p:txBody>
      </p:sp>
      <p:sp>
        <p:nvSpPr>
          <p:cNvPr id="198" name="Slide Number"/>
          <p:cNvSpPr txBox="1">
            <a:spLocks noGrp="1"/>
          </p:cNvSpPr>
          <p:nvPr>
            <p:ph type="sldNum" sz="quarter" idx="4294967295"/>
          </p:nvPr>
        </p:nvSpPr>
        <p:spPr>
          <a:xfrm>
            <a:off x="12020548" y="13010554"/>
            <a:ext cx="325045" cy="511176"/>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9</a:t>
            </a:fld>
            <a:endParaRP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97">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197">
                                            <p:txEl>
                                              <p:pRg st="0" end="0"/>
                                            </p:txEl>
                                          </p:spTgt>
                                        </p:tgtEl>
                                        <p:attrNameLst>
                                          <p:attrName>style.visibility</p:attrName>
                                        </p:attrNameLst>
                                      </p:cBhvr>
                                      <p:to>
                                        <p:strVal val="visible"/>
                                      </p:to>
                                    </p:set>
                                  </p:childTnLst>
                                </p:cTn>
                              </p:par>
                              <p:par>
                                <p:cTn id="9" presetID="1" presetClass="entr" presetSubtype="0" fill="hold" grpId="1" nodeType="withEffect">
                                  <p:stCondLst>
                                    <p:cond delay="0"/>
                                  </p:stCondLst>
                                  <p:iterate>
                                    <p:tmAbs val="0"/>
                                  </p:iterate>
                                  <p:childTnLst>
                                    <p:set>
                                      <p:cBhvr>
                                        <p:cTn id="10" fill="hold"/>
                                        <p:tgtEl>
                                          <p:spTgt spid="197">
                                            <p:txEl>
                                              <p:pRg st="1" end="1"/>
                                            </p:txEl>
                                          </p:spTgt>
                                        </p:tgtEl>
                                        <p:attrNameLst>
                                          <p:attrName>style.visibility</p:attrName>
                                        </p:attrNameLst>
                                      </p:cBhvr>
                                      <p:to>
                                        <p:strVal val="visible"/>
                                      </p:to>
                                    </p:set>
                                  </p:childTnLst>
                                </p:cTn>
                              </p:par>
                              <p:par>
                                <p:cTn id="11" presetID="1" presetClass="entr" presetSubtype="0" fill="hold" grpId="1" nodeType="withEffect">
                                  <p:stCondLst>
                                    <p:cond delay="0"/>
                                  </p:stCondLst>
                                  <p:iterate>
                                    <p:tmAbs val="0"/>
                                  </p:iterate>
                                  <p:childTnLst>
                                    <p:set>
                                      <p:cBhvr>
                                        <p:cTn id="12" fill="hold"/>
                                        <p:tgtEl>
                                          <p:spTgt spid="197">
                                            <p:txEl>
                                              <p:pRg st="2" end="2"/>
                                            </p:txEl>
                                          </p:spTgt>
                                        </p:tgtEl>
                                        <p:attrNameLst>
                                          <p:attrName>style.visibility</p:attrName>
                                        </p:attrNameLst>
                                      </p:cBhvr>
                                      <p:to>
                                        <p:strVal val="visible"/>
                                      </p:to>
                                    </p:set>
                                  </p:childTnLst>
                                </p:cTn>
                              </p:par>
                              <p:par>
                                <p:cTn id="13" presetID="1" presetClass="entr" presetSubtype="0" fill="hold" grpId="1" nodeType="withEffect">
                                  <p:stCondLst>
                                    <p:cond delay="0"/>
                                  </p:stCondLst>
                                  <p:iterate>
                                    <p:tmAbs val="0"/>
                                  </p:iterate>
                                  <p:childTnLst>
                                    <p:set>
                                      <p:cBhvr>
                                        <p:cTn id="14" fill="hold"/>
                                        <p:tgtEl>
                                          <p:spTgt spid="197">
                                            <p:txEl>
                                              <p:pRg st="3" end="3"/>
                                            </p:txEl>
                                          </p:spTgt>
                                        </p:tgtEl>
                                        <p:attrNameLst>
                                          <p:attrName>style.visibility</p:attrName>
                                        </p:attrNameLst>
                                      </p:cBhvr>
                                      <p:to>
                                        <p:strVal val="visible"/>
                                      </p:to>
                                    </p:set>
                                  </p:childTnLst>
                                </p:cTn>
                              </p:par>
                              <p:par>
                                <p:cTn id="15" presetID="1" presetClass="entr" presetSubtype="0" fill="hold" grpId="1" nodeType="withEffect">
                                  <p:stCondLst>
                                    <p:cond delay="0"/>
                                  </p:stCondLst>
                                  <p:iterate>
                                    <p:tmAbs val="0"/>
                                  </p:iterate>
                                  <p:childTnLst>
                                    <p:set>
                                      <p:cBhvr>
                                        <p:cTn id="16" fill="hold"/>
                                        <p:tgtEl>
                                          <p:spTgt spid="197">
                                            <p:txEl>
                                              <p:pRg st="4" end="4"/>
                                            </p:txEl>
                                          </p:spTgt>
                                        </p:tgtEl>
                                        <p:attrNameLst>
                                          <p:attrName>style.visibility</p:attrName>
                                        </p:attrNameLst>
                                      </p:cBhvr>
                                      <p:to>
                                        <p:strVal val="visible"/>
                                      </p:to>
                                    </p:set>
                                  </p:childTnLst>
                                </p:cTn>
                              </p:par>
                              <p:par>
                                <p:cTn id="17" presetID="1" presetClass="entr" presetSubtype="0" fill="hold" grpId="1" nodeType="withEffect">
                                  <p:stCondLst>
                                    <p:cond delay="0"/>
                                  </p:stCondLst>
                                  <p:iterate>
                                    <p:tmAbs val="0"/>
                                  </p:iterate>
                                  <p:childTnLst>
                                    <p:set>
                                      <p:cBhvr>
                                        <p:cTn id="18" fill="hold"/>
                                        <p:tgtEl>
                                          <p:spTgt spid="197">
                                            <p:txEl>
                                              <p:pRg st="5" end="5"/>
                                            </p:txEl>
                                          </p:spTgt>
                                        </p:tgtEl>
                                        <p:attrNameLst>
                                          <p:attrName>style.visibility</p:attrName>
                                        </p:attrNameLst>
                                      </p:cBhvr>
                                      <p:to>
                                        <p:strVal val="visible"/>
                                      </p:to>
                                    </p:set>
                                  </p:childTnLst>
                                </p:cTn>
                              </p:par>
                              <p:par>
                                <p:cTn id="19" presetID="1" presetClass="entr" presetSubtype="0" fill="hold" grpId="1" nodeType="withEffect">
                                  <p:stCondLst>
                                    <p:cond delay="0"/>
                                  </p:stCondLst>
                                  <p:iterate>
                                    <p:tmAbs val="0"/>
                                  </p:iterate>
                                  <p:childTnLst>
                                    <p:set>
                                      <p:cBhvr>
                                        <p:cTn id="20" fill="hold"/>
                                        <p:tgtEl>
                                          <p:spTgt spid="197">
                                            <p:txEl>
                                              <p:pRg st="6" end="6"/>
                                            </p:txEl>
                                          </p:spTgt>
                                        </p:tgtEl>
                                        <p:attrNameLst>
                                          <p:attrName>style.visibility</p:attrName>
                                        </p:attrNameLst>
                                      </p:cBhvr>
                                      <p:to>
                                        <p:strVal val="visible"/>
                                      </p:to>
                                    </p:set>
                                  </p:childTnLst>
                                </p:cTn>
                              </p:par>
                              <p:par>
                                <p:cTn id="21" presetID="1" presetClass="entr" presetSubtype="0" fill="hold" grpId="1" nodeType="withEffect">
                                  <p:stCondLst>
                                    <p:cond delay="0"/>
                                  </p:stCondLst>
                                  <p:iterate>
                                    <p:tmAbs val="0"/>
                                  </p:iterate>
                                  <p:childTnLst>
                                    <p:set>
                                      <p:cBhvr>
                                        <p:cTn id="22" fill="hold"/>
                                        <p:tgtEl>
                                          <p:spTgt spid="197">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1" nodeType="clickEffect">
                                  <p:stCondLst>
                                    <p:cond delay="0"/>
                                  </p:stCondLst>
                                  <p:iterate>
                                    <p:tmAbs val="0"/>
                                  </p:iterate>
                                  <p:childTnLst>
                                    <p:set>
                                      <p:cBhvr>
                                        <p:cTn id="26" fill="hold"/>
                                        <p:tgtEl>
                                          <p:spTgt spid="197">
                                            <p:txEl>
                                              <p:pRg st="8" end="8"/>
                                            </p:txEl>
                                          </p:spTgt>
                                        </p:tgtEl>
                                        <p:attrNameLst>
                                          <p:attrName>style.visibility</p:attrName>
                                        </p:attrNameLst>
                                      </p:cBhvr>
                                      <p:to>
                                        <p:strVal val="visible"/>
                                      </p:to>
                                    </p:set>
                                  </p:childTnLst>
                                </p:cTn>
                              </p:par>
                              <p:par>
                                <p:cTn id="27" presetID="1" presetClass="entr" presetSubtype="0" fill="hold" grpId="1" nodeType="withEffect">
                                  <p:stCondLst>
                                    <p:cond delay="0"/>
                                  </p:stCondLst>
                                  <p:iterate>
                                    <p:tmAbs val="0"/>
                                  </p:iterate>
                                  <p:childTnLst>
                                    <p:set>
                                      <p:cBhvr>
                                        <p:cTn id="28" fill="hold"/>
                                        <p:tgtEl>
                                          <p:spTgt spid="197">
                                            <p:txEl>
                                              <p:pRg st="9" end="9"/>
                                            </p:txEl>
                                          </p:spTgt>
                                        </p:tgtEl>
                                        <p:attrNameLst>
                                          <p:attrName>style.visibility</p:attrName>
                                        </p:attrNameLst>
                                      </p:cBhvr>
                                      <p:to>
                                        <p:strVal val="visible"/>
                                      </p:to>
                                    </p:set>
                                  </p:childTnLst>
                                </p:cTn>
                              </p:par>
                              <p:par>
                                <p:cTn id="29" presetID="1" presetClass="entr" presetSubtype="0" fill="hold" grpId="1" nodeType="withEffect">
                                  <p:stCondLst>
                                    <p:cond delay="0"/>
                                  </p:stCondLst>
                                  <p:iterate>
                                    <p:tmAbs val="0"/>
                                  </p:iterate>
                                  <p:childTnLst>
                                    <p:set>
                                      <p:cBhvr>
                                        <p:cTn id="30" fill="hold"/>
                                        <p:tgtEl>
                                          <p:spTgt spid="197">
                                            <p:txEl>
                                              <p:pRg st="10" end="10"/>
                                            </p:txEl>
                                          </p:spTgt>
                                        </p:tgtEl>
                                        <p:attrNameLst>
                                          <p:attrName>style.visibility</p:attrName>
                                        </p:attrNameLst>
                                      </p:cBhvr>
                                      <p:to>
                                        <p:strVal val="visible"/>
                                      </p:to>
                                    </p:set>
                                  </p:childTnLst>
                                </p:cTn>
                              </p:par>
                              <p:par>
                                <p:cTn id="31" presetID="1" presetClass="entr" presetSubtype="0" fill="hold" grpId="1" nodeType="withEffect">
                                  <p:stCondLst>
                                    <p:cond delay="0"/>
                                  </p:stCondLst>
                                  <p:iterate>
                                    <p:tmAbs val="0"/>
                                  </p:iterate>
                                  <p:childTnLst>
                                    <p:set>
                                      <p:cBhvr>
                                        <p:cTn id="32" fill="hold"/>
                                        <p:tgtEl>
                                          <p:spTgt spid="197">
                                            <p:txEl>
                                              <p:pRg st="11" end="11"/>
                                            </p:txEl>
                                          </p:spTgt>
                                        </p:tgtEl>
                                        <p:attrNameLst>
                                          <p:attrName>style.visibility</p:attrName>
                                        </p:attrNameLst>
                                      </p:cBhvr>
                                      <p:to>
                                        <p:strVal val="visible"/>
                                      </p:to>
                                    </p:set>
                                  </p:childTnLst>
                                </p:cTn>
                              </p:par>
                              <p:par>
                                <p:cTn id="33" presetID="1" presetClass="entr" presetSubtype="0" fill="hold" grpId="1" nodeType="withEffect">
                                  <p:stCondLst>
                                    <p:cond delay="0"/>
                                  </p:stCondLst>
                                  <p:iterate>
                                    <p:tmAbs val="0"/>
                                  </p:iterate>
                                  <p:childTnLst>
                                    <p:set>
                                      <p:cBhvr>
                                        <p:cTn id="34" fill="hold"/>
                                        <p:tgtEl>
                                          <p:spTgt spid="197">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7" grpId="1" build="p" animBg="1" advAuto="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 name="[Introduce yourself]"/>
          <p:cNvSpPr txBox="1">
            <a:spLocks noGrp="1"/>
          </p:cNvSpPr>
          <p:nvPr>
            <p:ph type="title"/>
          </p:nvPr>
        </p:nvSpPr>
        <p:spPr>
          <a:prstGeom prst="rect">
            <a:avLst/>
          </a:prstGeom>
        </p:spPr>
        <p:txBody>
          <a:bodyPr/>
          <a:lstStyle/>
          <a:p>
            <a:r>
              <a:rPr dirty="0"/>
              <a:t>Introduce yourself</a:t>
            </a:r>
          </a:p>
        </p:txBody>
      </p:sp>
      <p:sp>
        <p:nvSpPr>
          <p:cNvPr id="201" name="What is your full name? What do you like to be called?…"/>
          <p:cNvSpPr txBox="1">
            <a:spLocks noGrp="1"/>
          </p:cNvSpPr>
          <p:nvPr>
            <p:ph type="body" idx="1"/>
          </p:nvPr>
        </p:nvSpPr>
        <p:spPr>
          <a:prstGeom prst="rect">
            <a:avLst/>
          </a:prstGeom>
        </p:spPr>
        <p:txBody>
          <a:bodyPr/>
          <a:lstStyle/>
          <a:p>
            <a:r>
              <a:rPr lang="en-US" dirty="0"/>
              <a:t>Before class on 1/21, fill out this survey under </a:t>
            </a:r>
            <a:r>
              <a:rPr lang="en-US" dirty="0">
                <a:hlinkClick r:id="rId2"/>
              </a:rPr>
              <a:t>Participation</a:t>
            </a:r>
            <a:r>
              <a:rPr lang="en-US" dirty="0"/>
              <a:t> on Canvas</a:t>
            </a:r>
          </a:p>
          <a:p>
            <a:pPr lvl="1"/>
            <a:r>
              <a:rPr lang="en-US" dirty="0"/>
              <a:t>What is your full name? What do you like to be called?</a:t>
            </a:r>
          </a:p>
          <a:p>
            <a:pPr lvl="1"/>
            <a:r>
              <a:rPr lang="en-US" dirty="0"/>
              <a:t>Which degree program are you in?</a:t>
            </a:r>
          </a:p>
          <a:p>
            <a:pPr lvl="1"/>
            <a:r>
              <a:rPr lang="en-US" dirty="0"/>
              <a:t>What is one things that you hope to learn in this class?</a:t>
            </a:r>
          </a:p>
          <a:p>
            <a:pPr lvl="1"/>
            <a:r>
              <a:rPr lang="en-US" dirty="0"/>
              <a:t>How will this help you achieve your goals?</a:t>
            </a:r>
          </a:p>
          <a:p>
            <a:pPr lvl="1"/>
            <a:r>
              <a:rPr lang="en-US" dirty="0"/>
              <a:t>Share something interesting about yourself</a:t>
            </a:r>
          </a:p>
        </p:txBody>
      </p:sp>
      <p:sp>
        <p:nvSpPr>
          <p:cNvPr id="202" name="Slide Number"/>
          <p:cNvSpPr txBox="1">
            <a:spLocks noGrp="1"/>
          </p:cNvSpPr>
          <p:nvPr>
            <p:ph type="sldNum" sz="quarter" idx="4294967295"/>
          </p:nvPr>
        </p:nvSpPr>
        <p:spPr>
          <a:xfrm>
            <a:off x="12020548" y="13010554"/>
            <a:ext cx="325045" cy="511176"/>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10</a:t>
            </a:fld>
            <a:endParaRP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9B1B8A-5C98-F26B-84EF-0B7411984C66}"/>
            </a:ext>
          </a:extLst>
        </p:cNvPr>
        <p:cNvGrpSpPr/>
        <p:nvPr/>
      </p:nvGrpSpPr>
      <p:grpSpPr>
        <a:xfrm>
          <a:off x="0" y="0"/>
          <a:ext cx="0" cy="0"/>
          <a:chOff x="0" y="0"/>
          <a:chExt cx="0" cy="0"/>
        </a:xfrm>
      </p:grpSpPr>
      <p:sp>
        <p:nvSpPr>
          <p:cNvPr id="188" name="Introductions">
            <a:extLst>
              <a:ext uri="{FF2B5EF4-FFF2-40B4-BE49-F238E27FC236}">
                <a16:creationId xmlns:a16="http://schemas.microsoft.com/office/drawing/2014/main" id="{CA8401D1-F368-0518-BECB-636FE7A1961C}"/>
              </a:ext>
            </a:extLst>
          </p:cNvPr>
          <p:cNvSpPr txBox="1">
            <a:spLocks noGrp="1"/>
          </p:cNvSpPr>
          <p:nvPr>
            <p:ph type="title"/>
          </p:nvPr>
        </p:nvSpPr>
        <p:spPr>
          <a:prstGeom prst="rect">
            <a:avLst/>
          </a:prstGeom>
        </p:spPr>
        <p:txBody>
          <a:bodyPr/>
          <a:lstStyle/>
          <a:p>
            <a:r>
              <a:rPr lang="en-US" dirty="0"/>
              <a:t>High performance computing</a:t>
            </a:r>
            <a:endParaRPr dirty="0"/>
          </a:p>
        </p:txBody>
      </p:sp>
    </p:spTree>
    <p:extLst>
      <p:ext uri="{BB962C8B-B14F-4D97-AF65-F5344CB8AC3E}">
        <p14:creationId xmlns:p14="http://schemas.microsoft.com/office/powerpoint/2010/main" val="1407631869"/>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p:cNvSpPr/>
          <p:nvPr/>
        </p:nvSpPr>
        <p:spPr>
          <a:xfrm>
            <a:off x="719329" y="2560320"/>
            <a:ext cx="5157216" cy="2926080"/>
          </a:xfrm>
          <a:prstGeom prst="roundRect">
            <a:avLst/>
          </a:prstGeom>
          <a:solidFill>
            <a:srgbClr val="F2F2F2"/>
          </a:solidFill>
          <a:ln w="25400">
            <a:solidFill>
              <a:srgbClr val="78787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4000" b="1">
                <a:solidFill>
                  <a:srgbClr val="000000"/>
                </a:solidFill>
              </a:rPr>
              <a:t>User Workstation
(Laptop/Desktop)</a:t>
            </a:r>
          </a:p>
        </p:txBody>
      </p:sp>
      <p:sp>
        <p:nvSpPr>
          <p:cNvPr id="5" name="Rounded Rectangle 4"/>
          <p:cNvSpPr/>
          <p:nvPr/>
        </p:nvSpPr>
        <p:spPr>
          <a:xfrm>
            <a:off x="8412481" y="2560320"/>
            <a:ext cx="14996158" cy="10241280"/>
          </a:xfrm>
          <a:prstGeom prst="roundRect">
            <a:avLst/>
          </a:prstGeom>
          <a:noFill/>
          <a:ln w="25400">
            <a:solidFill>
              <a:srgbClr val="5A5A5A"/>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000"/>
          </a:p>
        </p:txBody>
      </p:sp>
      <p:sp>
        <p:nvSpPr>
          <p:cNvPr id="6" name="TextBox 5"/>
          <p:cNvSpPr txBox="1"/>
          <p:nvPr/>
        </p:nvSpPr>
        <p:spPr>
          <a:xfrm>
            <a:off x="9509760" y="2816572"/>
            <a:ext cx="8046720" cy="584775"/>
          </a:xfrm>
          <a:prstGeom prst="rect">
            <a:avLst/>
          </a:prstGeom>
          <a:noFill/>
        </p:spPr>
        <p:txBody>
          <a:bodyPr wrap="square">
            <a:spAutoFit/>
          </a:bodyPr>
          <a:lstStyle/>
          <a:p>
            <a:pPr algn="l"/>
            <a:r>
              <a:rPr sz="3200" b="1" dirty="0">
                <a:solidFill>
                  <a:srgbClr val="464646"/>
                </a:solidFill>
              </a:rPr>
              <a:t>HPC System / Cluster</a:t>
            </a:r>
            <a:r>
              <a:rPr lang="en-US" sz="3200" b="1" dirty="0">
                <a:solidFill>
                  <a:srgbClr val="464646"/>
                </a:solidFill>
              </a:rPr>
              <a:t>, e.g. SDSC Expanse</a:t>
            </a:r>
            <a:endParaRPr sz="3200" b="1" dirty="0">
              <a:solidFill>
                <a:srgbClr val="464646"/>
              </a:solidFill>
            </a:endParaRPr>
          </a:p>
        </p:txBody>
      </p:sp>
      <p:sp>
        <p:nvSpPr>
          <p:cNvPr id="7" name="Rectangle 6"/>
          <p:cNvSpPr/>
          <p:nvPr/>
        </p:nvSpPr>
        <p:spPr>
          <a:xfrm>
            <a:off x="9150097" y="3669186"/>
            <a:ext cx="5376672" cy="1828800"/>
          </a:xfrm>
          <a:prstGeom prst="rect">
            <a:avLst/>
          </a:prstGeom>
          <a:solidFill>
            <a:srgbClr val="D9EAF7"/>
          </a:solidFill>
          <a:ln w="25400">
            <a:solidFill>
              <a:srgbClr val="347CB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4400" b="1">
                <a:solidFill>
                  <a:srgbClr val="184869"/>
                </a:solidFill>
              </a:rPr>
              <a:t>Login Node</a:t>
            </a:r>
          </a:p>
        </p:txBody>
      </p:sp>
      <p:sp>
        <p:nvSpPr>
          <p:cNvPr id="9" name="Rectangle 8"/>
          <p:cNvSpPr/>
          <p:nvPr/>
        </p:nvSpPr>
        <p:spPr>
          <a:xfrm>
            <a:off x="16276320" y="3657600"/>
            <a:ext cx="5852160" cy="1828800"/>
          </a:xfrm>
          <a:prstGeom prst="rect">
            <a:avLst/>
          </a:prstGeom>
          <a:solidFill>
            <a:srgbClr val="EBDEF0"/>
          </a:solidFill>
          <a:ln w="25400">
            <a:solidFill>
              <a:srgbClr val="7A3A9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4000" b="1" dirty="0">
                <a:solidFill>
                  <a:srgbClr val="55286A"/>
                </a:solidFill>
              </a:rPr>
              <a:t>Head Node</a:t>
            </a:r>
          </a:p>
        </p:txBody>
      </p:sp>
      <p:grpSp>
        <p:nvGrpSpPr>
          <p:cNvPr id="38" name="Group 37">
            <a:extLst>
              <a:ext uri="{FF2B5EF4-FFF2-40B4-BE49-F238E27FC236}">
                <a16:creationId xmlns:a16="http://schemas.microsoft.com/office/drawing/2014/main" id="{EDE836B9-567B-3396-1134-1FC343285665}"/>
              </a:ext>
            </a:extLst>
          </p:cNvPr>
          <p:cNvGrpSpPr/>
          <p:nvPr/>
        </p:nvGrpSpPr>
        <p:grpSpPr>
          <a:xfrm>
            <a:off x="13350240" y="7379208"/>
            <a:ext cx="9418320" cy="4023359"/>
            <a:chOff x="9509760" y="7315201"/>
            <a:chExt cx="9418320" cy="4023359"/>
          </a:xfrm>
        </p:grpSpPr>
        <p:sp>
          <p:nvSpPr>
            <p:cNvPr id="11" name="TextBox 10"/>
            <p:cNvSpPr txBox="1"/>
            <p:nvPr/>
          </p:nvSpPr>
          <p:spPr>
            <a:xfrm>
              <a:off x="9509760" y="7315201"/>
              <a:ext cx="9418320" cy="584775"/>
            </a:xfrm>
            <a:prstGeom prst="rect">
              <a:avLst/>
            </a:prstGeom>
            <a:noFill/>
          </p:spPr>
          <p:txBody>
            <a:bodyPr wrap="square">
              <a:spAutoFit/>
            </a:bodyPr>
            <a:lstStyle/>
            <a:p>
              <a:pPr algn="l"/>
              <a:r>
                <a:rPr sz="3200" b="1" dirty="0">
                  <a:solidFill>
                    <a:srgbClr val="464646"/>
                  </a:solidFill>
                </a:rPr>
                <a:t>Worker Nodes (Compute Nodes)</a:t>
              </a:r>
            </a:p>
          </p:txBody>
        </p:sp>
        <p:sp>
          <p:nvSpPr>
            <p:cNvPr id="12" name="Rounded Rectangle 11"/>
            <p:cNvSpPr/>
            <p:nvPr/>
          </p:nvSpPr>
          <p:spPr>
            <a:xfrm>
              <a:off x="9509760" y="8138160"/>
              <a:ext cx="2834640" cy="1371600"/>
            </a:xfrm>
            <a:prstGeom prst="roundRect">
              <a:avLst/>
            </a:prstGeom>
            <a:solidFill>
              <a:srgbClr val="DFF0D8"/>
            </a:solidFill>
            <a:ln w="19050">
              <a:solidFill>
                <a:srgbClr val="3E8E3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800" b="1">
                  <a:solidFill>
                    <a:srgbClr val="275F27"/>
                  </a:solidFill>
                </a:rPr>
                <a:t>Worker
1</a:t>
              </a:r>
            </a:p>
          </p:txBody>
        </p:sp>
        <p:sp>
          <p:nvSpPr>
            <p:cNvPr id="13" name="Rounded Rectangle 12"/>
            <p:cNvSpPr/>
            <p:nvPr/>
          </p:nvSpPr>
          <p:spPr>
            <a:xfrm>
              <a:off x="12801600" y="8138160"/>
              <a:ext cx="2834640" cy="1371600"/>
            </a:xfrm>
            <a:prstGeom prst="roundRect">
              <a:avLst/>
            </a:prstGeom>
            <a:solidFill>
              <a:srgbClr val="DFF0D8"/>
            </a:solidFill>
            <a:ln w="19050">
              <a:solidFill>
                <a:srgbClr val="3E8E3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800" b="1">
                  <a:solidFill>
                    <a:srgbClr val="275F27"/>
                  </a:solidFill>
                </a:rPr>
                <a:t>Worker
2</a:t>
              </a:r>
            </a:p>
          </p:txBody>
        </p:sp>
        <p:sp>
          <p:nvSpPr>
            <p:cNvPr id="14" name="Rounded Rectangle 13"/>
            <p:cNvSpPr/>
            <p:nvPr/>
          </p:nvSpPr>
          <p:spPr>
            <a:xfrm>
              <a:off x="16093440" y="8138160"/>
              <a:ext cx="2834640" cy="1371600"/>
            </a:xfrm>
            <a:prstGeom prst="roundRect">
              <a:avLst/>
            </a:prstGeom>
            <a:solidFill>
              <a:srgbClr val="DFF0D8"/>
            </a:solidFill>
            <a:ln w="19050">
              <a:solidFill>
                <a:srgbClr val="3E8E3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800" b="1">
                  <a:solidFill>
                    <a:srgbClr val="275F27"/>
                  </a:solidFill>
                </a:rPr>
                <a:t>Worker
3</a:t>
              </a:r>
            </a:p>
          </p:txBody>
        </p:sp>
        <p:sp>
          <p:nvSpPr>
            <p:cNvPr id="16" name="Rounded Rectangle 15"/>
            <p:cNvSpPr/>
            <p:nvPr/>
          </p:nvSpPr>
          <p:spPr>
            <a:xfrm>
              <a:off x="9509760" y="9966960"/>
              <a:ext cx="2834640" cy="1371600"/>
            </a:xfrm>
            <a:prstGeom prst="roundRect">
              <a:avLst/>
            </a:prstGeom>
            <a:solidFill>
              <a:srgbClr val="DFF0D8"/>
            </a:solidFill>
            <a:ln w="19050">
              <a:solidFill>
                <a:srgbClr val="3E8E3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800" b="1">
                  <a:solidFill>
                    <a:srgbClr val="275F27"/>
                  </a:solidFill>
                </a:rPr>
                <a:t>Worker
5</a:t>
              </a:r>
            </a:p>
          </p:txBody>
        </p:sp>
        <p:sp>
          <p:nvSpPr>
            <p:cNvPr id="17" name="Rounded Rectangle 16"/>
            <p:cNvSpPr/>
            <p:nvPr/>
          </p:nvSpPr>
          <p:spPr>
            <a:xfrm>
              <a:off x="12801600" y="9966960"/>
              <a:ext cx="2834640" cy="1371600"/>
            </a:xfrm>
            <a:prstGeom prst="roundRect">
              <a:avLst/>
            </a:prstGeom>
            <a:solidFill>
              <a:srgbClr val="DFF0D8"/>
            </a:solidFill>
            <a:ln w="19050">
              <a:solidFill>
                <a:srgbClr val="3E8E3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800" b="1">
                  <a:solidFill>
                    <a:srgbClr val="275F27"/>
                  </a:solidFill>
                </a:rPr>
                <a:t>Worker
6</a:t>
              </a:r>
            </a:p>
          </p:txBody>
        </p:sp>
        <p:sp>
          <p:nvSpPr>
            <p:cNvPr id="18" name="Rounded Rectangle 17"/>
            <p:cNvSpPr/>
            <p:nvPr/>
          </p:nvSpPr>
          <p:spPr>
            <a:xfrm>
              <a:off x="16093440" y="9966960"/>
              <a:ext cx="2834640" cy="1371600"/>
            </a:xfrm>
            <a:prstGeom prst="roundRect">
              <a:avLst/>
            </a:prstGeom>
            <a:solidFill>
              <a:srgbClr val="DFF0D8"/>
            </a:solidFill>
            <a:ln w="19050">
              <a:solidFill>
                <a:srgbClr val="3E8E3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800" b="1" dirty="0">
                  <a:solidFill>
                    <a:srgbClr val="275F27"/>
                  </a:solidFill>
                </a:rPr>
                <a:t>Worker
7</a:t>
              </a:r>
            </a:p>
          </p:txBody>
        </p:sp>
      </p:grpSp>
      <p:cxnSp>
        <p:nvCxnSpPr>
          <p:cNvPr id="20" name="Connector 19"/>
          <p:cNvCxnSpPr>
            <a:cxnSpLocks/>
            <a:stCxn id="3" idx="3"/>
            <a:endCxn id="7" idx="1"/>
          </p:cNvCxnSpPr>
          <p:nvPr/>
        </p:nvCxnSpPr>
        <p:spPr>
          <a:xfrm>
            <a:off x="5876545" y="4023360"/>
            <a:ext cx="3273552" cy="560226"/>
          </a:xfrm>
          <a:prstGeom prst="line">
            <a:avLst/>
          </a:prstGeom>
          <a:ln w="31750">
            <a:solidFill>
              <a:srgbClr val="347CB2"/>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169153" y="3003168"/>
            <a:ext cx="2194560" cy="954107"/>
          </a:xfrm>
          <a:prstGeom prst="rect">
            <a:avLst/>
          </a:prstGeom>
          <a:noFill/>
        </p:spPr>
        <p:txBody>
          <a:bodyPr wrap="square">
            <a:spAutoFit/>
          </a:bodyPr>
          <a:lstStyle/>
          <a:p>
            <a:pPr algn="ctr"/>
            <a:r>
              <a:rPr sz="2800" b="1" dirty="0">
                <a:solidFill>
                  <a:srgbClr val="347CB2"/>
                </a:solidFill>
              </a:rPr>
              <a:t>SSH</a:t>
            </a:r>
            <a:r>
              <a:rPr lang="en-US" sz="2800" b="1" dirty="0">
                <a:solidFill>
                  <a:srgbClr val="347CB2"/>
                </a:solidFill>
              </a:rPr>
              <a:t> / Web portal</a:t>
            </a:r>
            <a:endParaRPr sz="2800" b="1" dirty="0">
              <a:solidFill>
                <a:srgbClr val="347CB2"/>
              </a:solidFill>
            </a:endParaRPr>
          </a:p>
        </p:txBody>
      </p:sp>
      <p:cxnSp>
        <p:nvCxnSpPr>
          <p:cNvPr id="22" name="Connector 21"/>
          <p:cNvCxnSpPr>
            <a:cxnSpLocks/>
            <a:stCxn id="7" idx="3"/>
            <a:endCxn id="9" idx="1"/>
          </p:cNvCxnSpPr>
          <p:nvPr/>
        </p:nvCxnSpPr>
        <p:spPr>
          <a:xfrm flipV="1">
            <a:off x="14526769" y="4572000"/>
            <a:ext cx="1749551" cy="11586"/>
          </a:xfrm>
          <a:prstGeom prst="line">
            <a:avLst/>
          </a:prstGeom>
          <a:ln w="31750">
            <a:solidFill>
              <a:srgbClr val="7A3A96"/>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4081760" y="4116128"/>
            <a:ext cx="2560320" cy="461665"/>
          </a:xfrm>
          <a:prstGeom prst="rect">
            <a:avLst/>
          </a:prstGeom>
          <a:noFill/>
        </p:spPr>
        <p:txBody>
          <a:bodyPr wrap="square">
            <a:spAutoFit/>
          </a:bodyPr>
          <a:lstStyle/>
          <a:p>
            <a:pPr algn="ctr"/>
            <a:r>
              <a:rPr sz="2400" b="1" dirty="0">
                <a:solidFill>
                  <a:srgbClr val="7A3A96"/>
                </a:solidFill>
              </a:rPr>
              <a:t>submit</a:t>
            </a:r>
          </a:p>
        </p:txBody>
      </p:sp>
      <p:cxnSp>
        <p:nvCxnSpPr>
          <p:cNvPr id="30" name="Connector 29"/>
          <p:cNvCxnSpPr>
            <a:cxnSpLocks/>
            <a:stCxn id="33" idx="2"/>
            <a:endCxn id="3" idx="3"/>
          </p:cNvCxnSpPr>
          <p:nvPr/>
        </p:nvCxnSpPr>
        <p:spPr>
          <a:xfrm flipH="1" flipV="1">
            <a:off x="5876545" y="4023360"/>
            <a:ext cx="3304032" cy="3412742"/>
          </a:xfrm>
          <a:prstGeom prst="line">
            <a:avLst/>
          </a:prstGeom>
          <a:ln w="22225">
            <a:solidFill>
              <a:srgbClr val="787878"/>
            </a:solidFill>
          </a:ln>
        </p:spPr>
        <p:style>
          <a:lnRef idx="2">
            <a:schemeClr val="accent1"/>
          </a:lnRef>
          <a:fillRef idx="0">
            <a:schemeClr val="accent1"/>
          </a:fillRef>
          <a:effectRef idx="1">
            <a:schemeClr val="accent1"/>
          </a:effectRef>
          <a:fontRef idx="minor">
            <a:schemeClr val="tx1"/>
          </a:fontRef>
        </p:style>
      </p:cxnSp>
      <p:sp>
        <p:nvSpPr>
          <p:cNvPr id="33" name="Can 32"/>
          <p:cNvSpPr/>
          <p:nvPr/>
        </p:nvSpPr>
        <p:spPr>
          <a:xfrm>
            <a:off x="9180577" y="6235000"/>
            <a:ext cx="3474720" cy="2402204"/>
          </a:xfrm>
          <a:prstGeom prst="can">
            <a:avLst/>
          </a:prstGeom>
          <a:solidFill>
            <a:srgbClr val="FFF2CC"/>
          </a:solidFill>
          <a:ln w="25400">
            <a:solidFill>
              <a:srgbClr val="BF9000"/>
            </a:solidFill>
          </a:ln>
        </p:spPr>
        <p:style>
          <a:lnRef idx="1">
            <a:schemeClr val="accent1"/>
          </a:lnRef>
          <a:fillRef idx="3">
            <a:schemeClr val="accent1"/>
          </a:fillRef>
          <a:effectRef idx="2">
            <a:schemeClr val="accent1"/>
          </a:effectRef>
          <a:fontRef idx="minor">
            <a:schemeClr val="lt1"/>
          </a:fontRef>
        </p:style>
        <p:txBody>
          <a:bodyPr wrap="square" rtlCol="0" anchor="ctr"/>
          <a:lstStyle/>
          <a:p>
            <a:r>
              <a:rPr sz="3200" b="1" dirty="0">
                <a:solidFill>
                  <a:srgbClr val="7E5800"/>
                </a:solidFill>
              </a:rPr>
              <a:t>Shared
Storage</a:t>
            </a:r>
          </a:p>
        </p:txBody>
      </p:sp>
      <p:sp>
        <p:nvSpPr>
          <p:cNvPr id="34" name="TextBox 33"/>
          <p:cNvSpPr txBox="1"/>
          <p:nvPr/>
        </p:nvSpPr>
        <p:spPr>
          <a:xfrm>
            <a:off x="7924801" y="8825833"/>
            <a:ext cx="6217920" cy="1569660"/>
          </a:xfrm>
          <a:prstGeom prst="rect">
            <a:avLst/>
          </a:prstGeom>
          <a:noFill/>
        </p:spPr>
        <p:txBody>
          <a:bodyPr wrap="square">
            <a:spAutoFit/>
          </a:bodyPr>
          <a:lstStyle/>
          <a:p>
            <a:pPr algn="ctr"/>
            <a:r>
              <a:rPr lang="en-US" sz="2400" dirty="0">
                <a:solidFill>
                  <a:srgbClr val="7E5800"/>
                </a:solidFill>
              </a:rPr>
              <a:t>/home/&lt;user&gt;/</a:t>
            </a:r>
          </a:p>
          <a:p>
            <a:pPr algn="ctr"/>
            <a:r>
              <a:rPr lang="en-US" sz="2400" dirty="0">
                <a:solidFill>
                  <a:srgbClr val="7E5800"/>
                </a:solidFill>
              </a:rPr>
              <a:t>(backed up)</a:t>
            </a:r>
          </a:p>
          <a:p>
            <a:pPr algn="ctr"/>
            <a:r>
              <a:rPr lang="en-US" sz="2400" dirty="0">
                <a:solidFill>
                  <a:srgbClr val="7E5800"/>
                </a:solidFill>
              </a:rPr>
              <a:t>/expanse/</a:t>
            </a:r>
            <a:r>
              <a:rPr lang="en-US" sz="2400" dirty="0" err="1">
                <a:solidFill>
                  <a:srgbClr val="7E5800"/>
                </a:solidFill>
              </a:rPr>
              <a:t>lustre</a:t>
            </a:r>
            <a:r>
              <a:rPr lang="en-US" sz="2400" dirty="0">
                <a:solidFill>
                  <a:srgbClr val="7E5800"/>
                </a:solidFill>
              </a:rPr>
              <a:t>/scratch </a:t>
            </a:r>
          </a:p>
          <a:p>
            <a:pPr algn="ctr"/>
            <a:r>
              <a:rPr lang="en-US" sz="2400" dirty="0">
                <a:solidFill>
                  <a:srgbClr val="7E5800"/>
                </a:solidFill>
              </a:rPr>
              <a:t>(not backed up)</a:t>
            </a:r>
          </a:p>
        </p:txBody>
      </p:sp>
      <p:cxnSp>
        <p:nvCxnSpPr>
          <p:cNvPr id="36" name="Connector 35"/>
          <p:cNvCxnSpPr/>
          <p:nvPr/>
        </p:nvCxnSpPr>
        <p:spPr>
          <a:xfrm>
            <a:off x="0" y="5486400"/>
            <a:ext cx="0" cy="0"/>
          </a:xfrm>
          <a:prstGeom prst="line">
            <a:avLst/>
          </a:prstGeom>
          <a:ln w="22225">
            <a:solidFill>
              <a:srgbClr val="BF9000"/>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0" y="10241280"/>
            <a:ext cx="0" cy="0"/>
          </a:xfrm>
          <a:prstGeom prst="line">
            <a:avLst/>
          </a:prstGeom>
          <a:ln w="22225">
            <a:solidFill>
              <a:srgbClr val="BF9000"/>
            </a:solidFill>
          </a:ln>
        </p:spPr>
        <p:style>
          <a:lnRef idx="2">
            <a:schemeClr val="accent1"/>
          </a:lnRef>
          <a:fillRef idx="0">
            <a:schemeClr val="accent1"/>
          </a:fillRef>
          <a:effectRef idx="1">
            <a:schemeClr val="accent1"/>
          </a:effectRef>
          <a:fontRef idx="minor">
            <a:schemeClr val="tx1"/>
          </a:fontRef>
        </p:style>
      </p:cxnSp>
      <p:grpSp>
        <p:nvGrpSpPr>
          <p:cNvPr id="48" name="Group 47">
            <a:extLst>
              <a:ext uri="{FF2B5EF4-FFF2-40B4-BE49-F238E27FC236}">
                <a16:creationId xmlns:a16="http://schemas.microsoft.com/office/drawing/2014/main" id="{9EC87A73-4F26-0C71-9845-C49DAE74F88B}"/>
              </a:ext>
            </a:extLst>
          </p:cNvPr>
          <p:cNvGrpSpPr/>
          <p:nvPr/>
        </p:nvGrpSpPr>
        <p:grpSpPr>
          <a:xfrm>
            <a:off x="14886432" y="5486400"/>
            <a:ext cx="6766560" cy="1854268"/>
            <a:chOff x="14886432" y="5486400"/>
            <a:chExt cx="6766560" cy="1854268"/>
          </a:xfrm>
        </p:grpSpPr>
        <p:cxnSp>
          <p:nvCxnSpPr>
            <p:cNvPr id="24" name="Connector 23"/>
            <p:cNvCxnSpPr>
              <a:cxnSpLocks/>
            </p:cNvCxnSpPr>
            <p:nvPr/>
          </p:nvCxnSpPr>
          <p:spPr>
            <a:xfrm flipH="1">
              <a:off x="14886432" y="5486401"/>
              <a:ext cx="4315968" cy="1780031"/>
            </a:xfrm>
            <a:prstGeom prst="line">
              <a:avLst/>
            </a:prstGeom>
            <a:ln w="31750">
              <a:solidFill>
                <a:srgbClr val="55286A"/>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6898112" y="6197621"/>
              <a:ext cx="3840480" cy="461665"/>
            </a:xfrm>
            <a:prstGeom prst="rect">
              <a:avLst/>
            </a:prstGeom>
            <a:noFill/>
          </p:spPr>
          <p:txBody>
            <a:bodyPr wrap="square">
              <a:spAutoFit/>
            </a:bodyPr>
            <a:lstStyle/>
            <a:p>
              <a:pPr algn="ctr"/>
              <a:r>
                <a:rPr sz="2400" b="1" dirty="0">
                  <a:solidFill>
                    <a:srgbClr val="55286A"/>
                  </a:solidFill>
                </a:rPr>
                <a:t>dispatch</a:t>
              </a:r>
              <a:r>
                <a:rPr lang="en-US" sz="2400" b="1" dirty="0">
                  <a:solidFill>
                    <a:srgbClr val="55286A"/>
                  </a:solidFill>
                </a:rPr>
                <a:t>es</a:t>
              </a:r>
              <a:r>
                <a:rPr sz="2400" b="1" dirty="0">
                  <a:solidFill>
                    <a:srgbClr val="55286A"/>
                  </a:solidFill>
                </a:rPr>
                <a:t> jobs</a:t>
              </a:r>
            </a:p>
          </p:txBody>
        </p:sp>
        <p:cxnSp>
          <p:nvCxnSpPr>
            <p:cNvPr id="44" name="Connector 23">
              <a:extLst>
                <a:ext uri="{FF2B5EF4-FFF2-40B4-BE49-F238E27FC236}">
                  <a16:creationId xmlns:a16="http://schemas.microsoft.com/office/drawing/2014/main" id="{9B29D050-4953-E12A-4D21-7A7A094EF86A}"/>
                </a:ext>
              </a:extLst>
            </p:cNvPr>
            <p:cNvCxnSpPr>
              <a:cxnSpLocks/>
              <a:stCxn id="9" idx="2"/>
            </p:cNvCxnSpPr>
            <p:nvPr/>
          </p:nvCxnSpPr>
          <p:spPr>
            <a:xfrm>
              <a:off x="19202400" y="5486400"/>
              <a:ext cx="2450592" cy="1854268"/>
            </a:xfrm>
            <a:prstGeom prst="line">
              <a:avLst/>
            </a:prstGeom>
            <a:ln w="31750">
              <a:solidFill>
                <a:srgbClr val="55286A"/>
              </a:solidFill>
            </a:ln>
          </p:spPr>
          <p:style>
            <a:lnRef idx="2">
              <a:schemeClr val="accent1"/>
            </a:lnRef>
            <a:fillRef idx="0">
              <a:schemeClr val="accent1"/>
            </a:fillRef>
            <a:effectRef idx="1">
              <a:schemeClr val="accent1"/>
            </a:effectRef>
            <a:fontRef idx="minor">
              <a:schemeClr val="tx1"/>
            </a:fontRef>
          </p:style>
        </p:cxnSp>
      </p:grpSp>
      <p:sp>
        <p:nvSpPr>
          <p:cNvPr id="56" name="Title 55">
            <a:extLst>
              <a:ext uri="{FF2B5EF4-FFF2-40B4-BE49-F238E27FC236}">
                <a16:creationId xmlns:a16="http://schemas.microsoft.com/office/drawing/2014/main" id="{57BBC178-C86B-D990-F357-1F4A29112C48}"/>
              </a:ext>
            </a:extLst>
          </p:cNvPr>
          <p:cNvSpPr>
            <a:spLocks noGrp="1"/>
          </p:cNvSpPr>
          <p:nvPr>
            <p:ph type="title"/>
          </p:nvPr>
        </p:nvSpPr>
        <p:spPr>
          <a:xfrm>
            <a:off x="952500" y="444500"/>
            <a:ext cx="22479000" cy="2159000"/>
          </a:xfrm>
        </p:spPr>
        <p:txBody>
          <a:bodyPr>
            <a:normAutofit/>
          </a:bodyPr>
          <a:lstStyle/>
          <a:p>
            <a:r>
              <a:rPr lang="en-US" dirty="0"/>
              <a:t>High Performance Computing (HPC) Systems</a:t>
            </a:r>
          </a:p>
        </p:txBody>
      </p:sp>
      <p:sp>
        <p:nvSpPr>
          <p:cNvPr id="57" name="Text Placeholder 56">
            <a:extLst>
              <a:ext uri="{FF2B5EF4-FFF2-40B4-BE49-F238E27FC236}">
                <a16:creationId xmlns:a16="http://schemas.microsoft.com/office/drawing/2014/main" id="{125ED258-054C-7CAB-EA33-99811E91B227}"/>
              </a:ext>
            </a:extLst>
          </p:cNvPr>
          <p:cNvSpPr>
            <a:spLocks noGrp="1"/>
          </p:cNvSpPr>
          <p:nvPr>
            <p:ph type="body" sz="half" idx="1"/>
          </p:nvPr>
        </p:nvSpPr>
        <p:spPr>
          <a:xfrm>
            <a:off x="719329" y="5973317"/>
            <a:ext cx="7412735" cy="6286500"/>
          </a:xfrm>
        </p:spPr>
        <p:txBody>
          <a:bodyPr>
            <a:normAutofit fontScale="92500" lnSpcReduction="10000"/>
          </a:bodyPr>
          <a:lstStyle/>
          <a:p>
            <a:pPr>
              <a:spcBef>
                <a:spcPts val="0"/>
              </a:spcBef>
            </a:pPr>
            <a:r>
              <a:rPr lang="en-US" dirty="0">
                <a:solidFill>
                  <a:schemeClr val="tx1"/>
                </a:solidFill>
              </a:rPr>
              <a:t>Why use HPC?</a:t>
            </a:r>
          </a:p>
          <a:p>
            <a:pPr lvl="1">
              <a:spcBef>
                <a:spcPts val="0"/>
              </a:spcBef>
            </a:pPr>
            <a:r>
              <a:rPr lang="en-US" dirty="0">
                <a:solidFill>
                  <a:schemeClr val="tx1"/>
                </a:solidFill>
              </a:rPr>
              <a:t>User workstations not powerful enough for many computational biochemistry and drug design calculations</a:t>
            </a:r>
          </a:p>
          <a:p>
            <a:pPr lvl="1">
              <a:spcBef>
                <a:spcPts val="0"/>
              </a:spcBef>
            </a:pPr>
            <a:r>
              <a:rPr lang="en-US" dirty="0">
                <a:solidFill>
                  <a:schemeClr val="tx1"/>
                </a:solidFill>
              </a:rPr>
              <a:t>You may want to use your workstation for something else, move it, or turn it off</a:t>
            </a:r>
          </a:p>
          <a:p>
            <a:pPr>
              <a:spcBef>
                <a:spcPts val="0"/>
              </a:spcBef>
            </a:pPr>
            <a:r>
              <a:rPr lang="en-US" dirty="0">
                <a:solidFill>
                  <a:schemeClr val="tx1"/>
                </a:solidFill>
              </a:rPr>
              <a:t>Typical workflow: open Web portal → connect to login node → submit to </a:t>
            </a:r>
            <a:r>
              <a:rPr lang="en-US" dirty="0" err="1">
                <a:solidFill>
                  <a:schemeClr val="tx1"/>
                </a:solidFill>
              </a:rPr>
              <a:t>Slurm</a:t>
            </a:r>
            <a:r>
              <a:rPr lang="en-US" dirty="0">
                <a:solidFill>
                  <a:schemeClr val="tx1"/>
                </a:solidFill>
              </a:rPr>
              <a:t> on head node → compute on worker nodes → write/read to shared storage → retrieve results</a:t>
            </a:r>
          </a:p>
        </p:txBody>
      </p:sp>
      <p:sp>
        <p:nvSpPr>
          <p:cNvPr id="60" name="TextBox 59">
            <a:extLst>
              <a:ext uri="{FF2B5EF4-FFF2-40B4-BE49-F238E27FC236}">
                <a16:creationId xmlns:a16="http://schemas.microsoft.com/office/drawing/2014/main" id="{831AD1DF-AE96-E804-E1DD-FEF9A4A58973}"/>
              </a:ext>
            </a:extLst>
          </p:cNvPr>
          <p:cNvSpPr txBox="1"/>
          <p:nvPr/>
        </p:nvSpPr>
        <p:spPr>
          <a:xfrm>
            <a:off x="13350240" y="11580475"/>
            <a:ext cx="9418320"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r>
              <a:rPr lang="en-US" sz="2400" dirty="0">
                <a:solidFill>
                  <a:srgbClr val="7E5800"/>
                </a:solidFill>
              </a:rPr>
              <a:t>/scratch is erased at job end.</a:t>
            </a: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7C09AF-9D3D-0921-CCE1-533908CC2B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DE4C7E-63D6-8C7E-8DBA-C5B9545EC958}"/>
              </a:ext>
            </a:extLst>
          </p:cNvPr>
          <p:cNvSpPr>
            <a:spLocks noGrp="1"/>
          </p:cNvSpPr>
          <p:nvPr>
            <p:ph type="title"/>
          </p:nvPr>
        </p:nvSpPr>
        <p:spPr>
          <a:xfrm>
            <a:off x="635000" y="463550"/>
            <a:ext cx="23114000" cy="2540000"/>
          </a:xfrm>
        </p:spPr>
        <p:txBody>
          <a:bodyPr/>
          <a:lstStyle/>
          <a:p>
            <a:r>
              <a:rPr lang="en-US" dirty="0"/>
              <a:t>The SDSC Expanse User Portal</a:t>
            </a:r>
          </a:p>
        </p:txBody>
      </p:sp>
      <p:sp>
        <p:nvSpPr>
          <p:cNvPr id="3" name="Text Placeholder 2">
            <a:extLst>
              <a:ext uri="{FF2B5EF4-FFF2-40B4-BE49-F238E27FC236}">
                <a16:creationId xmlns:a16="http://schemas.microsoft.com/office/drawing/2014/main" id="{00BD0F7B-E327-2248-7D65-3C7D869837E3}"/>
              </a:ext>
            </a:extLst>
          </p:cNvPr>
          <p:cNvSpPr>
            <a:spLocks noGrp="1"/>
          </p:cNvSpPr>
          <p:nvPr>
            <p:ph type="body" idx="1"/>
          </p:nvPr>
        </p:nvSpPr>
        <p:spPr>
          <a:xfrm>
            <a:off x="635000" y="2540000"/>
            <a:ext cx="11435080" cy="10712450"/>
          </a:xfrm>
        </p:spPr>
        <p:txBody>
          <a:bodyPr>
            <a:normAutofit/>
          </a:bodyPr>
          <a:lstStyle/>
          <a:p>
            <a:r>
              <a:rPr lang="en-US" dirty="0"/>
              <a:t>Logging into the </a:t>
            </a:r>
            <a:r>
              <a:rPr lang="en-US" dirty="0">
                <a:hlinkClick r:id="rId3"/>
              </a:rPr>
              <a:t>User Portal</a:t>
            </a:r>
            <a:r>
              <a:rPr lang="en-US" dirty="0"/>
              <a:t> requires an </a:t>
            </a:r>
            <a:r>
              <a:rPr lang="en-US" dirty="0">
                <a:hlinkClick r:id="rId4"/>
              </a:rPr>
              <a:t>ACCESS-CI</a:t>
            </a:r>
            <a:r>
              <a:rPr lang="en-US" dirty="0"/>
              <a:t> </a:t>
            </a:r>
            <a:r>
              <a:rPr lang="en-US" dirty="0">
                <a:hlinkClick r:id="rId5"/>
              </a:rPr>
              <a:t>account</a:t>
            </a:r>
            <a:r>
              <a:rPr lang="en-US" dirty="0"/>
              <a:t> </a:t>
            </a:r>
          </a:p>
          <a:p>
            <a:r>
              <a:rPr lang="en-US" dirty="0"/>
              <a:t>In this class we will mostly</a:t>
            </a:r>
          </a:p>
          <a:p>
            <a:pPr lvl="1"/>
            <a:r>
              <a:rPr lang="en-US" dirty="0"/>
              <a:t>manage jobs (close when done)</a:t>
            </a:r>
          </a:p>
          <a:p>
            <a:pPr lvl="1"/>
            <a:r>
              <a:rPr lang="en-US" dirty="0"/>
              <a:t>upload and download files</a:t>
            </a:r>
          </a:p>
          <a:p>
            <a:pPr lvl="1"/>
            <a:r>
              <a:rPr lang="en-US" dirty="0"/>
              <a:t>access the shell to set up environments, submit jobs, and run interactive </a:t>
            </a:r>
            <a:r>
              <a:rPr lang="en-US" dirty="0" err="1"/>
              <a:t>Jupyter</a:t>
            </a:r>
            <a:r>
              <a:rPr lang="en-US" dirty="0"/>
              <a:t> notebooks</a:t>
            </a:r>
          </a:p>
        </p:txBody>
      </p:sp>
      <p:pic>
        <p:nvPicPr>
          <p:cNvPr id="4" name="Picture 3">
            <a:extLst>
              <a:ext uri="{FF2B5EF4-FFF2-40B4-BE49-F238E27FC236}">
                <a16:creationId xmlns:a16="http://schemas.microsoft.com/office/drawing/2014/main" id="{47CE4A0B-F690-E5BD-09C8-DC05A57C002F}"/>
              </a:ext>
            </a:extLst>
          </p:cNvPr>
          <p:cNvPicPr>
            <a:picLocks noChangeAspect="1"/>
          </p:cNvPicPr>
          <p:nvPr/>
        </p:nvPicPr>
        <p:blipFill>
          <a:blip r:embed="rId6"/>
          <a:stretch>
            <a:fillRect/>
          </a:stretch>
        </p:blipFill>
        <p:spPr>
          <a:xfrm>
            <a:off x="12777138" y="3440430"/>
            <a:ext cx="10971862" cy="8911590"/>
          </a:xfrm>
          <a:prstGeom prst="rect">
            <a:avLst/>
          </a:prstGeom>
        </p:spPr>
      </p:pic>
      <p:cxnSp>
        <p:nvCxnSpPr>
          <p:cNvPr id="8" name="Elbow Connector 7">
            <a:extLst>
              <a:ext uri="{FF2B5EF4-FFF2-40B4-BE49-F238E27FC236}">
                <a16:creationId xmlns:a16="http://schemas.microsoft.com/office/drawing/2014/main" id="{9B24B1FE-2068-FF69-9E39-B33A8EB4240C}"/>
              </a:ext>
            </a:extLst>
          </p:cNvPr>
          <p:cNvCxnSpPr>
            <a:cxnSpLocks/>
          </p:cNvCxnSpPr>
          <p:nvPr/>
        </p:nvCxnSpPr>
        <p:spPr>
          <a:xfrm flipV="1">
            <a:off x="11448288" y="7495254"/>
            <a:ext cx="4539857" cy="748201"/>
          </a:xfrm>
          <a:prstGeom prst="bentConnector3">
            <a:avLst>
              <a:gd name="adj1" fmla="val 88147"/>
            </a:avLst>
          </a:prstGeom>
          <a:ln w="57150">
            <a:tailEnd type="triangle"/>
          </a:ln>
        </p:spPr>
        <p:style>
          <a:lnRef idx="1">
            <a:schemeClr val="accent5"/>
          </a:lnRef>
          <a:fillRef idx="0">
            <a:schemeClr val="accent5"/>
          </a:fillRef>
          <a:effectRef idx="0">
            <a:schemeClr val="accent5"/>
          </a:effectRef>
          <a:fontRef idx="minor">
            <a:schemeClr val="tx1"/>
          </a:fontRef>
        </p:style>
      </p:cxnSp>
      <p:cxnSp>
        <p:nvCxnSpPr>
          <p:cNvPr id="11" name="Elbow Connector 10">
            <a:extLst>
              <a:ext uri="{FF2B5EF4-FFF2-40B4-BE49-F238E27FC236}">
                <a16:creationId xmlns:a16="http://schemas.microsoft.com/office/drawing/2014/main" id="{5CC4B675-A27C-7F11-6378-21D5C046238E}"/>
              </a:ext>
            </a:extLst>
          </p:cNvPr>
          <p:cNvCxnSpPr>
            <a:cxnSpLocks/>
          </p:cNvCxnSpPr>
          <p:nvPr/>
        </p:nvCxnSpPr>
        <p:spPr>
          <a:xfrm flipV="1">
            <a:off x="12192000" y="7495254"/>
            <a:ext cx="9363456" cy="2327619"/>
          </a:xfrm>
          <a:prstGeom prst="bentConnector3">
            <a:avLst>
              <a:gd name="adj1" fmla="val 94685"/>
            </a:avLst>
          </a:prstGeom>
          <a:ln w="57150">
            <a:tailEnd type="triangle"/>
          </a:ln>
        </p:spPr>
        <p:style>
          <a:lnRef idx="1">
            <a:schemeClr val="accent5"/>
          </a:lnRef>
          <a:fillRef idx="0">
            <a:schemeClr val="accent5"/>
          </a:fillRef>
          <a:effectRef idx="0">
            <a:schemeClr val="accent5"/>
          </a:effectRef>
          <a:fontRef idx="minor">
            <a:schemeClr val="tx1"/>
          </a:fontRef>
        </p:style>
      </p:cxnSp>
      <p:cxnSp>
        <p:nvCxnSpPr>
          <p:cNvPr id="25" name="Elbow Connector 24">
            <a:extLst>
              <a:ext uri="{FF2B5EF4-FFF2-40B4-BE49-F238E27FC236}">
                <a16:creationId xmlns:a16="http://schemas.microsoft.com/office/drawing/2014/main" id="{FE436821-A624-5237-838B-02AACEBDC09C}"/>
              </a:ext>
            </a:extLst>
          </p:cNvPr>
          <p:cNvCxnSpPr>
            <a:cxnSpLocks/>
          </p:cNvCxnSpPr>
          <p:nvPr/>
        </p:nvCxnSpPr>
        <p:spPr>
          <a:xfrm>
            <a:off x="11448288" y="7495254"/>
            <a:ext cx="1755094" cy="12700"/>
          </a:xfrm>
          <a:prstGeom prst="bentConnector3">
            <a:avLst/>
          </a:prstGeom>
          <a:ln w="57150">
            <a:tailEnd type="triangle"/>
          </a:ln>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3826696158"/>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553A5A-FFBB-487A-CE3D-3B60CA404C48}"/>
              </a:ext>
            </a:extLst>
          </p:cNvPr>
          <p:cNvSpPr>
            <a:spLocks noGrp="1"/>
          </p:cNvSpPr>
          <p:nvPr>
            <p:ph type="title"/>
          </p:nvPr>
        </p:nvSpPr>
        <p:spPr/>
        <p:txBody>
          <a:bodyPr/>
          <a:lstStyle/>
          <a:p>
            <a:r>
              <a:rPr lang="en-US" dirty="0"/>
              <a:t>ACCESS Allocations</a:t>
            </a:r>
          </a:p>
        </p:txBody>
      </p:sp>
      <p:sp>
        <p:nvSpPr>
          <p:cNvPr id="3" name="Text Placeholder 2">
            <a:extLst>
              <a:ext uri="{FF2B5EF4-FFF2-40B4-BE49-F238E27FC236}">
                <a16:creationId xmlns:a16="http://schemas.microsoft.com/office/drawing/2014/main" id="{84BCA214-3EC1-AD7A-44A5-E5CEADDD3491}"/>
              </a:ext>
            </a:extLst>
          </p:cNvPr>
          <p:cNvSpPr>
            <a:spLocks noGrp="1"/>
          </p:cNvSpPr>
          <p:nvPr>
            <p:ph type="body" idx="1"/>
          </p:nvPr>
        </p:nvSpPr>
        <p:spPr>
          <a:xfrm>
            <a:off x="635000" y="2540000"/>
            <a:ext cx="11232745" cy="10160000"/>
          </a:xfrm>
        </p:spPr>
        <p:txBody>
          <a:bodyPr>
            <a:normAutofit/>
          </a:bodyPr>
          <a:lstStyle/>
          <a:p>
            <a:r>
              <a:rPr lang="en-US" dirty="0"/>
              <a:t>System for distributing ACCESS computing resources</a:t>
            </a:r>
          </a:p>
          <a:p>
            <a:r>
              <a:rPr lang="en-US" dirty="0"/>
              <a:t>Class (not individual students) has one allocation </a:t>
            </a:r>
          </a:p>
          <a:p>
            <a:r>
              <a:rPr lang="en-US" dirty="0"/>
              <a:t>Graduate students / PhD scientists can be PIs on additional ACCESS allocations</a:t>
            </a:r>
          </a:p>
          <a:p>
            <a:r>
              <a:rPr lang="en-US" dirty="0"/>
              <a:t>Allocation in ACCESS Credits that can be exchanged for resources, mostly CPU, GPU, and Storage </a:t>
            </a:r>
          </a:p>
          <a:p>
            <a:r>
              <a:rPr lang="en-US" dirty="0"/>
              <a:t>c.f. </a:t>
            </a:r>
            <a:r>
              <a:rPr lang="en-US" dirty="0">
                <a:hlinkClick r:id="rId3"/>
              </a:rPr>
              <a:t>https://allocations.access-ci.org/</a:t>
            </a:r>
            <a:endParaRPr lang="en-US" dirty="0"/>
          </a:p>
        </p:txBody>
      </p:sp>
      <p:pic>
        <p:nvPicPr>
          <p:cNvPr id="4" name="Picture 3">
            <a:extLst>
              <a:ext uri="{FF2B5EF4-FFF2-40B4-BE49-F238E27FC236}">
                <a16:creationId xmlns:a16="http://schemas.microsoft.com/office/drawing/2014/main" id="{D6575354-188C-D01B-0E7E-FEACDC254B8D}"/>
              </a:ext>
            </a:extLst>
          </p:cNvPr>
          <p:cNvPicPr>
            <a:picLocks noChangeAspect="1"/>
          </p:cNvPicPr>
          <p:nvPr/>
        </p:nvPicPr>
        <p:blipFill>
          <a:blip r:embed="rId4"/>
          <a:stretch>
            <a:fillRect/>
          </a:stretch>
        </p:blipFill>
        <p:spPr>
          <a:xfrm>
            <a:off x="12192000" y="4422572"/>
            <a:ext cx="11007582" cy="4870855"/>
          </a:xfrm>
          <a:prstGeom prst="rect">
            <a:avLst/>
          </a:prstGeom>
        </p:spPr>
      </p:pic>
    </p:spTree>
    <p:extLst>
      <p:ext uri="{BB962C8B-B14F-4D97-AF65-F5344CB8AC3E}">
        <p14:creationId xmlns:p14="http://schemas.microsoft.com/office/powerpoint/2010/main" val="3649337497"/>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BE34A-D1CE-809C-8CA0-A5915A09901C}"/>
            </a:ext>
          </a:extLst>
        </p:cNvPr>
        <p:cNvGrpSpPr/>
        <p:nvPr/>
      </p:nvGrpSpPr>
      <p:grpSpPr>
        <a:xfrm>
          <a:off x="0" y="0"/>
          <a:ext cx="0" cy="0"/>
          <a:chOff x="0" y="0"/>
          <a:chExt cx="0" cy="0"/>
        </a:xfrm>
      </p:grpSpPr>
      <p:sp>
        <p:nvSpPr>
          <p:cNvPr id="188" name="Introductions">
            <a:extLst>
              <a:ext uri="{FF2B5EF4-FFF2-40B4-BE49-F238E27FC236}">
                <a16:creationId xmlns:a16="http://schemas.microsoft.com/office/drawing/2014/main" id="{43FC89BC-AC11-8031-FCA5-2AF438259BC4}"/>
              </a:ext>
            </a:extLst>
          </p:cNvPr>
          <p:cNvSpPr txBox="1">
            <a:spLocks noGrp="1"/>
          </p:cNvSpPr>
          <p:nvPr>
            <p:ph type="title"/>
          </p:nvPr>
        </p:nvSpPr>
        <p:spPr>
          <a:prstGeom prst="rect">
            <a:avLst/>
          </a:prstGeom>
        </p:spPr>
        <p:txBody>
          <a:bodyPr/>
          <a:lstStyle/>
          <a:p>
            <a:r>
              <a:rPr lang="en-US" dirty="0"/>
              <a:t>Basic Linux</a:t>
            </a:r>
            <a:endParaRPr dirty="0"/>
          </a:p>
        </p:txBody>
      </p:sp>
    </p:spTree>
    <p:extLst>
      <p:ext uri="{BB962C8B-B14F-4D97-AF65-F5344CB8AC3E}">
        <p14:creationId xmlns:p14="http://schemas.microsoft.com/office/powerpoint/2010/main" val="1737163178"/>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1D178-F7C3-10E8-E1C7-DE4FB5DAFBE1}"/>
              </a:ext>
            </a:extLst>
          </p:cNvPr>
          <p:cNvSpPr>
            <a:spLocks noGrp="1"/>
          </p:cNvSpPr>
          <p:nvPr>
            <p:ph type="title"/>
          </p:nvPr>
        </p:nvSpPr>
        <p:spPr/>
        <p:txBody>
          <a:bodyPr/>
          <a:lstStyle/>
          <a:p>
            <a:r>
              <a:rPr lang="en-US" dirty="0"/>
              <a:t>Why Linux?</a:t>
            </a:r>
          </a:p>
        </p:txBody>
      </p:sp>
      <p:sp>
        <p:nvSpPr>
          <p:cNvPr id="3" name="Text Placeholder 2">
            <a:extLst>
              <a:ext uri="{FF2B5EF4-FFF2-40B4-BE49-F238E27FC236}">
                <a16:creationId xmlns:a16="http://schemas.microsoft.com/office/drawing/2014/main" id="{AF8A77C3-4E6A-DE3E-FFC0-D914907DF766}"/>
              </a:ext>
            </a:extLst>
          </p:cNvPr>
          <p:cNvSpPr>
            <a:spLocks noGrp="1"/>
          </p:cNvSpPr>
          <p:nvPr>
            <p:ph type="body" idx="1"/>
          </p:nvPr>
        </p:nvSpPr>
        <p:spPr/>
        <p:txBody>
          <a:bodyPr>
            <a:normAutofit/>
          </a:bodyPr>
          <a:lstStyle/>
          <a:p>
            <a:r>
              <a:rPr lang="en-US" dirty="0"/>
              <a:t>Linux is a practical “work environment” for doing computational science — especially when you move beyond small, local runs and start using HPC</a:t>
            </a:r>
          </a:p>
          <a:p>
            <a:pPr lvl="1"/>
            <a:r>
              <a:rPr lang="en-US" dirty="0"/>
              <a:t>Open source + customizability for specialized hardware and workloads</a:t>
            </a:r>
          </a:p>
          <a:p>
            <a:pPr lvl="1"/>
            <a:r>
              <a:rPr lang="en-US" dirty="0"/>
              <a:t>Cost-effective clustering with commodity nodes</a:t>
            </a:r>
          </a:p>
          <a:p>
            <a:pPr lvl="1"/>
            <a:r>
              <a:rPr lang="en-US" dirty="0"/>
              <a:t>Strong job scheduling + cluster management ecosystem</a:t>
            </a:r>
          </a:p>
          <a:p>
            <a:pPr lvl="1"/>
            <a:r>
              <a:rPr lang="en-US" dirty="0"/>
              <a:t>First-class support for parallel computing standards (MPI)</a:t>
            </a:r>
          </a:p>
          <a:p>
            <a:pPr lvl="1"/>
            <a:r>
              <a:rPr lang="en-US" dirty="0"/>
              <a:t>Operational reliability for long-running, multi-user systems</a:t>
            </a:r>
          </a:p>
          <a:p>
            <a:r>
              <a:rPr lang="en-US" dirty="0"/>
              <a:t>We will use the Linux terminal to</a:t>
            </a:r>
          </a:p>
          <a:p>
            <a:pPr lvl="1"/>
            <a:r>
              <a:rPr lang="en-US" dirty="0"/>
              <a:t>Manage files and environments on ACCESS-CI HPC resources</a:t>
            </a:r>
          </a:p>
          <a:p>
            <a:pPr lvl="1"/>
            <a:r>
              <a:rPr lang="en-US" dirty="0"/>
              <a:t>Start up interactive course notebooks</a:t>
            </a:r>
          </a:p>
          <a:p>
            <a:pPr lvl="1"/>
            <a:r>
              <a:rPr lang="en-US" dirty="0"/>
              <a:t>Submit &amp; monitor longer calculations as batch jobs</a:t>
            </a:r>
          </a:p>
        </p:txBody>
      </p:sp>
    </p:spTree>
    <p:extLst>
      <p:ext uri="{BB962C8B-B14F-4D97-AF65-F5344CB8AC3E}">
        <p14:creationId xmlns:p14="http://schemas.microsoft.com/office/powerpoint/2010/main" val="890753422"/>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6DD9F-217A-B0EE-93FA-1EA986B512AA}"/>
              </a:ext>
            </a:extLst>
          </p:cNvPr>
          <p:cNvSpPr>
            <a:spLocks noGrp="1"/>
          </p:cNvSpPr>
          <p:nvPr>
            <p:ph type="title"/>
          </p:nvPr>
        </p:nvSpPr>
        <p:spPr>
          <a:xfrm>
            <a:off x="1225294" y="1371600"/>
            <a:ext cx="13716000" cy="2223064"/>
          </a:xfrm>
        </p:spPr>
        <p:txBody>
          <a:bodyPr anchor="b">
            <a:normAutofit/>
          </a:bodyPr>
          <a:lstStyle/>
          <a:p>
            <a:r>
              <a:rPr lang="en-US"/>
              <a:t>The Shell (bash)</a:t>
            </a:r>
          </a:p>
        </p:txBody>
      </p:sp>
      <p:sp>
        <p:nvSpPr>
          <p:cNvPr id="4" name="Content Placeholder 3">
            <a:extLst>
              <a:ext uri="{FF2B5EF4-FFF2-40B4-BE49-F238E27FC236}">
                <a16:creationId xmlns:a16="http://schemas.microsoft.com/office/drawing/2014/main" id="{99FC6429-8945-6911-5091-834CB3B9DEBA}"/>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225294" y="3931920"/>
            <a:ext cx="13716000" cy="8400396"/>
          </a:xfrm>
        </p:spPr>
        <p:txBody>
          <a:bodyPr>
            <a:normAutofit/>
          </a:bodyPr>
          <a:lstStyle/>
          <a:p>
            <a:pPr marL="0" indent="0">
              <a:spcBef>
                <a:spcPts val="5000"/>
              </a:spcBef>
              <a:buNone/>
            </a:pPr>
            <a:r>
              <a:rPr lang="en-US" b="1" dirty="0"/>
              <a:t>Core Shell Commands</a:t>
            </a:r>
          </a:p>
          <a:p>
            <a:pPr marL="0" lvl="1" indent="0">
              <a:buNone/>
            </a:pPr>
            <a:r>
              <a:rPr dirty="0"/>
              <a:t>Commands like '</a:t>
            </a:r>
            <a:r>
              <a:rPr dirty="0" err="1"/>
              <a:t>pwd</a:t>
            </a:r>
            <a:r>
              <a:rPr dirty="0"/>
              <a:t>', 'ls', and 'cd' enable navigation and file listing in the shell environment.</a:t>
            </a:r>
            <a:endParaRPr lang="en-US" dirty="0"/>
          </a:p>
          <a:p>
            <a:pPr marL="0" indent="0">
              <a:spcBef>
                <a:spcPts val="5000"/>
              </a:spcBef>
              <a:buNone/>
            </a:pPr>
            <a:r>
              <a:rPr lang="en-US" b="1" dirty="0"/>
              <a:t>File Operations</a:t>
            </a:r>
          </a:p>
          <a:p>
            <a:pPr marL="0" lvl="1" indent="0">
              <a:buNone/>
            </a:pPr>
            <a:r>
              <a:rPr dirty="0"/>
              <a:t>'</a:t>
            </a:r>
            <a:r>
              <a:rPr dirty="0" err="1"/>
              <a:t>mkdir</a:t>
            </a:r>
            <a:r>
              <a:rPr dirty="0"/>
              <a:t>', 'cp', 'mv', and 'rm' manage directories and files</a:t>
            </a:r>
            <a:r>
              <a:rPr lang="en-US" dirty="0"/>
              <a:t>.</a:t>
            </a:r>
          </a:p>
          <a:p>
            <a:pPr marL="0" lvl="1" indent="0">
              <a:buNone/>
            </a:pPr>
            <a:endParaRPr lang="en-US" dirty="0"/>
          </a:p>
          <a:p>
            <a:pPr marL="0" lvl="1" indent="0">
              <a:buNone/>
            </a:pPr>
            <a:r>
              <a:rPr lang="en-US" i="1" dirty="0"/>
              <a:t>We will practice basic commands and file operations in Exercise 0.</a:t>
            </a:r>
          </a:p>
          <a:p>
            <a:pPr marL="0" lvl="1" indent="0">
              <a:buNone/>
            </a:pPr>
            <a:endParaRPr lang="en-US" b="1" i="1" dirty="0"/>
          </a:p>
          <a:p>
            <a:pPr marL="0" lvl="1" indent="0">
              <a:buNone/>
            </a:pPr>
            <a:r>
              <a:rPr lang="en-US" b="1" dirty="0"/>
              <a:t>Advanced Shell Features (Optional)</a:t>
            </a:r>
          </a:p>
          <a:p>
            <a:pPr marL="0" lvl="1" indent="0">
              <a:buNone/>
            </a:pPr>
            <a:r>
              <a:rPr dirty="0"/>
              <a:t>Redirection and piping allow chaining commands and controlling input/output streams efficiently.</a:t>
            </a:r>
            <a:endParaRPr lang="en-US" dirty="0"/>
          </a:p>
          <a:p>
            <a:pPr marL="0" indent="0">
              <a:spcBef>
                <a:spcPts val="5000"/>
              </a:spcBef>
              <a:buNone/>
            </a:pPr>
            <a:r>
              <a:rPr lang="en-US" b="1" dirty="0"/>
              <a:t>Help and Automation</a:t>
            </a:r>
          </a:p>
          <a:p>
            <a:pPr marL="0" lvl="1" indent="0">
              <a:buNone/>
            </a:pPr>
            <a:r>
              <a:rPr dirty="0"/>
              <a:t>Commands like 'man' and '--help' assist users; shell scripts automate batch jobs on HPC clusters.</a:t>
            </a:r>
            <a:endParaRPr lang="en-US" dirty="0"/>
          </a:p>
        </p:txBody>
      </p:sp>
      <p:pic>
        <p:nvPicPr>
          <p:cNvPr id="5" name="Content Placeholder 4" descr="DNA code on large LED screen">
            <a:extLst>
              <a:ext uri="{FF2B5EF4-FFF2-40B4-BE49-F238E27FC236}">
                <a16:creationId xmlns:a16="http://schemas.microsoft.com/office/drawing/2014/main" id="{608EA829-EEEF-41F5-B77E-E52544BBCFC3}"/>
              </a:ext>
            </a:extLst>
          </p:cNvPr>
          <p:cNvPicPr>
            <a:picLocks noGrp="1" noChangeAspect="1"/>
          </p:cNvPicPr>
          <p:nvPr>
            <p:ph type="pic" sz="quarter" idx="13"/>
          </p:nvPr>
        </p:nvPicPr>
        <p:blipFill>
          <a:blip r:embed="rId3"/>
          <a:srcRect l="7520" r="52571" b="-1"/>
          <a:stretch>
            <a:fillRect/>
          </a:stretch>
        </p:blipFill>
        <p:spPr>
          <a:xfrm>
            <a:off x="16183465" y="20"/>
            <a:ext cx="8200534" cy="13715980"/>
          </a:xfrm>
        </p:spPr>
      </p:pic>
    </p:spTree>
    <p:extLst>
      <p:ext uri="{BB962C8B-B14F-4D97-AF65-F5344CB8AC3E}">
        <p14:creationId xmlns:p14="http://schemas.microsoft.com/office/powerpoint/2010/main" val="39072338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5400A-7B32-515E-88D7-CB62A10EC5D4}"/>
              </a:ext>
            </a:extLst>
          </p:cNvPr>
          <p:cNvSpPr>
            <a:spLocks noGrp="1"/>
          </p:cNvSpPr>
          <p:nvPr>
            <p:ph type="title"/>
          </p:nvPr>
        </p:nvSpPr>
        <p:spPr>
          <a:xfrm>
            <a:off x="1225294" y="1371600"/>
            <a:ext cx="13716000" cy="2223064"/>
          </a:xfrm>
        </p:spPr>
        <p:txBody>
          <a:bodyPr anchor="b">
            <a:normAutofit/>
          </a:bodyPr>
          <a:lstStyle/>
          <a:p>
            <a:r>
              <a:rPr lang="en-US" sz="8400"/>
              <a:t>Filesystems and Paths</a:t>
            </a:r>
          </a:p>
        </p:txBody>
      </p:sp>
      <p:sp>
        <p:nvSpPr>
          <p:cNvPr id="4" name="Content Placeholder 3">
            <a:extLst>
              <a:ext uri="{FF2B5EF4-FFF2-40B4-BE49-F238E27FC236}">
                <a16:creationId xmlns:a16="http://schemas.microsoft.com/office/drawing/2014/main" id="{0162226D-CCB7-64BA-B41E-185EE273B541}"/>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225294" y="3931920"/>
            <a:ext cx="13716000" cy="8400396"/>
          </a:xfrm>
        </p:spPr>
        <p:txBody>
          <a:bodyPr>
            <a:normAutofit/>
          </a:bodyPr>
          <a:lstStyle/>
          <a:p>
            <a:pPr marL="0" indent="0">
              <a:spcBef>
                <a:spcPts val="5000"/>
              </a:spcBef>
              <a:buNone/>
            </a:pPr>
            <a:r>
              <a:rPr lang="en-US" b="1" dirty="0"/>
              <a:t>Hierarchical Directory Structure</a:t>
            </a:r>
          </a:p>
          <a:p>
            <a:pPr marL="0" lvl="1" indent="0">
              <a:buNone/>
            </a:pPr>
            <a:r>
              <a:rPr dirty="0"/>
              <a:t>Linux uses a root-based hierarchical directory tree to organize files with absolute and relative paths.</a:t>
            </a:r>
            <a:endParaRPr lang="en-US" dirty="0"/>
          </a:p>
          <a:p>
            <a:pPr marL="0" indent="0">
              <a:spcBef>
                <a:spcPts val="5000"/>
              </a:spcBef>
              <a:buNone/>
            </a:pPr>
            <a:r>
              <a:rPr lang="en-US" b="1" dirty="0"/>
              <a:t>Storage Areas in HPC</a:t>
            </a:r>
          </a:p>
          <a:p>
            <a:pPr marL="0" lvl="1" indent="0">
              <a:buNone/>
            </a:pPr>
            <a:r>
              <a:rPr dirty="0"/>
              <a:t>HPC environments offer home directories, project spaces, and scratch spaces for different data storage needs.</a:t>
            </a:r>
            <a:endParaRPr lang="en-US" dirty="0"/>
          </a:p>
          <a:p>
            <a:pPr marL="0" indent="0">
              <a:spcBef>
                <a:spcPts val="5000"/>
              </a:spcBef>
              <a:buNone/>
            </a:pPr>
            <a:r>
              <a:rPr lang="en-US" b="1" dirty="0"/>
              <a:t>Disk Space and Usage Commands</a:t>
            </a:r>
          </a:p>
          <a:p>
            <a:pPr marL="0" lvl="1" indent="0">
              <a:buNone/>
            </a:pPr>
            <a:r>
              <a:rPr dirty="0"/>
              <a:t>Commands like '</a:t>
            </a:r>
            <a:r>
              <a:rPr dirty="0" err="1"/>
              <a:t>df</a:t>
            </a:r>
            <a:r>
              <a:rPr dirty="0"/>
              <a:t> -h' and 'du -</a:t>
            </a:r>
            <a:r>
              <a:rPr dirty="0" err="1"/>
              <a:t>sh</a:t>
            </a:r>
            <a:r>
              <a:rPr dirty="0"/>
              <a:t> *' help users monitor disk space and directory sizes efficiently.</a:t>
            </a:r>
            <a:endParaRPr lang="en-US" dirty="0"/>
          </a:p>
          <a:p>
            <a:pPr marL="0" indent="0">
              <a:spcBef>
                <a:spcPts val="5000"/>
              </a:spcBef>
              <a:buNone/>
            </a:pPr>
            <a:r>
              <a:rPr lang="en-US" b="1" dirty="0"/>
              <a:t>File Permissions and Data Management</a:t>
            </a:r>
          </a:p>
          <a:p>
            <a:pPr marL="0" lvl="1" indent="0">
              <a:buNone/>
            </a:pPr>
            <a:r>
              <a:rPr dirty="0"/>
              <a:t>Understanding permissions and data locations is vital to avoid data loss and maintain storage policy compliance.</a:t>
            </a:r>
            <a:endParaRPr lang="en-US" dirty="0"/>
          </a:p>
        </p:txBody>
      </p:sp>
      <p:pic>
        <p:nvPicPr>
          <p:cNvPr id="5" name="Content Placeholder 4" descr="Files on digital background">
            <a:extLst>
              <a:ext uri="{FF2B5EF4-FFF2-40B4-BE49-F238E27FC236}">
                <a16:creationId xmlns:a16="http://schemas.microsoft.com/office/drawing/2014/main" id="{A7A8267A-7CA1-4187-B96C-42AF20554EE0}"/>
              </a:ext>
            </a:extLst>
          </p:cNvPr>
          <p:cNvPicPr>
            <a:picLocks noGrp="1" noChangeAspect="1"/>
          </p:cNvPicPr>
          <p:nvPr>
            <p:ph type="pic" sz="quarter" idx="13"/>
          </p:nvPr>
        </p:nvPicPr>
        <p:blipFill>
          <a:blip r:embed="rId3"/>
          <a:srcRect l="30671" r="29420" b="-1"/>
          <a:stretch>
            <a:fillRect/>
          </a:stretch>
        </p:blipFill>
        <p:spPr>
          <a:xfrm>
            <a:off x="16183465" y="20"/>
            <a:ext cx="8200534" cy="13715980"/>
          </a:xfrm>
        </p:spPr>
      </p:pic>
    </p:spTree>
    <p:extLst>
      <p:ext uri="{BB962C8B-B14F-4D97-AF65-F5344CB8AC3E}">
        <p14:creationId xmlns:p14="http://schemas.microsoft.com/office/powerpoint/2010/main" val="346818013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5000" y="635000"/>
            <a:ext cx="23114000" cy="2540000"/>
          </a:xfrm>
        </p:spPr>
        <p:txBody>
          <a:bodyPr/>
          <a:lstStyle/>
          <a:p>
            <a:r>
              <a:rPr lang="en-US"/>
              <a:t>Absolute vs. Relative Paths</a:t>
            </a:r>
          </a:p>
        </p:txBody>
      </p:sp>
      <p:sp>
        <p:nvSpPr>
          <p:cNvPr id="3" name="Content Placeholder 2"/>
          <p:cNvSpPr>
            <a:spLocks noGrp="1"/>
          </p:cNvSpPr>
          <p:nvPr>
            <p:ph sz="half" idx="1"/>
          </p:nvPr>
        </p:nvSpPr>
        <p:spPr>
          <a:xfrm>
            <a:off x="1219200" y="3200401"/>
            <a:ext cx="10769600" cy="9051926"/>
          </a:xfrm>
        </p:spPr>
        <p:txBody>
          <a:bodyPr wrap="square">
            <a:normAutofit fontScale="92500"/>
          </a:bodyPr>
          <a:lstStyle/>
          <a:p>
            <a:pPr marL="0" indent="0">
              <a:buNone/>
            </a:pPr>
            <a:r>
              <a:rPr lang="en-US" b="1" dirty="0"/>
              <a:t>Absolute path = exact address</a:t>
            </a:r>
          </a:p>
          <a:p>
            <a:r>
              <a:rPr lang="en-US" dirty="0"/>
              <a:t>Starts at the root: /</a:t>
            </a:r>
          </a:p>
          <a:p>
            <a:r>
              <a:rPr lang="en-US" dirty="0"/>
              <a:t>Works from anywhere (independent of your current folder)</a:t>
            </a:r>
          </a:p>
          <a:p>
            <a:r>
              <a:rPr lang="en-US" dirty="0"/>
              <a:t>Example: /home/$USER/chem456/project1/data/</a:t>
            </a:r>
            <a:r>
              <a:rPr lang="en-US" dirty="0" err="1"/>
              <a:t>input.csv</a:t>
            </a:r>
            <a:endParaRPr lang="en-US" dirty="0"/>
          </a:p>
          <a:p>
            <a:r>
              <a:rPr lang="en-US" dirty="0"/>
              <a:t>Analogy: an exact street address</a:t>
            </a:r>
          </a:p>
          <a:p>
            <a:r>
              <a:rPr lang="en-US" dirty="0"/>
              <a:t>Shortcut: ~/ is your home directory</a:t>
            </a:r>
          </a:p>
        </p:txBody>
      </p:sp>
      <p:sp>
        <p:nvSpPr>
          <p:cNvPr id="4" name="Content Placeholder 3"/>
          <p:cNvSpPr>
            <a:spLocks noGrp="1"/>
          </p:cNvSpPr>
          <p:nvPr>
            <p:ph sz="half" idx="2"/>
          </p:nvPr>
        </p:nvSpPr>
        <p:spPr>
          <a:xfrm>
            <a:off x="12395200" y="3200401"/>
            <a:ext cx="10769600" cy="9051926"/>
          </a:xfrm>
        </p:spPr>
        <p:txBody>
          <a:bodyPr wrap="square">
            <a:normAutofit fontScale="92500"/>
          </a:bodyPr>
          <a:lstStyle/>
          <a:p>
            <a:pPr marL="0" indent="0">
              <a:buNone/>
            </a:pPr>
            <a:r>
              <a:rPr lang="en-US" b="1" dirty="0"/>
              <a:t>Relative path = directions from here</a:t>
            </a:r>
          </a:p>
          <a:p>
            <a:r>
              <a:rPr lang="en-US" dirty="0"/>
              <a:t>Starts from your current directory (</a:t>
            </a:r>
            <a:r>
              <a:rPr lang="en-US" dirty="0" err="1"/>
              <a:t>pwd</a:t>
            </a:r>
            <a:r>
              <a:rPr lang="en-US" dirty="0"/>
              <a:t>)</a:t>
            </a:r>
          </a:p>
          <a:p>
            <a:r>
              <a:rPr lang="en-US" dirty="0"/>
              <a:t>Shorter, but depends on where you are</a:t>
            </a:r>
          </a:p>
          <a:p>
            <a:r>
              <a:rPr lang="en-US" dirty="0"/>
              <a:t>Example: data/</a:t>
            </a:r>
            <a:r>
              <a:rPr lang="en-US" dirty="0" err="1"/>
              <a:t>input.csv</a:t>
            </a:r>
            <a:r>
              <a:rPr lang="en-US" dirty="0"/>
              <a:t> (when you’re in ~/chem456/project1)</a:t>
            </a:r>
          </a:p>
          <a:p>
            <a:r>
              <a:rPr lang="en-US" dirty="0"/>
              <a:t>Analogy: “across the street from Pritzker Science Center”</a:t>
            </a:r>
          </a:p>
          <a:p>
            <a:r>
              <a:rPr lang="en-US" dirty="0"/>
              <a:t>Shortcut: ../ is the parent directory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450EC-251C-178E-6753-3F19B31A2F0C}"/>
              </a:ext>
            </a:extLst>
          </p:cNvPr>
          <p:cNvSpPr>
            <a:spLocks noGrp="1"/>
          </p:cNvSpPr>
          <p:nvPr>
            <p:ph type="title"/>
          </p:nvPr>
        </p:nvSpPr>
        <p:spPr>
          <a:xfrm>
            <a:off x="1219199" y="1371600"/>
            <a:ext cx="9129526" cy="2853596"/>
          </a:xfrm>
        </p:spPr>
        <p:txBody>
          <a:bodyPr anchor="b">
            <a:normAutofit/>
          </a:bodyPr>
          <a:lstStyle/>
          <a:p>
            <a:r>
              <a:rPr lang="en-US"/>
              <a:t>Permissions</a:t>
            </a:r>
          </a:p>
        </p:txBody>
      </p:sp>
      <p:pic>
        <p:nvPicPr>
          <p:cNvPr id="5" name="Content Placeholder 4" descr="&quot;Set of icons for organisation.  Includes documents, search icons, folders, etc  Hi Res raster file.Note that all images are my own design.&quot;">
            <a:extLst>
              <a:ext uri="{FF2B5EF4-FFF2-40B4-BE49-F238E27FC236}">
                <a16:creationId xmlns:a16="http://schemas.microsoft.com/office/drawing/2014/main" id="{2A988007-AB4A-42DA-B66C-D9BCF902B46A}"/>
              </a:ext>
            </a:extLst>
          </p:cNvPr>
          <p:cNvPicPr>
            <a:picLocks noGrp="1" noChangeAspect="1"/>
          </p:cNvPicPr>
          <p:nvPr>
            <p:ph type="pic" sz="quarter" idx="15"/>
          </p:nvPr>
        </p:nvPicPr>
        <p:blipFill>
          <a:blip r:embed="rId3"/>
          <a:srcRect t="348" r="1" b="19986"/>
          <a:stretch>
            <a:fillRect/>
          </a:stretch>
        </p:blipFill>
        <p:spPr>
          <a:xfrm>
            <a:off x="1219199" y="5029200"/>
            <a:ext cx="9129526" cy="7273196"/>
          </a:xfrm>
        </p:spPr>
      </p:pic>
      <p:sp>
        <p:nvSpPr>
          <p:cNvPr id="4" name="Content Placeholder 3">
            <a:extLst>
              <a:ext uri="{FF2B5EF4-FFF2-40B4-BE49-F238E27FC236}">
                <a16:creationId xmlns:a16="http://schemas.microsoft.com/office/drawing/2014/main" id="{BEB0BC29-23AA-34BE-0CE3-3E35B3F0147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1580121" y="1371600"/>
            <a:ext cx="11584682" cy="10930796"/>
          </a:xfrm>
        </p:spPr>
        <p:txBody>
          <a:bodyPr>
            <a:normAutofit/>
          </a:bodyPr>
          <a:lstStyle/>
          <a:p>
            <a:pPr marL="0" indent="0">
              <a:spcBef>
                <a:spcPts val="5000"/>
              </a:spcBef>
              <a:buNone/>
            </a:pPr>
            <a:r>
              <a:rPr lang="en-US" b="1"/>
              <a:t>Linux File Permissions</a:t>
            </a:r>
          </a:p>
          <a:p>
            <a:pPr marL="0" lvl="1" indent="0">
              <a:buNone/>
            </a:pPr>
            <a:r>
              <a:t>Permissions indicate who can read, write, or execute files, shown as symbols like '-rwxr-x---'.</a:t>
            </a:r>
            <a:endParaRPr lang="en-US"/>
          </a:p>
          <a:p>
            <a:pPr marL="0" indent="0">
              <a:spcBef>
                <a:spcPts val="5000"/>
              </a:spcBef>
              <a:buNone/>
            </a:pPr>
            <a:r>
              <a:rPr lang="en-US" b="1"/>
              <a:t>Permission Modification</a:t>
            </a:r>
          </a:p>
          <a:p>
            <a:pPr marL="0" lvl="1" indent="0">
              <a:buNone/>
            </a:pPr>
            <a:r>
              <a:t>Use commands like 'chmod +x script.sh' to change file permissions and make scripts executable.</a:t>
            </a:r>
            <a:endParaRPr lang="en-US"/>
          </a:p>
          <a:p>
            <a:pPr marL="0" indent="0">
              <a:spcBef>
                <a:spcPts val="5000"/>
              </a:spcBef>
              <a:buNone/>
            </a:pPr>
            <a:r>
              <a:rPr lang="en-US" b="1"/>
              <a:t>Security and Collaboration</a:t>
            </a:r>
          </a:p>
          <a:p>
            <a:pPr marL="0" lvl="1" indent="0">
              <a:buNone/>
            </a:pPr>
            <a:r>
              <a:t>Proper permission management prevents unauthorized access and supports group-based collaboration in HPC environments.</a:t>
            </a:r>
            <a:endParaRPr lang="en-US"/>
          </a:p>
          <a:p>
            <a:pPr marL="0" indent="0">
              <a:spcBef>
                <a:spcPts val="5000"/>
              </a:spcBef>
              <a:buNone/>
            </a:pPr>
            <a:r>
              <a:rPr lang="en-US" b="1"/>
              <a:t>Common Permission Errors</a:t>
            </a:r>
          </a:p>
          <a:p>
            <a:pPr marL="0" lvl="1" indent="0">
              <a:buNone/>
            </a:pPr>
            <a:r>
              <a:t>Misconfigured permissions can cause errors like 'Permission denied,' disrupting workflows and operations.</a:t>
            </a:r>
            <a:endParaRPr lang="en-US"/>
          </a:p>
        </p:txBody>
      </p:sp>
    </p:spTree>
    <p:extLst>
      <p:ext uri="{BB962C8B-B14F-4D97-AF65-F5344CB8AC3E}">
        <p14:creationId xmlns:p14="http://schemas.microsoft.com/office/powerpoint/2010/main" val="19047307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05D1D9-FE94-AF26-C0C7-ED52E13610CE}"/>
            </a:ext>
          </a:extLst>
        </p:cNvPr>
        <p:cNvGrpSpPr/>
        <p:nvPr/>
      </p:nvGrpSpPr>
      <p:grpSpPr>
        <a:xfrm>
          <a:off x="0" y="0"/>
          <a:ext cx="0" cy="0"/>
          <a:chOff x="0" y="0"/>
          <a:chExt cx="0" cy="0"/>
        </a:xfrm>
      </p:grpSpPr>
      <p:sp>
        <p:nvSpPr>
          <p:cNvPr id="188" name="Introductions">
            <a:extLst>
              <a:ext uri="{FF2B5EF4-FFF2-40B4-BE49-F238E27FC236}">
                <a16:creationId xmlns:a16="http://schemas.microsoft.com/office/drawing/2014/main" id="{66CE4917-366B-5DDD-0A5F-CB1A718881AD}"/>
              </a:ext>
            </a:extLst>
          </p:cNvPr>
          <p:cNvSpPr txBox="1">
            <a:spLocks noGrp="1"/>
          </p:cNvSpPr>
          <p:nvPr>
            <p:ph type="title"/>
          </p:nvPr>
        </p:nvSpPr>
        <p:spPr>
          <a:xfrm>
            <a:off x="4833937" y="4536281"/>
            <a:ext cx="14716126" cy="4643438"/>
          </a:xfrm>
        </p:spPr>
        <p:txBody>
          <a:bodyPr>
            <a:normAutofit fontScale="90000"/>
          </a:bodyPr>
          <a:lstStyle/>
          <a:p>
            <a:r>
              <a:rPr lang="en-US" dirty="0">
                <a:hlinkClick r:id="rId2"/>
              </a:rPr>
              <a:t>Exercise 0: Basic Linux + Treasure Hunt</a:t>
            </a:r>
            <a:endParaRPr lang="en-US" dirty="0"/>
          </a:p>
        </p:txBody>
      </p:sp>
    </p:spTree>
    <p:extLst>
      <p:ext uri="{BB962C8B-B14F-4D97-AF65-F5344CB8AC3E}">
        <p14:creationId xmlns:p14="http://schemas.microsoft.com/office/powerpoint/2010/main" val="4151815335"/>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5A7FF8B-32EC-9A29-AF04-E188E8E87EEA}"/>
              </a:ext>
            </a:extLst>
          </p:cNvPr>
          <p:cNvSpPr>
            <a:spLocks noGrp="1"/>
          </p:cNvSpPr>
          <p:nvPr>
            <p:ph type="title"/>
          </p:nvPr>
        </p:nvSpPr>
        <p:spPr/>
        <p:txBody>
          <a:bodyPr/>
          <a:lstStyle/>
          <a:p>
            <a:r>
              <a:rPr lang="en-US" dirty="0"/>
              <a:t>Homework</a:t>
            </a:r>
          </a:p>
        </p:txBody>
      </p:sp>
      <p:sp>
        <p:nvSpPr>
          <p:cNvPr id="4" name="Text Placeholder 3">
            <a:extLst>
              <a:ext uri="{FF2B5EF4-FFF2-40B4-BE49-F238E27FC236}">
                <a16:creationId xmlns:a16="http://schemas.microsoft.com/office/drawing/2014/main" id="{0ACA14E1-2D6A-E85A-5BC5-9A93B0DF690E}"/>
              </a:ext>
            </a:extLst>
          </p:cNvPr>
          <p:cNvSpPr>
            <a:spLocks noGrp="1"/>
          </p:cNvSpPr>
          <p:nvPr>
            <p:ph type="body" idx="1"/>
          </p:nvPr>
        </p:nvSpPr>
        <p:spPr/>
        <p:txBody>
          <a:bodyPr/>
          <a:lstStyle/>
          <a:p>
            <a:r>
              <a:rPr lang="en-US" dirty="0"/>
              <a:t>By Tuesday 1/13 at noon, </a:t>
            </a:r>
            <a:r>
              <a:rPr lang="en-US" u="sng" dirty="0">
                <a:hlinkClick r:id="rId2"/>
              </a:rPr>
              <a:t>sign up for an ACCESS account</a:t>
            </a:r>
            <a:r>
              <a:rPr lang="en-US" dirty="0"/>
              <a:t> and </a:t>
            </a:r>
            <a:r>
              <a:rPr lang="en-US" dirty="0">
                <a:hlinkClick r:id="rId3"/>
              </a:rPr>
              <a:t>submit your username</a:t>
            </a:r>
            <a:r>
              <a:rPr lang="en-US" dirty="0"/>
              <a:t> on Canvas. This will give ACCESS and I time to add you to the class allocation by Wednesday’s class.</a:t>
            </a:r>
          </a:p>
          <a:p>
            <a:r>
              <a:rPr lang="en-US" dirty="0"/>
              <a:t>By next Wednesday 1/21 </a:t>
            </a:r>
            <a:r>
              <a:rPr lang="en-US"/>
              <a:t>at 8:30am,</a:t>
            </a:r>
            <a:endParaRPr lang="en-US" dirty="0"/>
          </a:p>
          <a:p>
            <a:pPr lvl="1"/>
            <a:r>
              <a:rPr lang="en-US" dirty="0"/>
              <a:t>Fill out the Introduce Yourself survey under </a:t>
            </a:r>
            <a:r>
              <a:rPr lang="en-US" dirty="0">
                <a:hlinkClick r:id="rId4"/>
              </a:rPr>
              <a:t>Participation</a:t>
            </a:r>
            <a:r>
              <a:rPr lang="en-US" dirty="0"/>
              <a:t> on Canvas. This counts as two participation points.</a:t>
            </a:r>
          </a:p>
          <a:p>
            <a:pPr lvl="1"/>
            <a:r>
              <a:rPr lang="en-US" dirty="0"/>
              <a:t>Complete Exercise 0.</a:t>
            </a:r>
          </a:p>
          <a:p>
            <a:r>
              <a:rPr lang="en-US" dirty="0"/>
              <a:t>By next Friday 1/23 at 8:30am, complete Exercise 1.</a:t>
            </a:r>
          </a:p>
        </p:txBody>
      </p:sp>
    </p:spTree>
    <p:extLst>
      <p:ext uri="{BB962C8B-B14F-4D97-AF65-F5344CB8AC3E}">
        <p14:creationId xmlns:p14="http://schemas.microsoft.com/office/powerpoint/2010/main" val="2613052161"/>
      </p:ext>
    </p:extLst>
  </p:cSld>
  <p:clrMapOvr>
    <a:masterClrMapping/>
  </p:clrMapOvr>
  <p:transition spd="med"/>
</p:sld>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_rels/theme2.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Helvetica"/>
        <a:ea typeface="Helvetica"/>
        <a:cs typeface="Helvetica"/>
      </a:majorFont>
      <a:minorFont>
        <a:latin typeface="Helvetica Light"/>
        <a:ea typeface="Helvetica Light"/>
        <a:cs typeface="Helvetica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0800" dist="25400" dir="5400000" rotWithShape="0">
              <a:srgbClr val="000000">
                <a:alpha val="50000"/>
              </a:srgbClr>
            </a:outerShdw>
          </a:effectLst>
        </a:effectStyle>
        <a:effectStyle>
          <a:effectLst>
            <a:outerShdw blurRad="63500" dist="12700" rotWithShape="0">
              <a:srgbClr val="000000">
                <a:alpha val="50000"/>
              </a:srgbClr>
            </a:outerShdw>
          </a:effectLst>
        </a:effectStyle>
        <a:effectStyle>
          <a:effectLst>
            <a:outerShdw blurRad="508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50800" dist="25400" dir="5400000" rotWithShape="0">
            <a:srgbClr val="000000">
              <a:alpha val="50000"/>
            </a:srgbClr>
          </a:outerShdw>
        </a:effectLst>
        <a:sp3d/>
      </a:spPr>
      <a:bodyPr rot="0" spcFirstLastPara="1" vertOverflow="overflow" horzOverflow="overflow" vert="horz" wrap="square" lIns="71437" tIns="71437" rIns="71437" bIns="71437" numCol="1" spcCol="38100" rtlCol="0" anchor="ctr">
        <a:spAutoFit/>
      </a:bodyPr>
      <a:lstStyle>
        <a:defPPr marL="0" marR="0" indent="0" algn="ctr" defTabSz="821531"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71437" tIns="71437" rIns="71437" bIns="71437" numCol="1" spcCol="38100" rtlCol="0" anchor="ctr">
        <a:spAutoFit/>
      </a:bodyPr>
      <a:lstStyle>
        <a:defPPr marL="0" marR="0" indent="0" algn="ctr" defTabSz="821531"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Helvetica"/>
        <a:ea typeface="Helvetica"/>
        <a:cs typeface="Helvetica"/>
      </a:majorFont>
      <a:minorFont>
        <a:latin typeface="Helvetica Light"/>
        <a:ea typeface="Helvetica Light"/>
        <a:cs typeface="Helvetica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0800" dist="25400" dir="5400000" rotWithShape="0">
              <a:srgbClr val="000000">
                <a:alpha val="50000"/>
              </a:srgbClr>
            </a:outerShdw>
          </a:effectLst>
        </a:effectStyle>
        <a:effectStyle>
          <a:effectLst>
            <a:outerShdw blurRad="63500" dist="12700" rotWithShape="0">
              <a:srgbClr val="000000">
                <a:alpha val="50000"/>
              </a:srgbClr>
            </a:outerShdw>
          </a:effectLst>
        </a:effectStyle>
        <a:effectStyle>
          <a:effectLst>
            <a:outerShdw blurRad="508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50800" dist="25400" dir="5400000" rotWithShape="0">
            <a:srgbClr val="000000">
              <a:alpha val="50000"/>
            </a:srgbClr>
          </a:outerShdw>
        </a:effectLst>
        <a:sp3d/>
      </a:spPr>
      <a:bodyPr rot="0" spcFirstLastPara="1" vertOverflow="overflow" horzOverflow="overflow" vert="horz" wrap="square" lIns="71437" tIns="71437" rIns="71437" bIns="71437" numCol="1" spcCol="38100" rtlCol="0" anchor="ctr">
        <a:spAutoFit/>
      </a:bodyPr>
      <a:lstStyle>
        <a:defPPr marL="0" marR="0" indent="0" algn="ctr" defTabSz="821531"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71437" tIns="71437" rIns="71437" bIns="71437" numCol="1" spcCol="38100" rtlCol="0" anchor="ctr">
        <a:spAutoFit/>
      </a:bodyPr>
      <a:lstStyle>
        <a:defPPr marL="0" marR="0" indent="0" algn="ctr" defTabSz="821531"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1173</TotalTime>
  <Words>2129</Words>
  <Application>Microsoft Macintosh PowerPoint</Application>
  <PresentationFormat>Custom</PresentationFormat>
  <Paragraphs>233</Paragraphs>
  <Slides>22</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Avenir</vt:lpstr>
      <vt:lpstr>Helvetica</vt:lpstr>
      <vt:lpstr>Helvetica Light</vt:lpstr>
      <vt:lpstr>Segoe UI Emoji</vt:lpstr>
      <vt:lpstr>White</vt:lpstr>
      <vt:lpstr>Chem 456 1/12/2026</vt:lpstr>
      <vt:lpstr>Computational Biochemistry and Drug Design</vt:lpstr>
      <vt:lpstr>What will this course cover?</vt:lpstr>
      <vt:lpstr>Some tools we’ll learn to use</vt:lpstr>
      <vt:lpstr>Milestones related to Chem 456 </vt:lpstr>
      <vt:lpstr>Online Resources</vt:lpstr>
      <vt:lpstr>Introductions</vt:lpstr>
      <vt:lpstr>About me: work</vt:lpstr>
      <vt:lpstr>About me: beyond work</vt:lpstr>
      <vt:lpstr>Introduce yourself</vt:lpstr>
      <vt:lpstr>High performance computing</vt:lpstr>
      <vt:lpstr>High Performance Computing (HPC) Systems</vt:lpstr>
      <vt:lpstr>The SDSC Expanse User Portal</vt:lpstr>
      <vt:lpstr>ACCESS Allocations</vt:lpstr>
      <vt:lpstr>Basic Linux</vt:lpstr>
      <vt:lpstr>Why Linux?</vt:lpstr>
      <vt:lpstr>The Shell (bash)</vt:lpstr>
      <vt:lpstr>Filesystems and Paths</vt:lpstr>
      <vt:lpstr>Absolute vs. Relative Paths</vt:lpstr>
      <vt:lpstr>Permissions</vt:lpstr>
      <vt:lpstr>Exercise 0: Basic Linux + Treasure Hunt</vt:lpstr>
      <vt:lpstr>Homework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David Minh</cp:lastModifiedBy>
  <cp:revision>35</cp:revision>
  <cp:lastPrinted>2026-01-07T01:13:06Z</cp:lastPrinted>
  <dcterms:modified xsi:type="dcterms:W3CDTF">2026-01-13T20:59:50Z</dcterms:modified>
</cp:coreProperties>
</file>