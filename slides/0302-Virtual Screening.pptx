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83" r:id="rId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5"/>
    <p:restoredTop sz="94658"/>
  </p:normalViewPr>
  <p:slideViewPr>
    <p:cSldViewPr snapToGrid="0">
      <p:cViewPr varScale="1">
        <p:scale>
          <a:sx n="60" d="100"/>
          <a:sy n="60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6" name="Shape 17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004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sz="half" idx="21"/>
          </p:nvPr>
        </p:nvSpPr>
        <p:spPr>
          <a:xfrm>
            <a:off x="5307210" y="892968"/>
            <a:ext cx="13751720" cy="91725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6869906" y="892968"/>
            <a:ext cx="17377173" cy="11584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>
            <a:lvl1pPr>
              <a:spcBef>
                <a:spcPts val="5900"/>
              </a:spcBef>
            </a:lvl1pPr>
            <a:lvl2pPr>
              <a:spcBef>
                <a:spcPts val="5900"/>
              </a:spcBef>
            </a:lvl2pPr>
            <a:lvl3pPr>
              <a:spcBef>
                <a:spcPts val="5900"/>
              </a:spcBef>
            </a:lvl3pPr>
            <a:lvl4pPr>
              <a:spcBef>
                <a:spcPts val="5900"/>
              </a:spcBef>
            </a:lvl4pPr>
            <a:lvl5pPr>
              <a:spcBef>
                <a:spcPts val="59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idx="21"/>
          </p:nvPr>
        </p:nvSpPr>
        <p:spPr>
          <a:xfrm>
            <a:off x="-291704" y="1250156"/>
            <a:ext cx="16841392" cy="112275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12442031" y="7069144"/>
            <a:ext cx="8518923" cy="56822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23"/>
          </p:nvPr>
        </p:nvSpPr>
        <p:spPr>
          <a:xfrm>
            <a:off x="12192000" y="1246988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buSzTx/>
              <a:buNone/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None/>
              <a:defRPr sz="5200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1905000" y="0"/>
            <a:ext cx="2056329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 lIns="50800" tIns="50800" rIns="50800" bIns="50800"/>
          <a:lstStyle>
            <a:lvl1pPr defTabSz="584200">
              <a:defRPr sz="8000"/>
            </a:lvl1pPr>
          </a:lstStyle>
          <a:p>
            <a:r>
              <a:t>Title Text</a:t>
            </a:r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</p:spPr>
        <p:txBody>
          <a:bodyPr lIns="50800" tIns="50800" rIns="50800" bIns="50800"/>
          <a:lstStyle>
            <a:lvl1pPr defTabSz="584200"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</p:spPr>
        <p:txBody>
          <a:bodyPr lIns="50800" tIns="50800" rIns="50800" bIns="50800"/>
          <a:lstStyle>
            <a:lvl1pPr defTabSz="584200">
              <a:defRPr sz="8000"/>
            </a:lvl1pPr>
          </a:lstStyle>
          <a:p>
            <a:r>
              <a:t>Title Text</a:t>
            </a:r>
          </a:p>
        </p:txBody>
      </p:sp>
      <p:sp>
        <p:nvSpPr>
          <p:cNvPr id="12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</p:spPr>
        <p:txBody>
          <a:bodyPr lIns="50800" tIns="50800" rIns="50800" bIns="50800"/>
          <a:lstStyle>
            <a:lvl1pPr marL="444500" indent="-444500" defTabSz="584200">
              <a:spcBef>
                <a:spcPts val="4200"/>
              </a:spcBef>
              <a:defRPr sz="3600"/>
            </a:lvl1pPr>
            <a:lvl2pPr marL="889000" indent="-444500" defTabSz="584200">
              <a:spcBef>
                <a:spcPts val="4200"/>
              </a:spcBef>
              <a:defRPr sz="3600"/>
            </a:lvl2pPr>
            <a:lvl3pPr marL="1333500" indent="-444500" defTabSz="584200">
              <a:spcBef>
                <a:spcPts val="4200"/>
              </a:spcBef>
              <a:defRPr sz="3600"/>
            </a:lvl3pPr>
            <a:lvl4pPr marL="1778000" indent="-444500" defTabSz="584200">
              <a:spcBef>
                <a:spcPts val="4200"/>
              </a:spcBef>
              <a:defRPr sz="3600"/>
            </a:lvl4pPr>
            <a:lvl5pPr marL="2222500" indent="-444500" defTabSz="584200">
              <a:spcBef>
                <a:spcPts val="4200"/>
              </a:spcBef>
              <a:defRPr sz="3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</p:spPr>
        <p:txBody>
          <a:bodyPr lIns="50800" tIns="50800" rIns="50800" bIns="50800"/>
          <a:lstStyle>
            <a:lvl1pPr defTabSz="584200"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Text"/>
          <p:cNvSpPr txBox="1"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itle Text"/>
          <p:cNvSpPr txBox="1"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3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35000" y="635000"/>
            <a:ext cx="231140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2540000"/>
            <a:ext cx="23114000" cy="101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normAutofit/>
          </a:bodyPr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1" r:id="rId9"/>
    <p:sldLayoutId id="2147483662" r:id="rId10"/>
    <p:sldLayoutId id="2147483664" r:id="rId11"/>
    <p:sldLayoutId id="2147483666" r:id="rId12"/>
    <p:sldLayoutId id="2147483667" r:id="rId13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617361" marR="0" indent="-617361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8/26/2024"/>
          <p:cNvSpPr txBox="1">
            <a:spLocks noGrp="1"/>
          </p:cNvSpPr>
          <p:nvPr>
            <p:ph type="title"/>
          </p:nvPr>
        </p:nvSpPr>
        <p:spPr>
          <a:xfrm>
            <a:off x="635000" y="454891"/>
            <a:ext cx="23114000" cy="2085109"/>
          </a:xfrm>
        </p:spPr>
        <p:txBody>
          <a:bodyPr>
            <a:normAutofit/>
          </a:bodyPr>
          <a:lstStyle/>
          <a:p>
            <a:r>
              <a:rPr lang="en-US" dirty="0"/>
              <a:t>Chem 456 3/2/2026</a:t>
            </a:r>
          </a:p>
        </p:txBody>
      </p:sp>
      <p:sp>
        <p:nvSpPr>
          <p:cNvPr id="179" name="Welcome…"/>
          <p:cNvSpPr txBox="1">
            <a:spLocks noGrp="1"/>
          </p:cNvSpPr>
          <p:nvPr>
            <p:ph type="body" idx="1"/>
          </p:nvPr>
        </p:nvSpPr>
        <p:spPr>
          <a:xfrm>
            <a:off x="635000" y="2540000"/>
            <a:ext cx="23114000" cy="10160000"/>
          </a:xfrm>
        </p:spPr>
        <p:txBody>
          <a:bodyPr/>
          <a:lstStyle/>
          <a:p>
            <a:r>
              <a:rPr lang="en-US" dirty="0"/>
              <a:t>High-performance computing (review)</a:t>
            </a:r>
          </a:p>
          <a:p>
            <a:r>
              <a:rPr lang="en-US" dirty="0"/>
              <a:t>Exercise 6: Virtual Screening with </a:t>
            </a:r>
            <a:r>
              <a:rPr lang="en-US" dirty="0" err="1"/>
              <a:t>AutoDock</a:t>
            </a:r>
            <a:r>
              <a:rPr lang="en-US" dirty="0"/>
              <a:t> Vina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19329" y="2560320"/>
            <a:ext cx="5157216" cy="29260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000000"/>
                </a:solidFill>
              </a:rPr>
              <a:t>User Workstation
(Laptop/Desktop)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1" y="2560320"/>
            <a:ext cx="14996158" cy="10241280"/>
          </a:xfrm>
          <a:prstGeom prst="roundRect">
            <a:avLst/>
          </a:prstGeom>
          <a:noFill/>
          <a:ln w="25400">
            <a:solidFill>
              <a:srgbClr val="5A5A5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0"/>
          </a:p>
        </p:txBody>
      </p:sp>
      <p:sp>
        <p:nvSpPr>
          <p:cNvPr id="6" name="TextBox 5"/>
          <p:cNvSpPr txBox="1"/>
          <p:nvPr/>
        </p:nvSpPr>
        <p:spPr>
          <a:xfrm>
            <a:off x="9509760" y="2816572"/>
            <a:ext cx="8046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464646"/>
                </a:solidFill>
              </a:rPr>
              <a:t>HPC System / Cluster</a:t>
            </a:r>
            <a:r>
              <a:rPr lang="en-US" sz="3200" b="1" dirty="0">
                <a:solidFill>
                  <a:srgbClr val="464646"/>
                </a:solidFill>
              </a:rPr>
              <a:t>, e.g. SDSC Expanse</a:t>
            </a:r>
            <a:endParaRPr sz="3200" b="1" dirty="0">
              <a:solidFill>
                <a:srgbClr val="464646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50097" y="3669186"/>
            <a:ext cx="5376672" cy="1828800"/>
          </a:xfrm>
          <a:prstGeom prst="rect">
            <a:avLst/>
          </a:prstGeom>
          <a:solidFill>
            <a:srgbClr val="D9EAF7"/>
          </a:solidFill>
          <a:ln w="25400">
            <a:solidFill>
              <a:srgbClr val="347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>
                <a:solidFill>
                  <a:srgbClr val="184869"/>
                </a:solidFill>
              </a:rPr>
              <a:t>Login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6320" y="3657600"/>
            <a:ext cx="5852160" cy="1828800"/>
          </a:xfrm>
          <a:prstGeom prst="rect">
            <a:avLst/>
          </a:prstGeom>
          <a:solidFill>
            <a:srgbClr val="EBDEF0"/>
          </a:solidFill>
          <a:ln w="25400">
            <a:solidFill>
              <a:srgbClr val="7A3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dirty="0">
                <a:solidFill>
                  <a:srgbClr val="55286A"/>
                </a:solidFill>
              </a:rPr>
              <a:t>Head Node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E836B9-567B-3396-1134-1FC343285665}"/>
              </a:ext>
            </a:extLst>
          </p:cNvPr>
          <p:cNvGrpSpPr/>
          <p:nvPr/>
        </p:nvGrpSpPr>
        <p:grpSpPr>
          <a:xfrm>
            <a:off x="13350240" y="7379208"/>
            <a:ext cx="9418320" cy="4023359"/>
            <a:chOff x="9509760" y="7315201"/>
            <a:chExt cx="9418320" cy="4023359"/>
          </a:xfrm>
        </p:grpSpPr>
        <p:sp>
          <p:nvSpPr>
            <p:cNvPr id="11" name="TextBox 10"/>
            <p:cNvSpPr txBox="1"/>
            <p:nvPr/>
          </p:nvSpPr>
          <p:spPr>
            <a:xfrm>
              <a:off x="9509760" y="7315201"/>
              <a:ext cx="941832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200" b="1" dirty="0">
                  <a:solidFill>
                    <a:srgbClr val="464646"/>
                  </a:solidFill>
                </a:rPr>
                <a:t>Worker Nodes (Compute Nodes)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509760" y="8138160"/>
              <a:ext cx="2834640" cy="1371600"/>
            </a:xfrm>
            <a:prstGeom prst="roundRect">
              <a:avLst/>
            </a:prstGeom>
            <a:solidFill>
              <a:srgbClr val="DFF0D8"/>
            </a:solidFill>
            <a:ln w="19050">
              <a:solidFill>
                <a:srgbClr val="3E8E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800" b="1">
                  <a:solidFill>
                    <a:srgbClr val="275F27"/>
                  </a:solidFill>
                </a:rPr>
                <a:t>Worker
1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2801600" y="8138160"/>
              <a:ext cx="2834640" cy="1371600"/>
            </a:xfrm>
            <a:prstGeom prst="roundRect">
              <a:avLst/>
            </a:prstGeom>
            <a:solidFill>
              <a:srgbClr val="DFF0D8"/>
            </a:solidFill>
            <a:ln w="19050">
              <a:solidFill>
                <a:srgbClr val="3E8E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800" b="1">
                  <a:solidFill>
                    <a:srgbClr val="275F27"/>
                  </a:solidFill>
                </a:rPr>
                <a:t>Worker
2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6093440" y="8138160"/>
              <a:ext cx="2834640" cy="1371600"/>
            </a:xfrm>
            <a:prstGeom prst="roundRect">
              <a:avLst/>
            </a:prstGeom>
            <a:solidFill>
              <a:srgbClr val="DFF0D8"/>
            </a:solidFill>
            <a:ln w="19050">
              <a:solidFill>
                <a:srgbClr val="3E8E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800" b="1">
                  <a:solidFill>
                    <a:srgbClr val="275F27"/>
                  </a:solidFill>
                </a:rPr>
                <a:t>Worker
3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509760" y="9966960"/>
              <a:ext cx="2834640" cy="1371600"/>
            </a:xfrm>
            <a:prstGeom prst="roundRect">
              <a:avLst/>
            </a:prstGeom>
            <a:solidFill>
              <a:srgbClr val="DFF0D8"/>
            </a:solidFill>
            <a:ln w="19050">
              <a:solidFill>
                <a:srgbClr val="3E8E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800" b="1">
                  <a:solidFill>
                    <a:srgbClr val="275F27"/>
                  </a:solidFill>
                </a:rPr>
                <a:t>Worker
5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2801600" y="9966960"/>
              <a:ext cx="2834640" cy="1371600"/>
            </a:xfrm>
            <a:prstGeom prst="roundRect">
              <a:avLst/>
            </a:prstGeom>
            <a:solidFill>
              <a:srgbClr val="DFF0D8"/>
            </a:solidFill>
            <a:ln w="19050">
              <a:solidFill>
                <a:srgbClr val="3E8E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800" b="1">
                  <a:solidFill>
                    <a:srgbClr val="275F27"/>
                  </a:solidFill>
                </a:rPr>
                <a:t>Worker
6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6093440" y="9966960"/>
              <a:ext cx="2834640" cy="1371600"/>
            </a:xfrm>
            <a:prstGeom prst="roundRect">
              <a:avLst/>
            </a:prstGeom>
            <a:solidFill>
              <a:srgbClr val="DFF0D8"/>
            </a:solidFill>
            <a:ln w="19050">
              <a:solidFill>
                <a:srgbClr val="3E8E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800" b="1" dirty="0">
                  <a:solidFill>
                    <a:srgbClr val="275F27"/>
                  </a:solidFill>
                </a:rPr>
                <a:t>Worker
7</a:t>
              </a:r>
            </a:p>
          </p:txBody>
        </p:sp>
      </p:grpSp>
      <p:cxnSp>
        <p:nvCxnSpPr>
          <p:cNvPr id="20" name="Connector 19"/>
          <p:cNvCxnSpPr>
            <a:cxnSpLocks/>
            <a:stCxn id="3" idx="3"/>
            <a:endCxn id="7" idx="1"/>
          </p:cNvCxnSpPr>
          <p:nvPr/>
        </p:nvCxnSpPr>
        <p:spPr>
          <a:xfrm>
            <a:off x="5876545" y="4023360"/>
            <a:ext cx="3273552" cy="560226"/>
          </a:xfrm>
          <a:prstGeom prst="line">
            <a:avLst/>
          </a:prstGeom>
          <a:ln w="31750">
            <a:solidFill>
              <a:srgbClr val="347C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69153" y="3003168"/>
            <a:ext cx="21945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347CB2"/>
                </a:solidFill>
              </a:rPr>
              <a:t>SSH</a:t>
            </a:r>
            <a:r>
              <a:rPr lang="en-US" sz="2800" b="1" dirty="0">
                <a:solidFill>
                  <a:srgbClr val="347CB2"/>
                </a:solidFill>
              </a:rPr>
              <a:t> / Web portal</a:t>
            </a:r>
            <a:endParaRPr sz="2800" b="1" dirty="0">
              <a:solidFill>
                <a:srgbClr val="347CB2"/>
              </a:solidFill>
            </a:endParaRPr>
          </a:p>
        </p:txBody>
      </p:sp>
      <p:cxnSp>
        <p:nvCxnSpPr>
          <p:cNvPr id="22" name="Connector 21"/>
          <p:cNvCxnSpPr>
            <a:cxnSpLocks/>
            <a:stCxn id="7" idx="3"/>
            <a:endCxn id="9" idx="1"/>
          </p:cNvCxnSpPr>
          <p:nvPr/>
        </p:nvCxnSpPr>
        <p:spPr>
          <a:xfrm flipV="1">
            <a:off x="14526769" y="4572000"/>
            <a:ext cx="1749551" cy="11586"/>
          </a:xfrm>
          <a:prstGeom prst="line">
            <a:avLst/>
          </a:prstGeom>
          <a:ln w="31750">
            <a:solidFill>
              <a:srgbClr val="7A3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081760" y="4116128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7A3A96"/>
                </a:solidFill>
              </a:rPr>
              <a:t>submit</a:t>
            </a:r>
          </a:p>
        </p:txBody>
      </p:sp>
      <p:cxnSp>
        <p:nvCxnSpPr>
          <p:cNvPr id="30" name="Connector 29"/>
          <p:cNvCxnSpPr>
            <a:cxnSpLocks/>
            <a:stCxn id="33" idx="2"/>
            <a:endCxn id="3" idx="3"/>
          </p:cNvCxnSpPr>
          <p:nvPr/>
        </p:nvCxnSpPr>
        <p:spPr>
          <a:xfrm flipH="1" flipV="1">
            <a:off x="5876545" y="4023360"/>
            <a:ext cx="3304032" cy="3412742"/>
          </a:xfrm>
          <a:prstGeom prst="line">
            <a:avLst/>
          </a:prstGeom>
          <a:ln w="2222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n 32"/>
          <p:cNvSpPr/>
          <p:nvPr/>
        </p:nvSpPr>
        <p:spPr>
          <a:xfrm>
            <a:off x="9180577" y="6235000"/>
            <a:ext cx="3474720" cy="2402204"/>
          </a:xfrm>
          <a:prstGeom prst="can">
            <a:avLst/>
          </a:prstGeom>
          <a:solidFill>
            <a:srgbClr val="FFF2CC"/>
          </a:solidFill>
          <a:ln w="254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3200" b="1" dirty="0">
                <a:solidFill>
                  <a:srgbClr val="7E5800"/>
                </a:solidFill>
              </a:rPr>
              <a:t>Shared
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4801" y="8825833"/>
            <a:ext cx="62179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7E5800"/>
                </a:solidFill>
              </a:rPr>
              <a:t>/home/&lt;user&gt;/</a:t>
            </a:r>
          </a:p>
          <a:p>
            <a:pPr algn="ctr"/>
            <a:r>
              <a:rPr lang="en-US" sz="2400" dirty="0">
                <a:solidFill>
                  <a:srgbClr val="7E5800"/>
                </a:solidFill>
              </a:rPr>
              <a:t>(backed up)</a:t>
            </a:r>
          </a:p>
          <a:p>
            <a:pPr algn="ctr"/>
            <a:r>
              <a:rPr lang="en-US" sz="2400" dirty="0">
                <a:solidFill>
                  <a:srgbClr val="7E5800"/>
                </a:solidFill>
              </a:rPr>
              <a:t>/expanse/</a:t>
            </a:r>
            <a:r>
              <a:rPr lang="en-US" sz="2400" dirty="0" err="1">
                <a:solidFill>
                  <a:srgbClr val="7E5800"/>
                </a:solidFill>
              </a:rPr>
              <a:t>lustre</a:t>
            </a:r>
            <a:r>
              <a:rPr lang="en-US" sz="2400" dirty="0">
                <a:solidFill>
                  <a:srgbClr val="7E5800"/>
                </a:solidFill>
              </a:rPr>
              <a:t>/scratch </a:t>
            </a:r>
          </a:p>
          <a:p>
            <a:pPr algn="ctr"/>
            <a:r>
              <a:rPr lang="en-US" sz="2400" dirty="0">
                <a:solidFill>
                  <a:srgbClr val="7E5800"/>
                </a:solidFill>
              </a:rPr>
              <a:t>(not backed up)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0" y="5486400"/>
            <a:ext cx="0" cy="0"/>
          </a:xfrm>
          <a:prstGeom prst="line">
            <a:avLst/>
          </a:prstGeom>
          <a:ln w="22225">
            <a:solidFill>
              <a:srgbClr val="BF9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0241280"/>
            <a:ext cx="0" cy="0"/>
          </a:xfrm>
          <a:prstGeom prst="line">
            <a:avLst/>
          </a:prstGeom>
          <a:ln w="22225">
            <a:solidFill>
              <a:srgbClr val="BF9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C87A73-4F26-0C71-9845-C49DAE74F88B}"/>
              </a:ext>
            </a:extLst>
          </p:cNvPr>
          <p:cNvGrpSpPr/>
          <p:nvPr/>
        </p:nvGrpSpPr>
        <p:grpSpPr>
          <a:xfrm>
            <a:off x="14886432" y="5486400"/>
            <a:ext cx="6766560" cy="1854268"/>
            <a:chOff x="14886432" y="5486400"/>
            <a:chExt cx="6766560" cy="1854268"/>
          </a:xfrm>
        </p:grpSpPr>
        <p:cxnSp>
          <p:nvCxnSpPr>
            <p:cNvPr id="24" name="Connector 23"/>
            <p:cNvCxnSpPr>
              <a:cxnSpLocks/>
            </p:cNvCxnSpPr>
            <p:nvPr/>
          </p:nvCxnSpPr>
          <p:spPr>
            <a:xfrm flipH="1">
              <a:off x="14886432" y="5486401"/>
              <a:ext cx="4315968" cy="1780031"/>
            </a:xfrm>
            <a:prstGeom prst="line">
              <a:avLst/>
            </a:prstGeom>
            <a:ln w="31750">
              <a:solidFill>
                <a:srgbClr val="55286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6898112" y="6197621"/>
              <a:ext cx="384048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1" dirty="0">
                  <a:solidFill>
                    <a:srgbClr val="55286A"/>
                  </a:solidFill>
                </a:rPr>
                <a:t>dispatch</a:t>
              </a:r>
              <a:r>
                <a:rPr lang="en-US" sz="2400" b="1" dirty="0">
                  <a:solidFill>
                    <a:srgbClr val="55286A"/>
                  </a:solidFill>
                </a:rPr>
                <a:t>es</a:t>
              </a:r>
              <a:r>
                <a:rPr sz="2400" b="1" dirty="0">
                  <a:solidFill>
                    <a:srgbClr val="55286A"/>
                  </a:solidFill>
                </a:rPr>
                <a:t> jobs</a:t>
              </a:r>
            </a:p>
          </p:txBody>
        </p:sp>
        <p:cxnSp>
          <p:nvCxnSpPr>
            <p:cNvPr id="44" name="Connector 23">
              <a:extLst>
                <a:ext uri="{FF2B5EF4-FFF2-40B4-BE49-F238E27FC236}">
                  <a16:creationId xmlns:a16="http://schemas.microsoft.com/office/drawing/2014/main" id="{9B29D050-4953-E12A-4D21-7A7A094EF86A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19202400" y="5486400"/>
              <a:ext cx="2450592" cy="1854268"/>
            </a:xfrm>
            <a:prstGeom prst="line">
              <a:avLst/>
            </a:prstGeom>
            <a:ln w="31750">
              <a:solidFill>
                <a:srgbClr val="55286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itle 55">
            <a:extLst>
              <a:ext uri="{FF2B5EF4-FFF2-40B4-BE49-F238E27FC236}">
                <a16:creationId xmlns:a16="http://schemas.microsoft.com/office/drawing/2014/main" id="{57BBC178-C86B-D990-F357-1F4A29112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444500"/>
            <a:ext cx="22479000" cy="2159000"/>
          </a:xfrm>
        </p:spPr>
        <p:txBody>
          <a:bodyPr>
            <a:normAutofit/>
          </a:bodyPr>
          <a:lstStyle/>
          <a:p>
            <a:r>
              <a:rPr lang="en-US" dirty="0"/>
              <a:t>High Performance Computing (HPC) Systems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125ED258-054C-7CAB-EA33-99811E91B22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19329" y="5973317"/>
            <a:ext cx="7412735" cy="62865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Why use HPC?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User workstations not powerful enough for many computational biochemistry and drug design calculations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You may want to use your workstation for something else, move it, or turn it off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Typical workflow: open Web portal → connect to login node → submit to </a:t>
            </a:r>
            <a:r>
              <a:rPr lang="en-US" dirty="0" err="1">
                <a:solidFill>
                  <a:schemeClr val="tx1"/>
                </a:solidFill>
              </a:rPr>
              <a:t>Slurm</a:t>
            </a:r>
            <a:r>
              <a:rPr lang="en-US" dirty="0">
                <a:solidFill>
                  <a:schemeClr val="tx1"/>
                </a:solidFill>
              </a:rPr>
              <a:t> on head node → compute on worker nodes → write/read to shared storage → retrieve results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1AD1DF-AE96-E804-E1DD-FEF9A4A58973}"/>
              </a:ext>
            </a:extLst>
          </p:cNvPr>
          <p:cNvSpPr txBox="1"/>
          <p:nvPr/>
        </p:nvSpPr>
        <p:spPr>
          <a:xfrm>
            <a:off x="13350240" y="11580475"/>
            <a:ext cx="941832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7E5800"/>
                </a:solidFill>
              </a:rPr>
              <a:t>/scratch is erased at job end.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</TotalTime>
  <Words>177</Words>
  <Application>Microsoft Macintosh PowerPoint</Application>
  <PresentationFormat>Custom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Avenir</vt:lpstr>
      <vt:lpstr>Helvetica</vt:lpstr>
      <vt:lpstr>Helvetica Light</vt:lpstr>
      <vt:lpstr>White</vt:lpstr>
      <vt:lpstr>Chem 456 3/2/2026</vt:lpstr>
      <vt:lpstr>High Performance Computing (HPC)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Minh</cp:lastModifiedBy>
  <cp:revision>37</cp:revision>
  <cp:lastPrinted>2026-01-07T01:13:06Z</cp:lastPrinted>
  <dcterms:modified xsi:type="dcterms:W3CDTF">2026-03-01T03:18:30Z</dcterms:modified>
</cp:coreProperties>
</file>